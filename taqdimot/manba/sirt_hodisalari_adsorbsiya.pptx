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Relationship Id="rId4" Type="http://schemas.openxmlformats.org/officeDocument/2006/relationships/image" Target="../media/image1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image" Target="../media/image18.png"/><Relationship Id="rId4" Type="http://schemas.openxmlformats.org/officeDocument/2006/relationships/image" Target="../media/image1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Relationship Id="rId3" Type="http://schemas.openxmlformats.org/officeDocument/2006/relationships/image" Target="../media/image21.png"/><Relationship Id="rId4" Type="http://schemas.openxmlformats.org/officeDocument/2006/relationships/image" Target="../media/image2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Relationship Id="rId3" Type="http://schemas.openxmlformats.org/officeDocument/2006/relationships/image" Target="../media/image24.png"/><Relationship Id="rId4" Type="http://schemas.openxmlformats.org/officeDocument/2006/relationships/image" Target="../media/image2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Relationship Id="rId3" Type="http://schemas.openxmlformats.org/officeDocument/2006/relationships/image" Target="../media/image27.png"/><Relationship Id="rId4" Type="http://schemas.openxmlformats.org/officeDocument/2006/relationships/image" Target="../media/image28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Relationship Id="rId3" Type="http://schemas.openxmlformats.org/officeDocument/2006/relationships/image" Target="../media/image30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png"/><Relationship Id="rId3" Type="http://schemas.openxmlformats.org/officeDocument/2006/relationships/image" Target="../media/image33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0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Times New Roman"/>
              </a:defRPr>
            </a:pPr>
            <a:r>
              <a:rPr>
                <a:latin typeface="Times New Roman"/>
              </a:rPr>
              <a:t>SIRT HODISALARI VA ADSORBSIYA</a:t>
            </a:r>
          </a:p>
          <a:p>
            <a:pPr>
              <a:spcBef>
                <a:spcPts val="800"/>
              </a:spcBef>
              <a:defRPr sz="1800">
                <a:solidFill>
                  <a:srgbClr val="E8985E"/>
                </a:solidFill>
                <a:latin typeface="Times New Roman"/>
              </a:defRPr>
            </a:pPr>
            <a:r>
              <a:rPr>
                <a:latin typeface="Times New Roman"/>
              </a:rPr>
              <a:t>Kolloid Kimyo: Sirt Hodisalari Termodinamikasi, Adsorbsiya Izotermalari va Amaliy Tizimlar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2377440"/>
            <a:ext cx="10728655" cy="3931920"/>
          </a:xfrm>
          <a:prstGeom prst="roundRect">
            <a:avLst/>
          </a:prstGeom>
          <a:solidFill>
            <a:srgbClr val="1B2E3B"/>
          </a:solidFill>
          <a:ln w="12700">
            <a:solidFill>
              <a:srgbClr val="C85A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914400" y="2468880"/>
            <a:ext cx="10362895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FFFFFF"/>
                </a:solidFill>
                <a:latin typeface="Times New Roman"/>
              </a:defRPr>
            </a:pPr>
            <a:r>
              <a:rPr>
                <a:latin typeface="Times New Roman"/>
              </a:rPr>
              <a:t>MAVZU REJASI VA ILMIY PROGRAMMA:</a:t>
            </a:r>
          </a:p>
          <a:p>
            <a:pPr>
              <a:spcAft>
                <a:spcPts val="600"/>
              </a:spcAft>
              <a:defRPr>
                <a:latin typeface="Times New Roman"/>
              </a:defRPr>
            </a:pPr>
            <a:r>
              <a:rPr b="1" sz="1400">
                <a:solidFill>
                  <a:srgbClr val="C85A17"/>
                </a:solidFill>
                <a:latin typeface="Times New Roman"/>
              </a:rPr>
              <a:t>1. </a:t>
            </a:r>
            <a:r>
              <a:rPr sz="1400">
                <a:solidFill>
                  <a:srgbClr val="EAEEF3"/>
                </a:solidFill>
                <a:latin typeface="Times New Roman"/>
              </a:rPr>
              <a:t>Sirt erkin energiyasi, sirt tarangligi va termodinamik asoslar (Gibbs tenglamasi).</a:t>
            </a:r>
          </a:p>
          <a:p>
            <a:pPr>
              <a:spcAft>
                <a:spcPts val="600"/>
              </a:spcAft>
              <a:defRPr>
                <a:latin typeface="Times New Roman"/>
              </a:defRPr>
            </a:pPr>
            <a:r>
              <a:rPr b="1" sz="1400">
                <a:solidFill>
                  <a:srgbClr val="C85A17"/>
                </a:solidFill>
                <a:latin typeface="Times New Roman"/>
              </a:rPr>
              <a:t>2. </a:t>
            </a:r>
            <a:r>
              <a:rPr sz="1400">
                <a:solidFill>
                  <a:srgbClr val="EAEEF3"/>
                </a:solidFill>
                <a:latin typeface="Times New Roman"/>
              </a:rPr>
              <a:t>Sirt tarangligiga ta'sir etuvchi omillar va Antonov qoidasi.</a:t>
            </a:r>
          </a:p>
          <a:p>
            <a:pPr>
              <a:spcAft>
                <a:spcPts val="600"/>
              </a:spcAft>
              <a:defRPr>
                <a:latin typeface="Times New Roman"/>
              </a:defRPr>
            </a:pPr>
            <a:r>
              <a:rPr b="1" sz="1400">
                <a:solidFill>
                  <a:srgbClr val="C85A17"/>
                </a:solidFill>
                <a:latin typeface="Times New Roman"/>
              </a:rPr>
              <a:t>3. </a:t>
            </a:r>
            <a:r>
              <a:rPr sz="1400">
                <a:solidFill>
                  <a:srgbClr val="EAEEF3"/>
                </a:solidFill>
                <a:latin typeface="Times New Roman"/>
              </a:rPr>
              <a:t>Egri sirtlar termodinamikasi: Laplas va Kelvin (Tomson) tenglamalari.</a:t>
            </a:r>
          </a:p>
          <a:p>
            <a:pPr>
              <a:spcAft>
                <a:spcPts val="600"/>
              </a:spcAft>
              <a:defRPr>
                <a:latin typeface="Times New Roman"/>
              </a:defRPr>
            </a:pPr>
            <a:r>
              <a:rPr b="1" sz="1400">
                <a:solidFill>
                  <a:srgbClr val="C85A17"/>
                </a:solidFill>
                <a:latin typeface="Times New Roman"/>
              </a:rPr>
              <a:t>4. </a:t>
            </a:r>
            <a:r>
              <a:rPr sz="1400">
                <a:solidFill>
                  <a:srgbClr val="EAEEF3"/>
                </a:solidFill>
                <a:latin typeface="Times New Roman"/>
              </a:rPr>
              <a:t>Sorbsiya jarayonlari: Fizikaviy adsorbsiya, xemosorbsiya va kapillyar kondensatsiyalanish.</a:t>
            </a:r>
          </a:p>
          <a:p>
            <a:pPr>
              <a:spcAft>
                <a:spcPts val="600"/>
              </a:spcAft>
              <a:defRPr>
                <a:latin typeface="Times New Roman"/>
              </a:defRPr>
            </a:pPr>
            <a:r>
              <a:rPr b="1" sz="1400">
                <a:solidFill>
                  <a:srgbClr val="C85A17"/>
                </a:solidFill>
                <a:latin typeface="Times New Roman"/>
              </a:rPr>
              <a:t>5. </a:t>
            </a:r>
            <a:r>
              <a:rPr sz="1400">
                <a:solidFill>
                  <a:srgbClr val="EAEEF3"/>
                </a:solidFill>
                <a:latin typeface="Times New Roman"/>
              </a:rPr>
              <a:t>Sirt-aktiv (SAM), sirt-inert (SIM) va sirt-nofaol (SNM) moddalar. Traube-Dyuklo qoidasi.</a:t>
            </a:r>
          </a:p>
          <a:p>
            <a:pPr>
              <a:spcAft>
                <a:spcPts val="600"/>
              </a:spcAft>
              <a:defRPr>
                <a:latin typeface="Times New Roman"/>
              </a:defRPr>
            </a:pPr>
            <a:r>
              <a:rPr b="1" sz="1400">
                <a:solidFill>
                  <a:srgbClr val="C85A17"/>
                </a:solidFill>
                <a:latin typeface="Times New Roman"/>
              </a:rPr>
              <a:t>6. </a:t>
            </a:r>
            <a:r>
              <a:rPr sz="1400">
                <a:solidFill>
                  <a:srgbClr val="EAEEF3"/>
                </a:solidFill>
                <a:latin typeface="Times New Roman"/>
              </a:rPr>
              <a:t>Monomolekulyar adsorbsiya nazariyalari: Gibbs va Lengmyur adsorbsiya izotermalari.</a:t>
            </a:r>
          </a:p>
          <a:p>
            <a:pPr>
              <a:spcAft>
                <a:spcPts val="600"/>
              </a:spcAft>
              <a:defRPr>
                <a:latin typeface="Times New Roman"/>
              </a:defRPr>
            </a:pPr>
            <a:r>
              <a:rPr b="1" sz="1400">
                <a:solidFill>
                  <a:srgbClr val="C85A17"/>
                </a:solidFill>
                <a:latin typeface="Times New Roman"/>
              </a:rPr>
              <a:t>7. </a:t>
            </a:r>
            <a:r>
              <a:rPr sz="1400">
                <a:solidFill>
                  <a:srgbClr val="EAEEF3"/>
                </a:solidFill>
                <a:latin typeface="Times New Roman"/>
              </a:rPr>
              <a:t>Polimolekulyar adsorbsiya nazariyalari: Freyndlih, Polyani va BET (Brunauer-Emmett-Teller) modellari.</a:t>
            </a:r>
          </a:p>
          <a:p>
            <a:pPr>
              <a:spcAft>
                <a:spcPts val="600"/>
              </a:spcAft>
              <a:defRPr>
                <a:latin typeface="Times New Roman"/>
              </a:defRPr>
            </a:pPr>
            <a:r>
              <a:rPr b="1" sz="1400">
                <a:solidFill>
                  <a:srgbClr val="C85A17"/>
                </a:solidFill>
                <a:latin typeface="Times New Roman"/>
              </a:rPr>
              <a:t>8. </a:t>
            </a:r>
            <a:r>
              <a:rPr sz="1400">
                <a:solidFill>
                  <a:srgbClr val="EAEEF3"/>
                </a:solidFill>
                <a:latin typeface="Times New Roman"/>
              </a:rPr>
              <a:t>Qattiq adsorbentlar va eritmalardan adsorbsiya: Panet-Fayans, Rebinder qoidalari va xromatografiya.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5A9C"/>
                </a:solidFill>
                <a:latin typeface="Times New Roman"/>
              </a:defRPr>
            </a:pPr>
            <a:r>
              <a:rPr>
                <a:latin typeface="Times New Roman"/>
              </a:rPr>
              <a:t>KOLLEID KIMYO: SIRT HODISALARI VA ADSORBSIYA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2027"/>
                </a:solidFill>
                <a:latin typeface="Times New Roman"/>
              </a:defRPr>
            </a:pPr>
            <a:r>
              <a:rPr>
                <a:latin typeface="Times New Roman"/>
              </a:rPr>
              <a:t>1. Sirt Qatlamidagi Ortiqcha Erkin Energiya va Sirt Tarangligi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728655" cy="25400"/>
          </a:xfrm>
          <a:prstGeom prst="rect">
            <a:avLst/>
          </a:prstGeom>
          <a:solidFill>
            <a:srgbClr val="005A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</a:defRPr>
            </a:pP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48640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</a:defRPr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914400" y="1737360"/>
            <a:ext cx="51206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>
                <a:latin typeface="Times New Roman"/>
              </a:defRPr>
            </a:pPr>
            <a:r>
              <a:rPr b="1" sz="1400">
                <a:solidFill>
                  <a:srgbClr val="0F2027"/>
                </a:solidFill>
                <a:latin typeface="Times New Roman"/>
              </a:rPr>
              <a:t>Molekulalararo o'zaro ta'sir va kompensatsiyasizlik: </a:t>
            </a:r>
            <a:r>
              <a:rPr b="0" sz="1400">
                <a:solidFill>
                  <a:srgbClr val="0F2027"/>
                </a:solidFill>
                <a:latin typeface="Times New Roman"/>
              </a:rPr>
              <a:t>Hajmdagi molekula (A) barcha yo'nalishlarda teng kuchlar bilan tortiladi (sum F = 0). Sirt qatlamidagi molekula (B) esa suyuqlik ichiga tortiladi va uning kuch maydoni kompensatsiyalanmagan.</a:t>
            </a:r>
          </a:p>
          <a:p>
            <a:pPr>
              <a:spcAft>
                <a:spcPts val="800"/>
              </a:spcAft>
              <a:defRPr>
                <a:latin typeface="Times New Roman"/>
              </a:defRPr>
            </a:pPr>
            <a:r>
              <a:rPr b="1" sz="1400">
                <a:solidFill>
                  <a:srgbClr val="0F2027"/>
                </a:solidFill>
                <a:latin typeface="Times New Roman"/>
              </a:rPr>
              <a:t>Sirt erkin energiyasi (Gs): </a:t>
            </a:r>
            <a:r>
              <a:rPr b="0" sz="1400">
                <a:solidFill>
                  <a:srgbClr val="0F2027"/>
                </a:solidFill>
                <a:latin typeface="Times New Roman"/>
              </a:rPr>
              <a:t>Molekulani hajmdan sirtga chiqarish uchun sirt tortishish kuchlariga qarshi ish bajarilishi kerak. Bu ish sirtda ortiqcha erkin energiya (Gs) ko'rinishida to'planadi.</a:t>
            </a:r>
          </a:p>
          <a:p>
            <a:pPr>
              <a:spcAft>
                <a:spcPts val="800"/>
              </a:spcAft>
              <a:defRPr>
                <a:latin typeface="Times New Roman"/>
              </a:defRPr>
            </a:pPr>
            <a:r>
              <a:rPr b="1" sz="1400">
                <a:solidFill>
                  <a:srgbClr val="0F2027"/>
                </a:solidFill>
                <a:latin typeface="Times New Roman"/>
              </a:rPr>
              <a:t>Sirt tarangligi (sigma): </a:t>
            </a:r>
            <a:r>
              <a:rPr b="0" sz="1400">
                <a:solidFill>
                  <a:srgbClr val="0F2027"/>
                </a:solidFill>
                <a:latin typeface="Times New Roman"/>
              </a:rPr>
              <a:t>Sirt yuzasini 1 m2 ga oshirish uchun sarflanadigan solishtirma erkin sirt energiya yoki sirtga urinma yo'nalishda ta'sir etuvchi kuchdir [mN/m yoki J/m2].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92240" y="1645920"/>
            <a:ext cx="4937760" cy="109728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005A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6629400" y="1737360"/>
            <a:ext cx="4663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05A9C"/>
                </a:solidFill>
                <a:latin typeface="Times New Roman"/>
              </a:defRPr>
            </a:pPr>
            <a:r>
              <a:rPr>
                <a:latin typeface="Times New Roman"/>
              </a:rPr>
              <a:t>Sirt erkin energiyasi tenglamasi:</a:t>
            </a:r>
          </a:p>
        </p:txBody>
      </p:sp>
      <p:pic>
        <p:nvPicPr>
          <p:cNvPr id="9" name="Picture 8" descr="f_slide2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2011680"/>
            <a:ext cx="4572000" cy="64008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6492240" y="2926080"/>
            <a:ext cx="4937760" cy="118872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005A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6629400" y="3017520"/>
            <a:ext cx="4663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05A9C"/>
                </a:solidFill>
                <a:latin typeface="Times New Roman"/>
              </a:defRPr>
            </a:pPr>
            <a:r>
              <a:rPr>
                <a:latin typeface="Times New Roman"/>
              </a:rPr>
              <a:t>Termodinamikaning I va II qonuni birlashuvi:</a:t>
            </a:r>
          </a:p>
        </p:txBody>
      </p:sp>
      <p:pic>
        <p:nvPicPr>
          <p:cNvPr id="12" name="Picture 11" descr="f_slide2_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0" y="3291840"/>
            <a:ext cx="4572000" cy="731520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6492240" y="4297680"/>
            <a:ext cx="4937760" cy="201168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005A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</a:defRPr>
            </a:pPr>
          </a:p>
        </p:txBody>
      </p:sp>
      <p:sp>
        <p:nvSpPr>
          <p:cNvPr id="14" name="TextBox 13"/>
          <p:cNvSpPr txBox="1"/>
          <p:nvPr/>
        </p:nvSpPr>
        <p:spPr>
          <a:xfrm>
            <a:off x="6629400" y="4389120"/>
            <a:ext cx="4663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05A9C"/>
                </a:solidFill>
                <a:latin typeface="Times New Roman"/>
              </a:defRPr>
            </a:pPr>
            <a:r>
              <a:rPr>
                <a:latin typeface="Times New Roman"/>
              </a:rPr>
              <a:t>Sirt tarangligining termodinamik ta'rifi:</a:t>
            </a:r>
          </a:p>
        </p:txBody>
      </p:sp>
      <p:pic>
        <p:nvPicPr>
          <p:cNvPr id="15" name="Picture 14" descr="f_slide2_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5120" y="4663440"/>
            <a:ext cx="4572000" cy="155448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5A9C"/>
                </a:solidFill>
                <a:latin typeface="Times New Roman"/>
              </a:defRPr>
            </a:pPr>
            <a:r>
              <a:rPr>
                <a:latin typeface="Times New Roman"/>
              </a:rPr>
              <a:t>KOLLEID KIMYO: SIRT HODISALARI VA ADSORBSIYA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2027"/>
                </a:solidFill>
                <a:latin typeface="Times New Roman"/>
              </a:defRPr>
            </a:pPr>
            <a:r>
              <a:rPr>
                <a:latin typeface="Times New Roman"/>
              </a:rPr>
              <a:t>2. Sirt Tarangligiga Ta'sir Etuvchi Fizik-Kimyoviy Omillar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728655" cy="25400"/>
          </a:xfrm>
          <a:prstGeom prst="rect">
            <a:avLst/>
          </a:prstGeom>
          <a:solidFill>
            <a:srgbClr val="005A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</a:defRPr>
            </a:pP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48640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</a:defRPr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914400" y="1737360"/>
            <a:ext cx="51206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>
                <a:latin typeface="Times New Roman"/>
              </a:defRPr>
            </a:pPr>
            <a:r>
              <a:rPr b="1" sz="1400">
                <a:solidFill>
                  <a:srgbClr val="0F2027"/>
                </a:solidFill>
                <a:latin typeface="Times New Roman"/>
              </a:rPr>
              <a:t>1. Modda kimyoviy tabiati va qutbliligi: </a:t>
            </a:r>
            <a:r>
              <a:rPr b="0" sz="1400">
                <a:solidFill>
                  <a:srgbClr val="0F2027"/>
                </a:solidFill>
                <a:latin typeface="Times New Roman"/>
              </a:rPr>
              <a:t>Molekulalararo bog'lanish qancha kuchli bo'lsa (vodorod bog'lar, ionli bog'lar), sirt tarangligi shuncha yuqori bo'ladi. Suvda sigma = 72.8 mN/m, simobda sigma = 475 mN/m.</a:t>
            </a:r>
          </a:p>
          <a:p>
            <a:pPr>
              <a:spcAft>
                <a:spcPts val="800"/>
              </a:spcAft>
              <a:defRPr>
                <a:latin typeface="Times New Roman"/>
              </a:defRPr>
            </a:pPr>
            <a:r>
              <a:rPr b="1" sz="1400">
                <a:solidFill>
                  <a:srgbClr val="0F2027"/>
                </a:solidFill>
                <a:latin typeface="Times New Roman"/>
              </a:rPr>
              <a:t>2. Harorat ta'siri (T): </a:t>
            </a:r>
            <a:r>
              <a:rPr b="0" sz="1400">
                <a:solidFill>
                  <a:srgbClr val="0F2027"/>
                </a:solidFill>
                <a:latin typeface="Times New Roman"/>
              </a:rPr>
              <a:t>Harorat ortishi bilan molekulalar issiqlik harakati kuchayadi, molekulalararo tortishish zaiflashadi va sirt tarangligi chiziqli kamayadi. Kritik haroratda (Tk) sigma = 0 bo'ladi.</a:t>
            </a:r>
          </a:p>
          <a:p>
            <a:pPr>
              <a:spcAft>
                <a:spcPts val="800"/>
              </a:spcAft>
              <a:defRPr>
                <a:latin typeface="Times New Roman"/>
              </a:defRPr>
            </a:pPr>
            <a:r>
              <a:rPr b="1" sz="1400">
                <a:solidFill>
                  <a:srgbClr val="0F2027"/>
                </a:solidFill>
                <a:latin typeface="Times New Roman"/>
              </a:rPr>
              <a:t>3. Antonov qoidasi (Ikki suyuqlik chegarasi): </a:t>
            </a:r>
            <a:r>
              <a:rPr b="0" sz="1400">
                <a:solidFill>
                  <a:srgbClr val="0F2027"/>
                </a:solidFill>
                <a:latin typeface="Times New Roman"/>
              </a:rPr>
              <a:t>O'zaro cheklangan eruvchan ikki suyuqlik chegarasidagi sirt tarangligi ularning to'yingan faza sirt tarangliklari ayirmasiga teng.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92240" y="1645920"/>
            <a:ext cx="4937760" cy="128016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005A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6629400" y="1737360"/>
            <a:ext cx="4663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05A9C"/>
                </a:solidFill>
                <a:latin typeface="Times New Roman"/>
              </a:defRPr>
            </a:pPr>
            <a:r>
              <a:rPr>
                <a:latin typeface="Times New Roman"/>
              </a:rPr>
              <a:t>Sirt tarangligining haroratga bog'liqligi:</a:t>
            </a:r>
          </a:p>
        </p:txBody>
      </p:sp>
      <p:pic>
        <p:nvPicPr>
          <p:cNvPr id="9" name="Picture 8" descr="f_slide3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2011680"/>
            <a:ext cx="4572000" cy="82296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6492240" y="3108960"/>
            <a:ext cx="4937760" cy="128016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005A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6629400" y="3200400"/>
            <a:ext cx="4663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05A9C"/>
                </a:solidFill>
                <a:latin typeface="Times New Roman"/>
              </a:defRPr>
            </a:pPr>
            <a:r>
              <a:rPr>
                <a:latin typeface="Times New Roman"/>
              </a:rPr>
              <a:t>Antonov qoidasi tenglamasi:</a:t>
            </a:r>
          </a:p>
        </p:txBody>
      </p:sp>
      <p:pic>
        <p:nvPicPr>
          <p:cNvPr id="12" name="Picture 11" descr="f_slide3_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0" y="3474720"/>
            <a:ext cx="4572000" cy="822960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6492240" y="4572000"/>
            <a:ext cx="4937760" cy="1737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</a:defRPr>
            </a:pPr>
          </a:p>
        </p:txBody>
      </p:sp>
      <p:pic>
        <p:nvPicPr>
          <p:cNvPr id="14" name="Picture 13" descr="sirt_molekula_vecto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0" y="4617720"/>
            <a:ext cx="4754880" cy="164592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5A9C"/>
                </a:solidFill>
                <a:latin typeface="Times New Roman"/>
              </a:defRPr>
            </a:pPr>
            <a:r>
              <a:rPr>
                <a:latin typeface="Times New Roman"/>
              </a:rPr>
              <a:t>KOLLEID KIMYO: SIRT HODISALARI VA ADSORBSIYA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2027"/>
                </a:solidFill>
                <a:latin typeface="Times New Roman"/>
              </a:defRPr>
            </a:pPr>
            <a:r>
              <a:rPr>
                <a:latin typeface="Times New Roman"/>
              </a:rPr>
              <a:t>3. Sirt-Aktiv Moddalar va Traube-Dyuklo Qoidasi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728655" cy="25400"/>
          </a:xfrm>
          <a:prstGeom prst="rect">
            <a:avLst/>
          </a:prstGeom>
          <a:solidFill>
            <a:srgbClr val="005A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</a:defRPr>
            </a:pP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30352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</a:defRPr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914400" y="1737360"/>
            <a:ext cx="49377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>
                <a:latin typeface="Times New Roman"/>
              </a:defRPr>
            </a:pPr>
            <a:r>
              <a:rPr b="1" sz="1400">
                <a:solidFill>
                  <a:srgbClr val="0F2027"/>
                </a:solidFill>
                <a:latin typeface="Times New Roman"/>
              </a:rPr>
              <a:t>Sirt Aktivligi (g): </a:t>
            </a:r>
            <a:r>
              <a:rPr b="0" sz="1400">
                <a:solidFill>
                  <a:srgbClr val="0F2027"/>
                </a:solidFill>
                <a:latin typeface="Times New Roman"/>
              </a:rPr>
              <a:t>Erigan moddaning sirt tarangligini pasaytirish qobiliyati. g = -d(sigma)/dC (C -&gt; 0 sharoitida).</a:t>
            </a:r>
          </a:p>
          <a:p>
            <a:pPr>
              <a:spcAft>
                <a:spcPts val="800"/>
              </a:spcAft>
              <a:defRPr>
                <a:latin typeface="Times New Roman"/>
              </a:defRPr>
            </a:pPr>
            <a:r>
              <a:rPr b="1" sz="1400">
                <a:solidFill>
                  <a:srgbClr val="0F2027"/>
                </a:solidFill>
                <a:latin typeface="Times New Roman"/>
              </a:rPr>
              <a:t>Traube-Dyuklo Qoidasi: </a:t>
            </a:r>
            <a:r>
              <a:rPr b="0" sz="1400">
                <a:solidFill>
                  <a:srgbClr val="0F2027"/>
                </a:solidFill>
                <a:latin typeface="Times New Roman"/>
              </a:rPr>
              <a:t>Bir xil gomologik qatordagi sirt-aktiv moddalarning (spirtlar, yog' kislotalari) uglevodorod zanjiri bitta -CH2- guruhga uzayganda, ularning sirt aktivligi (g) 3.0-3.5 baravar ortadi.</a:t>
            </a:r>
          </a:p>
          <a:p>
            <a:pPr>
              <a:spcAft>
                <a:spcPts val="800"/>
              </a:spcAft>
              <a:defRPr>
                <a:latin typeface="Times New Roman"/>
              </a:defRPr>
            </a:pPr>
            <a:r>
              <a:rPr b="1" sz="1400">
                <a:solidFill>
                  <a:srgbClr val="0F2027"/>
                </a:solidFill>
                <a:latin typeface="Times New Roman"/>
              </a:rPr>
              <a:t>Fizikaviy sababi: </a:t>
            </a:r>
            <a:r>
              <a:rPr b="0" sz="1400">
                <a:solidFill>
                  <a:srgbClr val="0F2027"/>
                </a:solidFill>
                <a:latin typeface="Times New Roman"/>
              </a:rPr>
              <a:t>Uglevodorod radikali suv muhitidan sirt qatlamiga gipofobik kuchlar ta'sirida siqib chiqariladi.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12080" cy="118872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005A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6355080" y="1737360"/>
            <a:ext cx="4937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05A9C"/>
                </a:solidFill>
                <a:latin typeface="Times New Roman"/>
              </a:defRPr>
            </a:pPr>
            <a:r>
              <a:rPr>
                <a:latin typeface="Times New Roman"/>
              </a:rPr>
              <a:t>Rebinder bo'yicha sirt aktivlik ta'rifi:</a:t>
            </a:r>
          </a:p>
        </p:txBody>
      </p:sp>
      <p:pic>
        <p:nvPicPr>
          <p:cNvPr id="9" name="Picture 8" descr="f_slide4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2011680"/>
            <a:ext cx="4846320" cy="73152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6217920" y="2926080"/>
            <a:ext cx="5212080" cy="109728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005A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6355080" y="3017520"/>
            <a:ext cx="4937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05A9C"/>
                </a:solidFill>
                <a:latin typeface="Times New Roman"/>
              </a:defRPr>
            </a:pPr>
            <a:r>
              <a:rPr>
                <a:latin typeface="Times New Roman"/>
              </a:rPr>
              <a:t>Traube-Dyuklo koeffitsienti:</a:t>
            </a:r>
          </a:p>
        </p:txBody>
      </p:sp>
      <p:pic>
        <p:nvPicPr>
          <p:cNvPr id="12" name="Picture 11" descr="f_slide4_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3291840"/>
            <a:ext cx="4846320" cy="640080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6217920" y="4114800"/>
            <a:ext cx="521208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</a:defRPr>
            </a:pPr>
          </a:p>
        </p:txBody>
      </p:sp>
      <p:pic>
        <p:nvPicPr>
          <p:cNvPr id="14" name="Picture 13" descr="traube_dyukl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9360" y="4160520"/>
            <a:ext cx="5029200" cy="210312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5A9C"/>
                </a:solidFill>
                <a:latin typeface="Times New Roman"/>
              </a:defRPr>
            </a:pPr>
            <a:r>
              <a:rPr>
                <a:latin typeface="Times New Roman"/>
              </a:rPr>
              <a:t>KOLLEID KIMYO: SIRT HODISALARI VA ADSORBSIYA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2027"/>
                </a:solidFill>
                <a:latin typeface="Times New Roman"/>
              </a:defRPr>
            </a:pPr>
            <a:r>
              <a:rPr>
                <a:latin typeface="Times New Roman"/>
              </a:rPr>
              <a:t>4. Egri Sirtlar Termodinamikasi: Laplas va Kelvin Tenglamalari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728655" cy="25400"/>
          </a:xfrm>
          <a:prstGeom prst="rect">
            <a:avLst/>
          </a:prstGeom>
          <a:solidFill>
            <a:srgbClr val="005A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</a:defRPr>
            </a:pP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48640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</a:defRPr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914400" y="1737360"/>
            <a:ext cx="51206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>
                <a:latin typeface="Times New Roman"/>
              </a:defRPr>
            </a:pPr>
            <a:r>
              <a:rPr b="1" sz="1400">
                <a:solidFill>
                  <a:srgbClr val="0F2027"/>
                </a:solidFill>
                <a:latin typeface="Times New Roman"/>
              </a:rPr>
              <a:t>Egri sirt ostidagi kapillyar bosim (Laplas): </a:t>
            </a:r>
            <a:r>
              <a:rPr b="0" sz="1400">
                <a:solidFill>
                  <a:srgbClr val="0F2027"/>
                </a:solidFill>
                <a:latin typeface="Times New Roman"/>
              </a:rPr>
              <a:t>Suyuqlik sirti egrilanganda (tomchi, pufakcha, kapillyar menisk) sirt taranglik kuchlari natijasida qo'shimcha Laplas bosimi (Delta P) hosil bo'ladi.</a:t>
            </a:r>
          </a:p>
          <a:p>
            <a:pPr>
              <a:spcAft>
                <a:spcPts val="800"/>
              </a:spcAft>
              <a:defRPr>
                <a:latin typeface="Times New Roman"/>
              </a:defRPr>
            </a:pPr>
            <a:r>
              <a:rPr b="1" sz="1400">
                <a:solidFill>
                  <a:srgbClr val="0F2027"/>
                </a:solidFill>
                <a:latin typeface="Times New Roman"/>
              </a:rPr>
              <a:t>Botiq va qabariq menisklar: </a:t>
            </a:r>
            <a:r>
              <a:rPr b="0" sz="1400">
                <a:solidFill>
                  <a:srgbClr val="0F2027"/>
                </a:solidFill>
                <a:latin typeface="Times New Roman"/>
              </a:rPr>
              <a:t>Qabariq sirtda (tomchi) ichki bosim ortadi (Delta P &gt; 0). Botiq sirtda (kapillyar) bosim pasayadi (Delta P &lt; 0), bu esa kapillyar ko'tarilishga sabab bo'ladi.</a:t>
            </a:r>
          </a:p>
          <a:p>
            <a:pPr>
              <a:spcAft>
                <a:spcPts val="800"/>
              </a:spcAft>
              <a:defRPr>
                <a:latin typeface="Times New Roman"/>
              </a:defRPr>
            </a:pPr>
            <a:r>
              <a:rPr b="1" sz="1400">
                <a:solidFill>
                  <a:srgbClr val="0F2027"/>
                </a:solidFill>
                <a:latin typeface="Times New Roman"/>
              </a:rPr>
              <a:t>Kelvin (Tomson) tenglamasi: </a:t>
            </a:r>
            <a:r>
              <a:rPr b="0" sz="1400">
                <a:solidFill>
                  <a:srgbClr val="0F2027"/>
                </a:solidFill>
                <a:latin typeface="Times New Roman"/>
              </a:rPr>
              <a:t>Kichik tomchilar ustidagi to'yingan bug' bosimi (Pr) tebranmas tekis sirt ustidagi bug' bosimidan (P0) yuqori bo'ladi. Botiq kapillyarlarda esa bug' bosimi pasayadi (kapillyar kondensatlanish).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92240" y="1645920"/>
            <a:ext cx="4937760" cy="137160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005A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6629400" y="1737360"/>
            <a:ext cx="4663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05A9C"/>
                </a:solidFill>
                <a:latin typeface="Times New Roman"/>
              </a:defRPr>
            </a:pPr>
            <a:r>
              <a:rPr>
                <a:latin typeface="Times New Roman"/>
              </a:rPr>
              <a:t>Laplas tenglamasi (Sferik sirt):</a:t>
            </a:r>
          </a:p>
        </p:txBody>
      </p:sp>
      <p:pic>
        <p:nvPicPr>
          <p:cNvPr id="9" name="Picture 8" descr="f_slide5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2011680"/>
            <a:ext cx="4572000" cy="91440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6492240" y="3200400"/>
            <a:ext cx="4937760" cy="164592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005A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6629400" y="3291840"/>
            <a:ext cx="4663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05A9C"/>
                </a:solidFill>
                <a:latin typeface="Times New Roman"/>
              </a:defRPr>
            </a:pPr>
            <a:r>
              <a:rPr>
                <a:latin typeface="Times New Roman"/>
              </a:rPr>
              <a:t>Kelvin (Tomson) tenglamasi:</a:t>
            </a:r>
          </a:p>
        </p:txBody>
      </p:sp>
      <p:pic>
        <p:nvPicPr>
          <p:cNvPr id="12" name="Picture 11" descr="f_slide5_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0" y="3566160"/>
            <a:ext cx="4572000" cy="11887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5A9C"/>
                </a:solidFill>
                <a:latin typeface="Times New Roman"/>
              </a:defRPr>
            </a:pPr>
            <a:r>
              <a:rPr>
                <a:latin typeface="Times New Roman"/>
              </a:rPr>
              <a:t>KOLLEID KIMYO: SIRT HODISALARI VA ADSORBSIYA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2027"/>
                </a:solidFill>
                <a:latin typeface="Times New Roman"/>
              </a:defRPr>
            </a:pPr>
            <a:r>
              <a:rPr>
                <a:latin typeface="Times New Roman"/>
              </a:rPr>
              <a:t>5. Sorbsiya Hodisalarining Mexanizmi va Qiyosiy Tavsifi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728655" cy="25400"/>
          </a:xfrm>
          <a:prstGeom prst="rect">
            <a:avLst/>
          </a:prstGeom>
          <a:solidFill>
            <a:srgbClr val="005A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</a:defRPr>
            </a:pP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328416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</a:defRPr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822960" y="1737360"/>
            <a:ext cx="3145536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>
                <a:latin typeface="Times New Roman"/>
              </a:defRPr>
            </a:pPr>
            <a:r>
              <a:rPr b="1" sz="1300">
                <a:solidFill>
                  <a:srgbClr val="0F2027"/>
                </a:solidFill>
                <a:latin typeface="Times New Roman"/>
              </a:rPr>
              <a:t>1. Adsorbsiya (Sirtqi) </a:t>
            </a:r>
            <a:r>
              <a:rPr b="0" sz="1300">
                <a:solidFill>
                  <a:srgbClr val="0F2027"/>
                </a:solidFill>
                <a:latin typeface="Times New Roman"/>
              </a:rPr>
              <a:t>Moddaning fazalar ajralish sirtida (qattiq/gaz, qattiq/suyuqlik) to'planish jarayoni.
• Sirtqi hodisa
• Tez muvozanatga erishadi
• Qaytardir (desorbsiya)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25696" y="1645920"/>
            <a:ext cx="3328416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4517136" y="1737360"/>
            <a:ext cx="3145536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>
                <a:latin typeface="Times New Roman"/>
              </a:defRPr>
            </a:pPr>
            <a:r>
              <a:rPr b="1" sz="1300">
                <a:solidFill>
                  <a:srgbClr val="0F2027"/>
                </a:solidFill>
                <a:latin typeface="Times New Roman"/>
              </a:rPr>
              <a:t>2. Absorbsiya (Hajmiy) </a:t>
            </a:r>
            <a:r>
              <a:rPr b="0" sz="1300">
                <a:solidFill>
                  <a:srgbClr val="0F2027"/>
                </a:solidFill>
                <a:latin typeface="Times New Roman"/>
              </a:rPr>
              <a:t>Yutilayotgan moddaning ikkinchi faza (suyuqlik yoki qattiq jism) hajmi bo'ylab tekis tarqalishi.
• Diffuziya bilan bog'liq
• Sekin boradi
• Boshqalar: Xemosorbsiya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19872" y="1645920"/>
            <a:ext cx="3328416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</a:defRPr>
            </a:pPr>
          </a:p>
        </p:txBody>
      </p:sp>
      <p:sp>
        <p:nvSpPr>
          <p:cNvPr id="10" name="TextBox 9"/>
          <p:cNvSpPr txBox="1"/>
          <p:nvPr/>
        </p:nvSpPr>
        <p:spPr>
          <a:xfrm>
            <a:off x="8211312" y="1737360"/>
            <a:ext cx="3145536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>
                <a:latin typeface="Times New Roman"/>
              </a:defRPr>
            </a:pPr>
            <a:r>
              <a:rPr b="1" sz="1300">
                <a:solidFill>
                  <a:srgbClr val="0F2027"/>
                </a:solidFill>
                <a:latin typeface="Times New Roman"/>
              </a:rPr>
              <a:t>3. Kapillyar Kondensatsiyalanish </a:t>
            </a:r>
            <a:r>
              <a:rPr b="0" sz="1300">
                <a:solidFill>
                  <a:srgbClr val="0F2027"/>
                </a:solidFill>
                <a:latin typeface="Times New Roman"/>
              </a:rPr>
              <a:t>G'ovak adsorbentlarda botiq menisklar hosil bo'lishi natijasida bug'ning P &lt; P0 bosimda suyuqlikka aylanishi.
• Kelvin tenglamasi
• Histerezis sirtalari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5A9C"/>
                </a:solidFill>
                <a:latin typeface="Times New Roman"/>
              </a:defRPr>
            </a:pPr>
            <a:r>
              <a:rPr>
                <a:latin typeface="Times New Roman"/>
              </a:rPr>
              <a:t>KOLLEID KIMYO: SIRT HODISALARI VA ADSORBSIYA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2027"/>
                </a:solidFill>
                <a:latin typeface="Times New Roman"/>
              </a:defRPr>
            </a:pPr>
            <a:r>
              <a:rPr>
                <a:latin typeface="Times New Roman"/>
              </a:rPr>
              <a:t>6. Adsorbsiyaning Miqdoriy Ko'rsatkichlari va Absolyut Adsorbsiya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728655" cy="25400"/>
          </a:xfrm>
          <a:prstGeom prst="rect">
            <a:avLst/>
          </a:prstGeom>
          <a:solidFill>
            <a:srgbClr val="005A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</a:defRPr>
            </a:pP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48640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</a:defRPr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914400" y="1737360"/>
            <a:ext cx="51206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>
                <a:latin typeface="Times New Roman"/>
              </a:defRPr>
            </a:pPr>
            <a:r>
              <a:rPr b="1" sz="1400">
                <a:solidFill>
                  <a:srgbClr val="0F2027"/>
                </a:solidFill>
                <a:latin typeface="Times New Roman"/>
              </a:rPr>
              <a:t>Asosiy tushunchalar: </a:t>
            </a:r>
            <a:r>
              <a:rPr b="0" sz="1400">
                <a:solidFill>
                  <a:srgbClr val="0F2027"/>
                </a:solidFill>
                <a:latin typeface="Times New Roman"/>
              </a:rPr>
              <a:t>Adsorbent — sirtida adsorbsiya sodir bo'ladigan qattiq yoki suyuq modda.
Adsorbtiv — adsorbsiyalanuvchi modda.
Adsorbat — adsorbsiyalangan modda.</a:t>
            </a:r>
          </a:p>
          <a:p>
            <a:pPr>
              <a:spcAft>
                <a:spcPts val="800"/>
              </a:spcAft>
              <a:defRPr>
                <a:latin typeface="Times New Roman"/>
              </a:defRPr>
            </a:pPr>
            <a:r>
              <a:rPr b="1" sz="1400">
                <a:solidFill>
                  <a:srgbClr val="0F2027"/>
                </a:solidFill>
                <a:latin typeface="Times New Roman"/>
              </a:rPr>
              <a:t>1. Absolyut Adsorbsiya (a): </a:t>
            </a:r>
            <a:r>
              <a:rPr b="0" sz="1400">
                <a:solidFill>
                  <a:srgbClr val="0F2027"/>
                </a:solidFill>
                <a:latin typeface="Times New Roman"/>
              </a:rPr>
              <a:t>Adsorbentning birlik massasi (m) yoki birlik sirt yuzasida (S) to'plangan adsorbatning mol miqdori.</a:t>
            </a:r>
          </a:p>
          <a:p>
            <a:pPr>
              <a:spcAft>
                <a:spcPts val="800"/>
              </a:spcAft>
              <a:defRPr>
                <a:latin typeface="Times New Roman"/>
              </a:defRPr>
            </a:pPr>
            <a:r>
              <a:rPr b="1" sz="1400">
                <a:solidFill>
                  <a:srgbClr val="0F2027"/>
                </a:solidFill>
                <a:latin typeface="Times New Roman"/>
              </a:rPr>
              <a:t>2. Ortiqcha Gibbs Adsorbsiyasi (G): </a:t>
            </a:r>
            <a:r>
              <a:rPr b="0" sz="1400">
                <a:solidFill>
                  <a:srgbClr val="0F2027"/>
                </a:solidFill>
                <a:latin typeface="Times New Roman"/>
              </a:rPr>
              <a:t>Sirt qatlamidagi modda miqdorining hajm rejalashtirilgan konsentratsiyasidan ortiqcha farqi [mol/m2].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92240" y="1645920"/>
            <a:ext cx="4937760" cy="137160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005A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6629400" y="1737360"/>
            <a:ext cx="4663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05A9C"/>
                </a:solidFill>
                <a:latin typeface="Times New Roman"/>
              </a:defRPr>
            </a:pPr>
            <a:r>
              <a:rPr>
                <a:latin typeface="Times New Roman"/>
              </a:rPr>
              <a:t>Absolyut adsorbsiya (a):</a:t>
            </a:r>
          </a:p>
        </p:txBody>
      </p:sp>
      <p:pic>
        <p:nvPicPr>
          <p:cNvPr id="9" name="Picture 8" descr="f_slide7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2011680"/>
            <a:ext cx="4572000" cy="91440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6492240" y="3200400"/>
            <a:ext cx="4937760" cy="137160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005A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6629400" y="3291840"/>
            <a:ext cx="4663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05A9C"/>
                </a:solidFill>
                <a:latin typeface="Times New Roman"/>
              </a:defRPr>
            </a:pPr>
            <a:r>
              <a:rPr>
                <a:latin typeface="Times New Roman"/>
              </a:rPr>
              <a:t>Gibbs ortiqcha adsorbsiyasi (G):</a:t>
            </a:r>
          </a:p>
        </p:txBody>
      </p:sp>
      <p:pic>
        <p:nvPicPr>
          <p:cNvPr id="12" name="Picture 11" descr="f_slide7_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0" y="3566160"/>
            <a:ext cx="4572000" cy="9144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5A9C"/>
                </a:solidFill>
                <a:latin typeface="Times New Roman"/>
              </a:defRPr>
            </a:pPr>
            <a:r>
              <a:rPr>
                <a:latin typeface="Times New Roman"/>
              </a:rPr>
              <a:t>KOLLEID KIMYO: SIRT HODISALARI VA ADSORBSIYA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2027"/>
                </a:solidFill>
                <a:latin typeface="Times New Roman"/>
              </a:defRPr>
            </a:pPr>
            <a:r>
              <a:rPr>
                <a:latin typeface="Times New Roman"/>
              </a:rPr>
              <a:t>7. Gibbsning Fundamental Termodinamik Adsorbsiya Tenglamasi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728655" cy="25400"/>
          </a:xfrm>
          <a:prstGeom prst="rect">
            <a:avLst/>
          </a:prstGeom>
          <a:solidFill>
            <a:srgbClr val="005A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</a:defRPr>
            </a:pP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30352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</a:defRPr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914400" y="1737360"/>
            <a:ext cx="49377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>
                <a:latin typeface="Times New Roman"/>
              </a:defRPr>
            </a:pPr>
            <a:r>
              <a:rPr b="1" sz="1400">
                <a:solidFill>
                  <a:srgbClr val="0F2027"/>
                </a:solidFill>
                <a:latin typeface="Times New Roman"/>
              </a:rPr>
              <a:t>Gibbs tenglamasi va uning mohiyati: </a:t>
            </a:r>
            <a:r>
              <a:rPr b="0" sz="1400">
                <a:solidFill>
                  <a:srgbClr val="0F2027"/>
                </a:solidFill>
                <a:latin typeface="Times New Roman"/>
              </a:rPr>
              <a:t>Sirt tarangligining o'zgarishi (d_sigma/dC) bilan sirtda modda to'planishi (G) o'rtasidagi fundamental termodinamik bog'liqlikni ifodalaydi.</a:t>
            </a:r>
          </a:p>
          <a:p>
            <a:pPr>
              <a:spcAft>
                <a:spcPts val="800"/>
              </a:spcAft>
              <a:defRPr>
                <a:latin typeface="Times New Roman"/>
              </a:defRPr>
            </a:pPr>
            <a:r>
              <a:rPr b="1" sz="1400">
                <a:solidFill>
                  <a:srgbClr val="0F2027"/>
                </a:solidFill>
                <a:latin typeface="Times New Roman"/>
              </a:rPr>
              <a:t>Musbat adsorbsiya (G &gt; 0): </a:t>
            </a:r>
            <a:r>
              <a:rPr b="0" sz="1400">
                <a:solidFill>
                  <a:srgbClr val="0F2027"/>
                </a:solidFill>
                <a:latin typeface="Times New Roman"/>
              </a:rPr>
              <a:t>Agar d_sigma/dC &lt; 0 bo'lsa (SAM), G &gt; 0 bo'ladi. Modda sirtda to'planadi va sirt tarangligini pasaytiradi.</a:t>
            </a:r>
          </a:p>
          <a:p>
            <a:pPr>
              <a:spcAft>
                <a:spcPts val="800"/>
              </a:spcAft>
              <a:defRPr>
                <a:latin typeface="Times New Roman"/>
              </a:defRPr>
            </a:pPr>
            <a:r>
              <a:rPr b="1" sz="1400">
                <a:solidFill>
                  <a:srgbClr val="0F2027"/>
                </a:solidFill>
                <a:latin typeface="Times New Roman"/>
              </a:rPr>
              <a:t>Manfiy adsorbsiya (G &lt; 0): </a:t>
            </a:r>
            <a:r>
              <a:rPr b="0" sz="1400">
                <a:solidFill>
                  <a:srgbClr val="0F2027"/>
                </a:solidFill>
                <a:latin typeface="Times New Roman"/>
              </a:rPr>
              <a:t>Agar d_sigma/dC &gt; 0 bo'lsa (SIM), G &lt; 0 bo'ladi. Modda hajmga o'tadi va sirtda kamayadi.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12080" cy="137160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005A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6355080" y="1737360"/>
            <a:ext cx="4937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05A9C"/>
                </a:solidFill>
                <a:latin typeface="Times New Roman"/>
              </a:defRPr>
            </a:pPr>
            <a:r>
              <a:rPr>
                <a:latin typeface="Times New Roman"/>
              </a:rPr>
              <a:t>Gibbs tenglamasi (Konsentratsiyali):</a:t>
            </a:r>
          </a:p>
        </p:txBody>
      </p:sp>
      <p:pic>
        <p:nvPicPr>
          <p:cNvPr id="9" name="Picture 8" descr="f_slide8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2011680"/>
            <a:ext cx="4846320" cy="91440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6217920" y="3200400"/>
            <a:ext cx="5212080" cy="137160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005A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6355080" y="3291840"/>
            <a:ext cx="4937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05A9C"/>
                </a:solidFill>
                <a:latin typeface="Times New Roman"/>
              </a:defRPr>
            </a:pPr>
            <a:r>
              <a:rPr>
                <a:latin typeface="Times New Roman"/>
              </a:rPr>
              <a:t>Gibbs tenglamasi (Aktivlikli):</a:t>
            </a:r>
          </a:p>
        </p:txBody>
      </p:sp>
      <p:pic>
        <p:nvPicPr>
          <p:cNvPr id="12" name="Picture 11" descr="f_slide8_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3566160"/>
            <a:ext cx="4846320" cy="914400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6217920" y="4663440"/>
            <a:ext cx="5212080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</a:defRPr>
            </a:pPr>
          </a:p>
        </p:txBody>
      </p:sp>
      <p:pic>
        <p:nvPicPr>
          <p:cNvPr id="14" name="Picture 13" descr="sirt_taranglik_sa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9360" y="4709160"/>
            <a:ext cx="5029200" cy="155448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5A9C"/>
                </a:solidFill>
                <a:latin typeface="Times New Roman"/>
              </a:defRPr>
            </a:pPr>
            <a:r>
              <a:rPr>
                <a:latin typeface="Times New Roman"/>
              </a:rPr>
              <a:t>KOLLEID KIMYO: SIRT HODISALARI VA ADSORBSIYA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2027"/>
                </a:solidFill>
                <a:latin typeface="Times New Roman"/>
              </a:defRPr>
            </a:pPr>
            <a:r>
              <a:rPr>
                <a:latin typeface="Times New Roman"/>
              </a:rPr>
              <a:t>8. Shishkovskiy Tenglamasi va Molekula O'lchamlarini Aniqlash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728655" cy="25400"/>
          </a:xfrm>
          <a:prstGeom prst="rect">
            <a:avLst/>
          </a:prstGeom>
          <a:solidFill>
            <a:srgbClr val="005A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</a:defRPr>
            </a:pP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30352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</a:defRPr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914400" y="1737360"/>
            <a:ext cx="49377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>
                <a:latin typeface="Times New Roman"/>
              </a:defRPr>
            </a:pPr>
            <a:r>
              <a:rPr b="1" sz="1400">
                <a:solidFill>
                  <a:srgbClr val="0F2027"/>
                </a:solidFill>
                <a:latin typeface="Times New Roman"/>
              </a:rPr>
              <a:t>Shishkovskiy tenglamasi: </a:t>
            </a:r>
            <a:r>
              <a:rPr b="0" sz="1400">
                <a:solidFill>
                  <a:srgbClr val="0F2027"/>
                </a:solidFill>
                <a:latin typeface="Times New Roman"/>
              </a:rPr>
              <a:t>B. Shishkovskiy (1908) sirt-aktiv moddalar konsentratsiyasi ortishi bilan sirt taranglik pasayishini empirik ravishda ifodaladi.</a:t>
            </a:r>
          </a:p>
          <a:p>
            <a:pPr>
              <a:spcAft>
                <a:spcPts val="800"/>
              </a:spcAft>
              <a:defRPr>
                <a:latin typeface="Times New Roman"/>
              </a:defRPr>
            </a:pPr>
            <a:r>
              <a:rPr b="1" sz="1400">
                <a:solidFill>
                  <a:srgbClr val="0F2027"/>
                </a:solidFill>
                <a:latin typeface="Times New Roman"/>
              </a:rPr>
              <a:t>Gibbs va Lengmyur bilan birlashuvi: </a:t>
            </a:r>
            <a:r>
              <a:rPr b="0" sz="1400">
                <a:solidFill>
                  <a:srgbClr val="0F2027"/>
                </a:solidFill>
                <a:latin typeface="Times New Roman"/>
              </a:rPr>
              <a:t>Shishkovskiy konstanta B = G_max * R * T ekanligi isbotlandi va Gibbs tenglamasidan Lengmyur izotermasiga o'tish imkonini berdi.</a:t>
            </a:r>
          </a:p>
          <a:p>
            <a:pPr>
              <a:spcAft>
                <a:spcPts val="800"/>
              </a:spcAft>
              <a:defRPr>
                <a:latin typeface="Times New Roman"/>
              </a:defRPr>
            </a:pPr>
            <a:r>
              <a:rPr b="1" sz="1400">
                <a:solidFill>
                  <a:srgbClr val="0F2027"/>
                </a:solidFill>
                <a:latin typeface="Times New Roman"/>
              </a:rPr>
              <a:t>Molekula parametrlarini hisoblash: </a:t>
            </a:r>
            <a:r>
              <a:rPr b="0" sz="1400">
                <a:solidFill>
                  <a:srgbClr val="0F2027"/>
                </a:solidFill>
                <a:latin typeface="Times New Roman"/>
              </a:rPr>
              <a:t>G_max qiymatidan molekulaning sirtda egallagan ko'ndalang kesim yuzasi (S0) va sirt qatlamining qalinligi (l) aniqlanadi.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12080" cy="118872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005A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6355080" y="1737360"/>
            <a:ext cx="4937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05A9C"/>
                </a:solidFill>
                <a:latin typeface="Times New Roman"/>
              </a:defRPr>
            </a:pPr>
            <a:r>
              <a:rPr>
                <a:latin typeface="Times New Roman"/>
              </a:rPr>
              <a:t>Shishkovskiy empirik tenglamasi:</a:t>
            </a:r>
          </a:p>
        </p:txBody>
      </p:sp>
      <p:pic>
        <p:nvPicPr>
          <p:cNvPr id="9" name="Picture 8" descr="f_slide9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2011680"/>
            <a:ext cx="4846320" cy="73152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6217920" y="2926080"/>
            <a:ext cx="5212080" cy="146304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005A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6355080" y="3017520"/>
            <a:ext cx="4937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05A9C"/>
                </a:solidFill>
                <a:latin typeface="Times New Roman"/>
              </a:defRPr>
            </a:pPr>
            <a:r>
              <a:rPr>
                <a:latin typeface="Times New Roman"/>
              </a:rPr>
              <a:t>Gibbs-Lengmyur birlashgan tenglamasi:</a:t>
            </a:r>
          </a:p>
        </p:txBody>
      </p:sp>
      <p:pic>
        <p:nvPicPr>
          <p:cNvPr id="12" name="Picture 11" descr="f_slide9_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3291840"/>
            <a:ext cx="4846320" cy="1005840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6217920" y="4480560"/>
            <a:ext cx="5212080" cy="164592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005A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</a:defRPr>
            </a:pPr>
          </a:p>
        </p:txBody>
      </p:sp>
      <p:sp>
        <p:nvSpPr>
          <p:cNvPr id="14" name="TextBox 13"/>
          <p:cNvSpPr txBox="1"/>
          <p:nvPr/>
        </p:nvSpPr>
        <p:spPr>
          <a:xfrm>
            <a:off x="6355080" y="4572000"/>
            <a:ext cx="4937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05A9C"/>
                </a:solidFill>
                <a:latin typeface="Times New Roman"/>
              </a:defRPr>
            </a:pPr>
            <a:r>
              <a:rPr>
                <a:latin typeface="Times New Roman"/>
              </a:rPr>
              <a:t>Molekula o'lchamlari formulalari:</a:t>
            </a:r>
          </a:p>
        </p:txBody>
      </p:sp>
      <p:pic>
        <p:nvPicPr>
          <p:cNvPr id="15" name="Picture 14" descr="f_slide9_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0" y="4846320"/>
            <a:ext cx="4846320" cy="11887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5A9C"/>
                </a:solidFill>
                <a:latin typeface="Times New Roman"/>
              </a:defRPr>
            </a:pPr>
            <a:r>
              <a:rPr>
                <a:latin typeface="Times New Roman"/>
              </a:rPr>
              <a:t>KOLLEID KIMYO: SIRT HODISALARI VA ADSORBSIYA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2027"/>
                </a:solidFill>
                <a:latin typeface="Times New Roman"/>
              </a:defRPr>
            </a:pPr>
            <a:r>
              <a:rPr>
                <a:latin typeface="Times New Roman"/>
              </a:rPr>
              <a:t>9. Lengmyurning Monomolekulyar Adsorbsiya Nazariyasi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728655" cy="25400"/>
          </a:xfrm>
          <a:prstGeom prst="rect">
            <a:avLst/>
          </a:prstGeom>
          <a:solidFill>
            <a:srgbClr val="005A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</a:defRPr>
            </a:pP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30352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</a:defRPr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914400" y="1737360"/>
            <a:ext cx="49377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>
                <a:latin typeface="Times New Roman"/>
              </a:defRPr>
            </a:pPr>
            <a:r>
              <a:rPr b="1" sz="1300">
                <a:solidFill>
                  <a:srgbClr val="0F2027"/>
                </a:solidFill>
                <a:latin typeface="Times New Roman"/>
              </a:rPr>
              <a:t>Lengmyur Postulatlari (1915): </a:t>
            </a:r>
            <a:r>
              <a:rPr b="0" sz="1300">
                <a:solidFill>
                  <a:srgbClr val="0F2027"/>
                </a:solidFill>
                <a:latin typeface="Times New Roman"/>
              </a:rPr>
              <a:t>1. Adsorbsiya adsorbent sirtidagi diskret faol markazlarda sodir bo'ladi.
2. Har bir faol markaz faqat bitta adsorbat molekulasini tuta oladi (monoqavat).
3. Faol markazlar energetik jihatdan teng qiymatlidir va bir-biriga ta'sir etmaydi.
4. Jarayon dinagmik muvozanatga ega: Adsorbsiya tezligi = Desorbsiya tezligi.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12080" cy="128016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005A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6355080" y="1737360"/>
            <a:ext cx="4937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05A9C"/>
                </a:solidFill>
                <a:latin typeface="Times New Roman"/>
              </a:defRPr>
            </a:pPr>
            <a:r>
              <a:rPr>
                <a:latin typeface="Times New Roman"/>
              </a:rPr>
              <a:t>Lengmyur Adsorbsiya Izotermasi:</a:t>
            </a:r>
          </a:p>
        </p:txBody>
      </p:sp>
      <p:pic>
        <p:nvPicPr>
          <p:cNvPr id="9" name="Picture 8" descr="f_slide10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2011680"/>
            <a:ext cx="4846320" cy="82296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6217920" y="3017520"/>
            <a:ext cx="5212080" cy="128016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005A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6355080" y="3108960"/>
            <a:ext cx="4937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05A9C"/>
                </a:solidFill>
                <a:latin typeface="Times New Roman"/>
              </a:defRPr>
            </a:pPr>
            <a:r>
              <a:rPr>
                <a:latin typeface="Times New Roman"/>
              </a:rPr>
              <a:t>Sirt to'lish darajasi (theta):</a:t>
            </a:r>
          </a:p>
        </p:txBody>
      </p:sp>
      <p:pic>
        <p:nvPicPr>
          <p:cNvPr id="12" name="Picture 11" descr="f_slide10_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3383280"/>
            <a:ext cx="4846320" cy="822960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6217920" y="4389120"/>
            <a:ext cx="521208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</a:defRPr>
            </a:pPr>
          </a:p>
        </p:txBody>
      </p:sp>
      <p:pic>
        <p:nvPicPr>
          <p:cNvPr id="14" name="Picture 13" descr="langmuir_isother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9360" y="4434840"/>
            <a:ext cx="5029200" cy="18288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5A9C"/>
                </a:solidFill>
                <a:latin typeface="Times New Roman"/>
              </a:defRPr>
            </a:pPr>
            <a:r>
              <a:rPr>
                <a:latin typeface="Times New Roman"/>
              </a:rPr>
              <a:t>KOLLEID KIMYO: SIRT HODISALARI VA ADSORBSIYA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2027"/>
                </a:solidFill>
                <a:latin typeface="Times New Roman"/>
              </a:defRPr>
            </a:pPr>
            <a:r>
              <a:rPr>
                <a:latin typeface="Times New Roman"/>
              </a:rPr>
              <a:t>10. Lengmyur Izotermasining Sohalari va Linearizatsiyasi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728655" cy="25400"/>
          </a:xfrm>
          <a:prstGeom prst="rect">
            <a:avLst/>
          </a:prstGeom>
          <a:solidFill>
            <a:srgbClr val="005A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</a:defRPr>
            </a:pP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30352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</a:defRPr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914400" y="1737360"/>
            <a:ext cx="49377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>
                <a:latin typeface="Times New Roman"/>
              </a:defRPr>
            </a:pPr>
            <a:r>
              <a:rPr b="1" sz="1400">
                <a:solidFill>
                  <a:srgbClr val="0F2027"/>
                </a:solidFill>
                <a:latin typeface="Times New Roman"/>
              </a:rPr>
              <a:t>1. Genri sohasi (C -&gt; 0): </a:t>
            </a:r>
            <a:r>
              <a:rPr b="0" sz="1400">
                <a:solidFill>
                  <a:srgbClr val="0F2027"/>
                </a:solidFill>
                <a:latin typeface="Times New Roman"/>
              </a:rPr>
              <a:t>Juda kam konsentratsiyada K*C &lt;&lt; 1, shunda G = G_max * K * C = K_H * C. Adsorbsiya konsentratsiyaga to'g'ri mutanosib.</a:t>
            </a:r>
          </a:p>
          <a:p>
            <a:pPr>
              <a:spcAft>
                <a:spcPts val="800"/>
              </a:spcAft>
              <a:defRPr>
                <a:latin typeface="Times New Roman"/>
              </a:defRPr>
            </a:pPr>
            <a:r>
              <a:rPr b="1" sz="1400">
                <a:solidFill>
                  <a:srgbClr val="0F2027"/>
                </a:solidFill>
                <a:latin typeface="Times New Roman"/>
              </a:rPr>
              <a:t>2. To'yinish sohasi (C -&gt; inf): </a:t>
            </a:r>
            <a:r>
              <a:rPr b="0" sz="1400">
                <a:solidFill>
                  <a:srgbClr val="0F2027"/>
                </a:solidFill>
                <a:latin typeface="Times New Roman"/>
              </a:rPr>
              <a:t>Yuqori konsentratsiyada K*C &gt;&gt; 1, shunda G = G_max. Adsorbent sirti to'liq monoqavat bilan qoplanadi.</a:t>
            </a:r>
          </a:p>
          <a:p>
            <a:pPr>
              <a:spcAft>
                <a:spcPts val="800"/>
              </a:spcAft>
              <a:defRPr>
                <a:latin typeface="Times New Roman"/>
              </a:defRPr>
            </a:pPr>
            <a:r>
              <a:rPr b="1" sz="1400">
                <a:solidFill>
                  <a:srgbClr val="0F2027"/>
                </a:solidFill>
                <a:latin typeface="Times New Roman"/>
              </a:rPr>
              <a:t>3. Chiziqli tenglama (Linearizatsiya): </a:t>
            </a:r>
            <a:r>
              <a:rPr b="0" sz="1400">
                <a:solidFill>
                  <a:srgbClr val="0F2027"/>
                </a:solidFill>
                <a:latin typeface="Times New Roman"/>
              </a:rPr>
              <a:t>Tajriba ma'lumotlaridan G_max va K doimiylarini grafik usulda aniqlash uchun 1/G ga nisbatan 1/C grafigi chiziladi.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12080" cy="128016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005A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6355080" y="1737360"/>
            <a:ext cx="4937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05A9C"/>
                </a:solidFill>
                <a:latin typeface="Times New Roman"/>
              </a:defRPr>
            </a:pPr>
            <a:r>
              <a:rPr>
                <a:latin typeface="Times New Roman"/>
              </a:rPr>
              <a:t>Lengmyur chiziqli shakli:</a:t>
            </a:r>
          </a:p>
        </p:txBody>
      </p:sp>
      <p:pic>
        <p:nvPicPr>
          <p:cNvPr id="9" name="Picture 8" descr="f_slide11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2011680"/>
            <a:ext cx="4846320" cy="82296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6217920" y="3017520"/>
            <a:ext cx="5212080" cy="128016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005A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6355080" y="3108960"/>
            <a:ext cx="4937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05A9C"/>
                </a:solidFill>
                <a:latin typeface="Times New Roman"/>
              </a:defRPr>
            </a:pPr>
            <a:r>
              <a:rPr>
                <a:latin typeface="Times New Roman"/>
              </a:rPr>
              <a:t>Genri sohasi chegarasi:</a:t>
            </a:r>
          </a:p>
        </p:txBody>
      </p:sp>
      <p:pic>
        <p:nvPicPr>
          <p:cNvPr id="12" name="Picture 11" descr="f_slide11_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3383280"/>
            <a:ext cx="4846320" cy="822960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6217920" y="4389120"/>
            <a:ext cx="5212080" cy="128016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005A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</a:defRPr>
            </a:pPr>
          </a:p>
        </p:txBody>
      </p:sp>
      <p:sp>
        <p:nvSpPr>
          <p:cNvPr id="14" name="TextBox 13"/>
          <p:cNvSpPr txBox="1"/>
          <p:nvPr/>
        </p:nvSpPr>
        <p:spPr>
          <a:xfrm>
            <a:off x="6355080" y="4480560"/>
            <a:ext cx="4937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05A9C"/>
                </a:solidFill>
                <a:latin typeface="Times New Roman"/>
              </a:defRPr>
            </a:pPr>
            <a:r>
              <a:rPr>
                <a:latin typeface="Times New Roman"/>
              </a:rPr>
              <a:t>To'yinish sohasi chegarasi:</a:t>
            </a:r>
          </a:p>
        </p:txBody>
      </p:sp>
      <p:pic>
        <p:nvPicPr>
          <p:cNvPr id="15" name="Picture 14" descr="f_slide11_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0" y="4754880"/>
            <a:ext cx="4846320" cy="82296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5A9C"/>
                </a:solidFill>
                <a:latin typeface="Times New Roman"/>
              </a:defRPr>
            </a:pPr>
            <a:r>
              <a:rPr>
                <a:latin typeface="Times New Roman"/>
              </a:rPr>
              <a:t>KOLLEID KIMYO: SIRT HODISALARI VA ADSORBSIYA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2027"/>
                </a:solidFill>
                <a:latin typeface="Times New Roman"/>
              </a:defRPr>
            </a:pPr>
            <a:r>
              <a:rPr>
                <a:latin typeface="Times New Roman"/>
              </a:rPr>
              <a:t>11. Freyndlihning Empirik Adsorbsiya Izotermasi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728655" cy="25400"/>
          </a:xfrm>
          <a:prstGeom prst="rect">
            <a:avLst/>
          </a:prstGeom>
          <a:solidFill>
            <a:srgbClr val="005A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</a:defRPr>
            </a:pP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30352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</a:defRPr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914400" y="1737360"/>
            <a:ext cx="49377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>
                <a:latin typeface="Times New Roman"/>
              </a:defRPr>
            </a:pPr>
            <a:r>
              <a:rPr b="1" sz="1400">
                <a:solidFill>
                  <a:srgbClr val="0F2027"/>
                </a:solidFill>
                <a:latin typeface="Times New Roman"/>
              </a:rPr>
              <a:t>Freyndlih tenglamasi (1909): </a:t>
            </a:r>
            <a:r>
              <a:rPr b="0" sz="1400">
                <a:solidFill>
                  <a:srgbClr val="0F2027"/>
                </a:solidFill>
                <a:latin typeface="Times New Roman"/>
              </a:rPr>
              <a:t>G'ovak va energetik jihatdan bir jinsli bo'lmagan adsorbentlarda o'rtacha konsentratsiyalar sohasida adsorbsiyani ifodalovchi empirik darajali tenglama.</a:t>
            </a:r>
          </a:p>
          <a:p>
            <a:pPr>
              <a:spcAft>
                <a:spcPts val="800"/>
              </a:spcAft>
              <a:defRPr>
                <a:latin typeface="Times New Roman"/>
              </a:defRPr>
            </a:pPr>
            <a:r>
              <a:rPr b="1" sz="1400">
                <a:solidFill>
                  <a:srgbClr val="0F2027"/>
                </a:solidFill>
                <a:latin typeface="Times New Roman"/>
              </a:rPr>
              <a:t>Tenglama doimiylari: </a:t>
            </a:r>
            <a:r>
              <a:rPr b="0" sz="1400">
                <a:solidFill>
                  <a:srgbClr val="0F2027"/>
                </a:solidFill>
                <a:latin typeface="Times New Roman"/>
              </a:rPr>
              <a:t>beta — adsorbsion sig'im koeffitsienti;
1/n — adsorbent sirtining energetik bir jinsli emaslik koeffitsienti (0.1 &lt; 1/n &lt; 0.7).</a:t>
            </a:r>
          </a:p>
          <a:p>
            <a:pPr>
              <a:spcAft>
                <a:spcPts val="800"/>
              </a:spcAft>
              <a:defRPr>
                <a:latin typeface="Times New Roman"/>
              </a:defRPr>
            </a:pPr>
            <a:r>
              <a:rPr b="1" sz="1400">
                <a:solidFill>
                  <a:srgbClr val="0F2027"/>
                </a:solidFill>
                <a:latin typeface="Times New Roman"/>
              </a:rPr>
              <a:t>Qo'llanish chegarasi: </a:t>
            </a:r>
            <a:r>
              <a:rPr b="0" sz="1400">
                <a:solidFill>
                  <a:srgbClr val="0F2027"/>
                </a:solidFill>
                <a:latin typeface="Times New Roman"/>
              </a:rPr>
              <a:t>Juda kichik va juda yuqori konsentratsiyalarda (to'yinishda) bajarilmaydi.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12080" cy="128016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005A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6355080" y="1737360"/>
            <a:ext cx="4937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05A9C"/>
                </a:solidFill>
                <a:latin typeface="Times New Roman"/>
              </a:defRPr>
            </a:pPr>
            <a:r>
              <a:rPr>
                <a:latin typeface="Times New Roman"/>
              </a:rPr>
              <a:t>Freyndlih darajali tenglamasi:</a:t>
            </a:r>
          </a:p>
        </p:txBody>
      </p:sp>
      <p:pic>
        <p:nvPicPr>
          <p:cNvPr id="9" name="Picture 8" descr="f_slide12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2011680"/>
            <a:ext cx="4846320" cy="82296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6217920" y="3017520"/>
            <a:ext cx="5212080" cy="128016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005A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6355080" y="3108960"/>
            <a:ext cx="4937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05A9C"/>
                </a:solidFill>
                <a:latin typeface="Times New Roman"/>
              </a:defRPr>
            </a:pPr>
            <a:r>
              <a:rPr>
                <a:latin typeface="Times New Roman"/>
              </a:rPr>
              <a:t>Logarifmik chiziqli shakli:</a:t>
            </a:r>
          </a:p>
        </p:txBody>
      </p:sp>
      <p:pic>
        <p:nvPicPr>
          <p:cNvPr id="12" name="Picture 11" descr="f_slide12_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3383280"/>
            <a:ext cx="4846320" cy="822960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6217920" y="4389120"/>
            <a:ext cx="521208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</a:defRPr>
            </a:pPr>
          </a:p>
        </p:txBody>
      </p:sp>
      <p:pic>
        <p:nvPicPr>
          <p:cNvPr id="14" name="Picture 13" descr="freundlich_isother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9360" y="4434840"/>
            <a:ext cx="5029200" cy="18288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5A9C"/>
                </a:solidFill>
                <a:latin typeface="Times New Roman"/>
              </a:defRPr>
            </a:pPr>
            <a:r>
              <a:rPr>
                <a:latin typeface="Times New Roman"/>
              </a:rPr>
              <a:t>KOLLEID KIMYO: SIRT HODISALARI VA ADSORBSIYA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2027"/>
                </a:solidFill>
                <a:latin typeface="Times New Roman"/>
              </a:defRPr>
            </a:pPr>
            <a:r>
              <a:rPr>
                <a:latin typeface="Times New Roman"/>
              </a:rPr>
              <a:t>12. BET Polimolekulyar Adsorbsiya Modellari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728655" cy="25400"/>
          </a:xfrm>
          <a:prstGeom prst="rect">
            <a:avLst/>
          </a:prstGeom>
          <a:solidFill>
            <a:srgbClr val="005A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</a:defRPr>
            </a:pP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30352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</a:defRPr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914400" y="1737360"/>
            <a:ext cx="49377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>
                <a:latin typeface="Times New Roman"/>
              </a:defRPr>
            </a:pPr>
            <a:r>
              <a:rPr b="1" sz="1300">
                <a:solidFill>
                  <a:srgbClr val="0F2027"/>
                </a:solidFill>
                <a:latin typeface="Times New Roman"/>
              </a:rPr>
              <a:t>BET Nazariyasi (Brunauer, Emmett, Teller, 1938): </a:t>
            </a:r>
            <a:r>
              <a:rPr b="0" sz="1300">
                <a:solidFill>
                  <a:srgbClr val="0F2027"/>
                </a:solidFill>
                <a:latin typeface="Times New Roman"/>
              </a:rPr>
              <a:t>1. Adsorbsiya polimolekulyar (ko'p qatlamli) xarakterga ega.
2. Birinchi qatlam adsorbsiya energiyasi (E1) adsorbent bilan ta'sirga bog'liq.
3. Ikkinchi va keyingi qatlamlar kondensatlanish issiqligiga (EL) teng deb qaraladi.</a:t>
            </a:r>
          </a:p>
          <a:p>
            <a:pPr>
              <a:spcAft>
                <a:spcPts val="800"/>
              </a:spcAft>
              <a:defRPr>
                <a:latin typeface="Times New Roman"/>
              </a:defRPr>
            </a:pPr>
            <a:r>
              <a:rPr b="1" sz="1300">
                <a:solidFill>
                  <a:srgbClr val="0F2027"/>
                </a:solidFill>
                <a:latin typeface="Times New Roman"/>
              </a:rPr>
              <a:t>S-simon izoterma va amaliy ahamiyati: </a:t>
            </a:r>
            <a:r>
              <a:rPr b="0" sz="1300">
                <a:solidFill>
                  <a:srgbClr val="0F2027"/>
                </a:solidFill>
                <a:latin typeface="Times New Roman"/>
              </a:rPr>
              <a:t>Kukunlar va g'ovak adsorbentlarning solishtirma sirt yuzasini (S_sol) aniqlashda standart xalqaro usul hisoblanadi.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12080" cy="155448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005A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6355080" y="1737360"/>
            <a:ext cx="4937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05A9C"/>
                </a:solidFill>
                <a:latin typeface="Times New Roman"/>
              </a:defRPr>
            </a:pPr>
            <a:r>
              <a:rPr>
                <a:latin typeface="Times New Roman"/>
              </a:rPr>
              <a:t>BET Chiziqli Tenglamasi:</a:t>
            </a:r>
          </a:p>
        </p:txBody>
      </p:sp>
      <p:pic>
        <p:nvPicPr>
          <p:cNvPr id="9" name="Picture 8" descr="f_slide13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2011680"/>
            <a:ext cx="4846320" cy="109728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6217920" y="3291840"/>
            <a:ext cx="5212080" cy="3017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</a:defRPr>
            </a:pPr>
          </a:p>
        </p:txBody>
      </p:sp>
      <p:pic>
        <p:nvPicPr>
          <p:cNvPr id="11" name="Picture 10" descr="bet_isother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3337560"/>
            <a:ext cx="5029200" cy="292608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5A9C"/>
                </a:solidFill>
                <a:latin typeface="Times New Roman"/>
              </a:defRPr>
            </a:pPr>
            <a:r>
              <a:rPr>
                <a:latin typeface="Times New Roman"/>
              </a:rPr>
              <a:t>KOLLEID KIMYO: SIRT HODISALARI VA ADSORBSIYA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2027"/>
                </a:solidFill>
                <a:latin typeface="Times New Roman"/>
              </a:defRPr>
            </a:pPr>
            <a:r>
              <a:rPr>
                <a:latin typeface="Times New Roman"/>
              </a:rPr>
              <a:t>13. Qattiq Adsorbentlar va G'ovaklik Strukturasi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728655" cy="25400"/>
          </a:xfrm>
          <a:prstGeom prst="rect">
            <a:avLst/>
          </a:prstGeom>
          <a:solidFill>
            <a:srgbClr val="005A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</a:defRPr>
            </a:pP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30352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</a:defRPr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914400" y="1737360"/>
            <a:ext cx="49377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>
                <a:latin typeface="Times New Roman"/>
              </a:defRPr>
            </a:pPr>
            <a:r>
              <a:rPr b="1" sz="1400">
                <a:solidFill>
                  <a:srgbClr val="0F2027"/>
                </a:solidFill>
                <a:latin typeface="Times New Roman"/>
              </a:rPr>
              <a:t>1. Gidrofil (Qutbli) Adsorbentlar: </a:t>
            </a:r>
            <a:r>
              <a:rPr b="0" sz="1400">
                <a:solidFill>
                  <a:srgbClr val="0F2027"/>
                </a:solidFill>
                <a:latin typeface="Times New Roman"/>
              </a:rPr>
              <a:t>Sirtida qutbli guruhlar bo'lgan adsorbentlar (Silikagel SiO2, Alyumogel Al2O3, gil minerallari). Suv va qutbli moddalarni yaxshi adsorbsiyalaydi.</a:t>
            </a:r>
          </a:p>
          <a:p>
            <a:pPr>
              <a:spcAft>
                <a:spcPts val="800"/>
              </a:spcAft>
              <a:defRPr>
                <a:latin typeface="Times New Roman"/>
              </a:defRPr>
            </a:pPr>
            <a:r>
              <a:rPr b="1" sz="1400">
                <a:solidFill>
                  <a:srgbClr val="0F2027"/>
                </a:solidFill>
                <a:latin typeface="Times New Roman"/>
              </a:rPr>
              <a:t>2. Gidrofob (Qutbsiz) Adsorbentlar: </a:t>
            </a:r>
            <a:r>
              <a:rPr b="0" sz="1400">
                <a:solidFill>
                  <a:srgbClr val="0F2027"/>
                </a:solidFill>
                <a:latin typeface="Times New Roman"/>
              </a:rPr>
              <a:t>Sirtida qutbsiz atomlar bo'lgan adsorbentlar (Aktivlangan ko'mir, soot, grafit). Organik moddalarni suvli eritmalardan yaxshi tutadi.</a:t>
            </a:r>
          </a:p>
          <a:p>
            <a:pPr>
              <a:spcAft>
                <a:spcPts val="800"/>
              </a:spcAft>
              <a:defRPr>
                <a:latin typeface="Times New Roman"/>
              </a:defRPr>
            </a:pPr>
            <a:r>
              <a:rPr b="1" sz="1400">
                <a:solidFill>
                  <a:srgbClr val="0F2027"/>
                </a:solidFill>
                <a:latin typeface="Times New Roman"/>
              </a:rPr>
              <a:t>3. IUPAC bo'yicha G'ovaklar Tasnifi: </a:t>
            </a:r>
            <a:r>
              <a:rPr b="0" sz="1400">
                <a:solidFill>
                  <a:srgbClr val="0F2027"/>
                </a:solidFill>
                <a:latin typeface="Times New Roman"/>
              </a:rPr>
              <a:t>• Mikrog'ovaklar: r &lt; 2 nm
• Mezog'ovaklar: 2 nm &lt; r &lt; 50 nm
• Makrog'ovaklar: r &gt; 50 nm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12080" cy="146304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005A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6355080" y="1737360"/>
            <a:ext cx="4937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05A9C"/>
                </a:solidFill>
                <a:latin typeface="Times New Roman"/>
              </a:defRPr>
            </a:pPr>
            <a:r>
              <a:rPr>
                <a:latin typeface="Times New Roman"/>
              </a:rPr>
              <a:t>Rebinder qutblar tenglashuv qoidasi:</a:t>
            </a:r>
          </a:p>
        </p:txBody>
      </p:sp>
      <p:pic>
        <p:nvPicPr>
          <p:cNvPr id="9" name="Picture 8" descr="f_slide16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2011680"/>
            <a:ext cx="4846320" cy="100584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6217920" y="3200400"/>
            <a:ext cx="5212080" cy="3108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6400800" y="3291840"/>
            <a:ext cx="48463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>
                <a:latin typeface="Times New Roman"/>
              </a:defRPr>
            </a:pPr>
            <a:r>
              <a:rPr b="1" sz="1300">
                <a:solidFill>
                  <a:srgbClr val="0F2027"/>
                </a:solidFill>
                <a:latin typeface="Times New Roman"/>
              </a:rPr>
              <a:t>P.A. Rebinder Qoidasi: </a:t>
            </a:r>
            <a:r>
              <a:rPr b="0" sz="1300">
                <a:solidFill>
                  <a:srgbClr val="0F2027"/>
                </a:solidFill>
                <a:latin typeface="Times New Roman"/>
              </a:rPr>
              <a:t>Adsorbsiya jarayoni faza chegara sirtlarining qutbliliklar farqi (Delta E) kamayishi yo'nalishida boradi.
Eritmadan adsorbsiyalanish uchun erigan modda va adsorbent qutbliliklari o'xshash, erituvchiniki esa ulardan farqli bo'lishi kerak.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5A9C"/>
                </a:solidFill>
                <a:latin typeface="Times New Roman"/>
              </a:defRPr>
            </a:pPr>
            <a:r>
              <a:rPr>
                <a:latin typeface="Times New Roman"/>
              </a:rPr>
              <a:t>KOLLEID KIMYO: SIRT HODISALARI VA ADSORBSIYA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2027"/>
                </a:solidFill>
                <a:latin typeface="Times New Roman"/>
              </a:defRPr>
            </a:pPr>
            <a:r>
              <a:rPr>
                <a:latin typeface="Times New Roman"/>
              </a:rPr>
              <a:t>14. Eritmalardan Ionli Adsorbsiya va Panet-Fayans Qoidasi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728655" cy="25400"/>
          </a:xfrm>
          <a:prstGeom prst="rect">
            <a:avLst/>
          </a:prstGeom>
          <a:solidFill>
            <a:srgbClr val="005A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</a:defRPr>
            </a:pP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30352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</a:defRPr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914400" y="1737360"/>
            <a:ext cx="49377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>
                <a:latin typeface="Times New Roman"/>
              </a:defRPr>
            </a:pPr>
            <a:r>
              <a:rPr b="1" sz="1400">
                <a:solidFill>
                  <a:srgbClr val="0F2027"/>
                </a:solidFill>
                <a:latin typeface="Times New Roman"/>
              </a:rPr>
              <a:t>Ionli Adsorbsiya Xususiyatlari: </a:t>
            </a:r>
            <a:r>
              <a:rPr b="0" sz="1400">
                <a:solidFill>
                  <a:srgbClr val="0F2027"/>
                </a:solidFill>
                <a:latin typeface="Times New Roman"/>
              </a:rPr>
              <a:t>Qattiq adsorbent sirtida elektrod potentsiali va elektr ikki qatlami (EDL) hosil bo'lishi bilan kechadigan tanlanma (selektiv) adsorbsiya.</a:t>
            </a:r>
          </a:p>
          <a:p>
            <a:pPr>
              <a:spcAft>
                <a:spcPts val="800"/>
              </a:spcAft>
              <a:defRPr>
                <a:latin typeface="Times New Roman"/>
              </a:defRPr>
            </a:pPr>
            <a:r>
              <a:rPr b="1" sz="1400">
                <a:solidFill>
                  <a:srgbClr val="0F2027"/>
                </a:solidFill>
                <a:latin typeface="Times New Roman"/>
              </a:rPr>
              <a:t>Panet-Fayans Selektivlik Qoidasi: </a:t>
            </a:r>
            <a:r>
              <a:rPr b="0" sz="1400">
                <a:solidFill>
                  <a:srgbClr val="0F2027"/>
                </a:solidFill>
                <a:latin typeface="Times New Roman"/>
              </a:rPr>
              <a:t>Qattiq kristall adsorbent sirtiga birinchi navbatda uning kristall panjarasi tarkibiga kiruvchi yoki u bilan qiyin eriydigan birikma hosil qiluvchi ionlar adsorbsiyalanadi.</a:t>
            </a:r>
          </a:p>
          <a:p>
            <a:pPr>
              <a:spcAft>
                <a:spcPts val="800"/>
              </a:spcAft>
              <a:defRPr>
                <a:latin typeface="Times New Roman"/>
              </a:defRPr>
            </a:pPr>
            <a:r>
              <a:rPr b="1" sz="1400">
                <a:solidFill>
                  <a:srgbClr val="0F2027"/>
                </a:solidFill>
                <a:latin typeface="Times New Roman"/>
              </a:rPr>
              <a:t>Ionitlar (Ion almashgichlar): </a:t>
            </a:r>
            <a:r>
              <a:rPr b="0" sz="1400">
                <a:solidFill>
                  <a:srgbClr val="0F2027"/>
                </a:solidFill>
                <a:latin typeface="Times New Roman"/>
              </a:rPr>
              <a:t>Kationitlar (kation almashuvchi) va Anionitlar (anion almashuvchi) g'ovak polimer va minerallar.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12080" cy="137160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005A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6355080" y="1737360"/>
            <a:ext cx="4937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05A9C"/>
                </a:solidFill>
                <a:latin typeface="Times New Roman"/>
              </a:defRPr>
            </a:pPr>
            <a:r>
              <a:rPr>
                <a:latin typeface="Times New Roman"/>
              </a:rPr>
              <a:t>Liotrop Kationlar Qatori:</a:t>
            </a:r>
          </a:p>
        </p:txBody>
      </p:sp>
      <p:pic>
        <p:nvPicPr>
          <p:cNvPr id="9" name="Picture 8" descr="f_slide17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2011680"/>
            <a:ext cx="4846320" cy="91440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6217920" y="3200400"/>
            <a:ext cx="5212080" cy="137160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005A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6355080" y="3291840"/>
            <a:ext cx="4937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05A9C"/>
                </a:solidFill>
                <a:latin typeface="Times New Roman"/>
              </a:defRPr>
            </a:pPr>
            <a:r>
              <a:rPr>
                <a:latin typeface="Times New Roman"/>
              </a:rPr>
              <a:t>Liotrop Anionlar Qatori:</a:t>
            </a:r>
          </a:p>
        </p:txBody>
      </p:sp>
      <p:pic>
        <p:nvPicPr>
          <p:cNvPr id="12" name="Picture 11" descr="f_slide17_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3566160"/>
            <a:ext cx="4846320" cy="914400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6217920" y="4663440"/>
            <a:ext cx="5212080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</a:defRPr>
            </a:pPr>
          </a:p>
        </p:txBody>
      </p:sp>
      <p:sp>
        <p:nvSpPr>
          <p:cNvPr id="14" name="TextBox 13"/>
          <p:cNvSpPr txBox="1"/>
          <p:nvPr/>
        </p:nvSpPr>
        <p:spPr>
          <a:xfrm>
            <a:off x="6400800" y="4754880"/>
            <a:ext cx="48463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>
                <a:latin typeface="Times New Roman"/>
              </a:defRPr>
            </a:pPr>
            <a:r>
              <a:rPr b="1" sz="1300">
                <a:solidFill>
                  <a:srgbClr val="0F2027"/>
                </a:solidFill>
                <a:latin typeface="Times New Roman"/>
              </a:rPr>
              <a:t>Liotrop (Hofmeyster) Qatorlar: </a:t>
            </a:r>
            <a:r>
              <a:rPr b="0" sz="1300">
                <a:solidFill>
                  <a:srgbClr val="0F2027"/>
                </a:solidFill>
                <a:latin typeface="Times New Roman"/>
              </a:rPr>
              <a:t>Bir xil valentli ionlarning gidratlanish radiusi kamayishi bilan ularning adsorbsiyalanish qobiliyati ortadi.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5A9C"/>
                </a:solidFill>
                <a:latin typeface="Times New Roman"/>
              </a:defRPr>
            </a:pPr>
            <a:r>
              <a:rPr>
                <a:latin typeface="Times New Roman"/>
              </a:rPr>
              <a:t>KOLLEID KIMYO: SIRT HODISALARI VA ADSORBSIYA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2027"/>
                </a:solidFill>
                <a:latin typeface="Times New Roman"/>
              </a:defRPr>
            </a:pPr>
            <a:r>
              <a:rPr>
                <a:latin typeface="Times New Roman"/>
              </a:rPr>
              <a:t>15. Xromatografik Ajratish Usullari va Ularning Mexanizmi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728655" cy="25400"/>
          </a:xfrm>
          <a:prstGeom prst="rect">
            <a:avLst/>
          </a:prstGeom>
          <a:solidFill>
            <a:srgbClr val="005A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</a:defRPr>
            </a:pP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30352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</a:defRPr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914400" y="1737360"/>
            <a:ext cx="49377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>
                <a:latin typeface="Times New Roman"/>
              </a:defRPr>
            </a:pPr>
            <a:r>
              <a:rPr b="1" sz="1400">
                <a:solidFill>
                  <a:srgbClr val="0F2027"/>
                </a:solidFill>
                <a:latin typeface="Times New Roman"/>
              </a:rPr>
              <a:t>M.S. Tsvet Kashfiyoti (1903): </a:t>
            </a:r>
            <a:r>
              <a:rPr b="0" sz="1400">
                <a:solidFill>
                  <a:srgbClr val="0F2027"/>
                </a:solidFill>
                <a:latin typeface="Times New Roman"/>
              </a:rPr>
              <a:t>Osimlik pigmentlarini (xlorofill, karotin) bo'r ustunida (CaCO3) adsorbsion ajratish orqali xromatografiya usuliga asos solindi.</a:t>
            </a:r>
          </a:p>
          <a:p>
            <a:pPr>
              <a:spcAft>
                <a:spcPts val="800"/>
              </a:spcAft>
              <a:defRPr>
                <a:latin typeface="Times New Roman"/>
              </a:defRPr>
            </a:pPr>
            <a:r>
              <a:rPr b="1" sz="1300">
                <a:solidFill>
                  <a:srgbClr val="0F2027"/>
                </a:solidFill>
                <a:latin typeface="Times New Roman"/>
              </a:rPr>
              <a:t>Xromatografiya Klassifikatsiyasi: </a:t>
            </a:r>
            <a:r>
              <a:rPr b="0" sz="1300">
                <a:solidFill>
                  <a:srgbClr val="0F2027"/>
                </a:solidFill>
                <a:latin typeface="Times New Roman"/>
              </a:rPr>
              <a:t>1. Adsorbsion xromatografiya (G_max va K farqi bo'yicha)
2. Tasimlash xromatografiyasi (Eruvchanlik farqi)
3. Ion almashinish xromatografiyasi
4. Eksklyuzion (Gel-filtratsiya) xromatografiya</a:t>
            </a:r>
          </a:p>
          <a:p>
            <a:pPr>
              <a:spcAft>
                <a:spcPts val="800"/>
              </a:spcAft>
              <a:defRPr>
                <a:latin typeface="Times New Roman"/>
              </a:defRPr>
            </a:pPr>
            <a:r>
              <a:rPr b="1" sz="1300">
                <a:solidFill>
                  <a:srgbClr val="0F2027"/>
                </a:solidFill>
                <a:latin typeface="Times New Roman"/>
              </a:rPr>
              <a:t>Zamonaviy HPLC va GC: </a:t>
            </a:r>
            <a:r>
              <a:rPr b="0" sz="1300">
                <a:solidFill>
                  <a:srgbClr val="0F2027"/>
                </a:solidFill>
                <a:latin typeface="Times New Roman"/>
              </a:rPr>
              <a:t>Yuqori samarali suyuqlik (HPLC) va gaz xromatografiyasi analitik kimyoning eng sezgir usullari hisoblanadi.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1208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6400800" y="1737360"/>
            <a:ext cx="48463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>
                <a:latin typeface="Times New Roman"/>
              </a:defRPr>
            </a:pPr>
            <a:r>
              <a:rPr b="1" sz="1300">
                <a:solidFill>
                  <a:srgbClr val="0F2027"/>
                </a:solidFill>
                <a:latin typeface="Times New Roman"/>
              </a:rPr>
              <a:t>Xromatografik Ustun Mexanizmi: </a:t>
            </a:r>
            <a:r>
              <a:rPr b="0" sz="1300">
                <a:solidFill>
                  <a:srgbClr val="0F2027"/>
                </a:solidFill>
                <a:latin typeface="Times New Roman"/>
              </a:rPr>
              <a:t>Harakatchan faza (eluyent) va qo'zg'almas faza (adsorbent) o'rtasida moddalar uzluksiz adsorbsiya va desorbsiyalanadi.
Adsorbsiyalanish koeffitsienti kichik moddalar ustundan birinchi bo'lib ajralib chiqadi.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5A9C"/>
                </a:solidFill>
                <a:latin typeface="Times New Roman"/>
              </a:defRPr>
            </a:pPr>
            <a:r>
              <a:rPr>
                <a:latin typeface="Times New Roman"/>
              </a:rPr>
              <a:t>KOLLEID KIMYO: SIRT HODISALARI VA ADSORBSIYA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2027"/>
                </a:solidFill>
                <a:latin typeface="Times New Roman"/>
              </a:defRPr>
            </a:pPr>
            <a:r>
              <a:rPr>
                <a:latin typeface="Times New Roman"/>
              </a:rPr>
              <a:t>16. Adsorbsiyaning Tibbiyot va Biologiyadagi Roli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728655" cy="25400"/>
          </a:xfrm>
          <a:prstGeom prst="rect">
            <a:avLst/>
          </a:prstGeom>
          <a:solidFill>
            <a:srgbClr val="005A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</a:defRPr>
            </a:pP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30352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</a:defRPr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914400" y="1737360"/>
            <a:ext cx="49377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>
                <a:latin typeface="Times New Roman"/>
              </a:defRPr>
            </a:pPr>
            <a:r>
              <a:rPr b="1" sz="1400">
                <a:solidFill>
                  <a:srgbClr val="0F2027"/>
                </a:solidFill>
                <a:latin typeface="Times New Roman"/>
              </a:rPr>
              <a:t>Enterosorbsiya va Gemosorbsiya: </a:t>
            </a:r>
            <a:r>
              <a:rPr b="0" sz="1400">
                <a:solidFill>
                  <a:srgbClr val="0F2027"/>
                </a:solidFill>
                <a:latin typeface="Times New Roman"/>
              </a:rPr>
              <a:t>Oshqozon-ichak va qondan toksinlar, zaharlar, allergenlar hamda og'ir metallarni faollangan ko'mir va sintetik sorbentlar (Sorbent SKN, AUA) yordamida ajratib olish.</a:t>
            </a:r>
          </a:p>
          <a:p>
            <a:pPr>
              <a:spcAft>
                <a:spcPts val="800"/>
              </a:spcAft>
              <a:defRPr>
                <a:latin typeface="Times New Roman"/>
              </a:defRPr>
            </a:pPr>
            <a:r>
              <a:rPr b="1" sz="1400">
                <a:solidFill>
                  <a:srgbClr val="0F2027"/>
                </a:solidFill>
                <a:latin typeface="Times New Roman"/>
              </a:rPr>
              <a:t>Biologik Membranalar: </a:t>
            </a:r>
            <a:r>
              <a:rPr b="0" sz="1400">
                <a:solidFill>
                  <a:srgbClr val="0F2027"/>
                </a:solidFill>
                <a:latin typeface="Times New Roman"/>
              </a:rPr>
              <a:t>Hujayra membranasi lipid bimodal va oqsil qatlamlaridan tashkil topgan bo me'yoriy fermentativ va retseptor jarayonlar sirt hodisalariga asoslanadi.</a:t>
            </a:r>
          </a:p>
          <a:p>
            <a:pPr>
              <a:spcAft>
                <a:spcPts val="800"/>
              </a:spcAft>
              <a:defRPr>
                <a:latin typeface="Times New Roman"/>
              </a:defRPr>
            </a:pPr>
            <a:r>
              <a:rPr b="1" sz="1400">
                <a:solidFill>
                  <a:srgbClr val="0F2027"/>
                </a:solidFill>
                <a:latin typeface="Times New Roman"/>
              </a:rPr>
              <a:t>Dori Moddalari Tasiri: </a:t>
            </a:r>
            <a:r>
              <a:rPr b="0" sz="1400">
                <a:solidFill>
                  <a:srgbClr val="0F2027"/>
                </a:solidFill>
                <a:latin typeface="Times New Roman"/>
              </a:rPr>
              <a:t>Parchalanish va so'rilish tezgini oshirish uchun fermentativ va dori preparatlari mikrog'ovak tashuvchilarda immobilizatsiyalanadi.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1208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6400800" y="1737360"/>
            <a:ext cx="48463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>
                <a:latin typeface="Times New Roman"/>
              </a:defRPr>
            </a:pPr>
            <a:r>
              <a:rPr b="1" sz="1300">
                <a:solidFill>
                  <a:srgbClr val="0F2027"/>
                </a:solidFill>
                <a:latin typeface="Times New Roman"/>
              </a:rPr>
              <a:t>Tibbiyotda Qo'llaniladigan Sorbentlar: </a:t>
            </a:r>
            <a:r>
              <a:rPr b="0" sz="1300">
                <a:solidFill>
                  <a:srgbClr val="0F2027"/>
                </a:solidFill>
                <a:latin typeface="Times New Roman"/>
              </a:rPr>
              <a:t>• Faollangan ko'mir (Aktivlashtirilgan uglerod)
• Smekta, Politrepan (Gil minerallari)
• Silikagelli enterosorbentlar (Polisorb)
• Selektiv immunasorbentlar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5A9C"/>
                </a:solidFill>
                <a:latin typeface="Times New Roman"/>
              </a:defRPr>
            </a:pPr>
            <a:r>
              <a:rPr>
                <a:latin typeface="Times New Roman"/>
              </a:rPr>
              <a:t>KOLLEID KIMYO: SIRT HODISALARI VA ADSORBSIYA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2027"/>
                </a:solidFill>
                <a:latin typeface="Times New Roman"/>
              </a:defRPr>
            </a:pPr>
            <a:r>
              <a:rPr>
                <a:latin typeface="Times New Roman"/>
              </a:rPr>
              <a:t>17. Adsorbsiyaning Sanoat va Ekologiyadagi Amaliy Roli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728655" cy="25400"/>
          </a:xfrm>
          <a:prstGeom prst="rect">
            <a:avLst/>
          </a:prstGeom>
          <a:solidFill>
            <a:srgbClr val="005A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</a:defRPr>
            </a:pP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30352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</a:defRPr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914400" y="1737360"/>
            <a:ext cx="49377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>
                <a:latin typeface="Times New Roman"/>
              </a:defRPr>
            </a:pPr>
            <a:r>
              <a:rPr b="1" sz="1400">
                <a:solidFill>
                  <a:srgbClr val="0F2027"/>
                </a:solidFill>
                <a:latin typeface="Times New Roman"/>
              </a:rPr>
              <a:t>Gazlarni va Havo Muhitini Tozalash: </a:t>
            </a:r>
            <a:r>
              <a:rPr b="0" sz="1400">
                <a:solidFill>
                  <a:srgbClr val="0F2027"/>
                </a:solidFill>
                <a:latin typeface="Times New Roman"/>
              </a:rPr>
              <a:t>Sanoat chiqindi gazlarini H2S, SO2, CO2 va zaqarlantiruvchi moddalardan tozalash. Protivogazlarda (Zelinskiy protivogazi) gazlarni tutib qolish.</a:t>
            </a:r>
          </a:p>
          <a:p>
            <a:pPr>
              <a:spcAft>
                <a:spcPts val="800"/>
              </a:spcAft>
              <a:defRPr>
                <a:latin typeface="Times New Roman"/>
              </a:defRPr>
            </a:pPr>
            <a:r>
              <a:rPr b="1" sz="1400">
                <a:solidFill>
                  <a:srgbClr val="0F2027"/>
                </a:solidFill>
                <a:latin typeface="Times New Roman"/>
              </a:rPr>
              <a:t>Suv va Oqovalarni Tozalash: </a:t>
            </a:r>
            <a:r>
              <a:rPr b="0" sz="1400">
                <a:solidFill>
                  <a:srgbClr val="0F2027"/>
                </a:solidFill>
                <a:latin typeface="Times New Roman"/>
              </a:rPr>
              <a:t>Ichimlik suvi hamda sanoat oqova suvlarini neft mahsulotlari, bo'yoqlar, fenollar va sirt-aktiv moddalardan adsorbsion tozalash.</a:t>
            </a:r>
          </a:p>
          <a:p>
            <a:pPr>
              <a:spcAft>
                <a:spcPts val="800"/>
              </a:spcAft>
              <a:defRPr>
                <a:latin typeface="Times New Roman"/>
              </a:defRPr>
            </a:pPr>
            <a:r>
              <a:rPr b="1" sz="1400">
                <a:solidFill>
                  <a:srgbClr val="0F2027"/>
                </a:solidFill>
                <a:latin typeface="Times New Roman"/>
              </a:rPr>
              <a:t>Geterogen Kataliz va Flotatsiya: </a:t>
            </a:r>
            <a:r>
              <a:rPr b="0" sz="1400">
                <a:solidFill>
                  <a:srgbClr val="0F2027"/>
                </a:solidFill>
                <a:latin typeface="Times New Roman"/>
              </a:rPr>
              <a:t>Sanoat sintetik reaksiyalarining 80% gacha qismi katallizator sirtidagi adsorbsiya orqali boradi. Ma'danlarni boyitishda flotatsiya jarayoni.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1208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6400800" y="1737360"/>
            <a:ext cx="48463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>
                <a:latin typeface="Times New Roman"/>
              </a:defRPr>
            </a:pPr>
            <a:r>
              <a:rPr b="1" sz="1300">
                <a:solidFill>
                  <a:srgbClr val="0F2027"/>
                </a:solidFill>
                <a:latin typeface="Times New Roman"/>
              </a:rPr>
              <a:t>Sanoat Texnologiyalari: </a:t>
            </a:r>
            <a:r>
              <a:rPr b="0" sz="1300">
                <a:solidFill>
                  <a:srgbClr val="0F2027"/>
                </a:solidFill>
                <a:latin typeface="Times New Roman"/>
              </a:rPr>
              <a:t>• Koks gazidan benzol va toluol ajratib olish
• Shakar va moylarni rangsizlantirish
• Molekulyar elaklar (seolitlar) yordamida gazlarni quritish va fraksiyalash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