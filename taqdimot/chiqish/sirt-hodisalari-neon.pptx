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jp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jp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666750"/>
            <a:ext cx="2767774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C9B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MAʼRUZA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050798"/>
            <a:ext cx="5550219" cy="26599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838"/>
              </a:lnSpc>
              <a:buNone/>
            </a:pPr>
            <a:r>
              <a:rPr lang="en-US" sz="6105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hodisalari va adsorbsiya</a:t>
            </a:r>
            <a:endParaRPr lang="en-US" sz="6105" dirty="0"/>
          </a:p>
        </p:txBody>
      </p:sp>
      <p:sp>
        <p:nvSpPr>
          <p:cNvPr id="4" name="Shape 2"/>
          <p:cNvSpPr/>
          <p:nvPr/>
        </p:nvSpPr>
        <p:spPr>
          <a:xfrm>
            <a:off x="876300" y="3820516"/>
            <a:ext cx="1234440" cy="0"/>
          </a:xfrm>
          <a:prstGeom prst="line">
            <a:avLst/>
          </a:prstGeom>
          <a:noFill/>
          <a:ln w="28575">
            <a:solidFill>
              <a:srgbClr val="7C5C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76300" y="4113124"/>
            <a:ext cx="5550219" cy="7002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41"/>
              </a:lnSpc>
              <a:buNone/>
            </a:pPr>
            <a:r>
              <a:rPr lang="en-US" sz="1815" dirty="0">
                <a:solidFill>
                  <a:srgbClr val="B9B0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hodisalari termodinamikasi, adsorbsiya izotermalari va amaliy tizimlar</a:t>
            </a:r>
            <a:endParaRPr lang="en-US" sz="1815" dirty="0"/>
          </a:p>
        </p:txBody>
      </p:sp>
      <p:sp>
        <p:nvSpPr>
          <p:cNvPr id="6" name="Shape 4"/>
          <p:cNvSpPr/>
          <p:nvPr/>
        </p:nvSpPr>
        <p:spPr>
          <a:xfrm>
            <a:off x="6682551" y="2261836"/>
            <a:ext cx="4632844" cy="2710214"/>
          </a:xfrm>
          <a:prstGeom prst="roundRect">
            <a:avLst>
              <a:gd name="adj" fmla="val 4723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7" name="Image 0" descr="/home/user/jdakimyo/taqdimot/chiqish/rasm-kichik/gen-sirt-tarangligi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14555" y="2293840"/>
            <a:ext cx="4568836" cy="264620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682551" y="5026914"/>
            <a:ext cx="4632844" cy="259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073" dirty="0">
                <a:solidFill>
                  <a:srgbClr val="B9B0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Suv sirtidagi parda: sirt tarangligi qoʼshimcha bosimni koʼtaradi</a:t>
            </a:r>
            <a:endParaRPr lang="en-US" sz="1073" dirty="0"/>
          </a:p>
        </p:txBody>
      </p:sp>
      <p:sp>
        <p:nvSpPr>
          <p:cNvPr id="9" name="Shape 6"/>
          <p:cNvSpPr/>
          <p:nvPr/>
        </p:nvSpPr>
        <p:spPr>
          <a:xfrm>
            <a:off x="876300" y="5429250"/>
            <a:ext cx="10439095" cy="0"/>
          </a:xfrm>
          <a:prstGeom prst="line">
            <a:avLst/>
          </a:prstGeom>
          <a:noFill/>
          <a:ln w="7620">
            <a:solidFill>
              <a:srgbClr val="332A63">
                <a:alpha val="6000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18115" y="5575554"/>
            <a:ext cx="1097280" cy="2984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18"/>
              </a:lnSpc>
              <a:buNone/>
            </a:pPr>
            <a:r>
              <a:rPr lang="en-US" sz="1279" dirty="0">
                <a:solidFill>
                  <a:srgbClr val="B9B0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2026</a:t>
            </a:r>
            <a:endParaRPr lang="en-US" sz="1279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666750"/>
            <a:ext cx="1479042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C9B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MAVZU REJASI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050798"/>
            <a:ext cx="10439095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785"/>
              </a:lnSpc>
              <a:buNone/>
            </a:pPr>
            <a:r>
              <a:rPr lang="en-US" sz="4125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Ilmiy programma</a:t>
            </a:r>
            <a:endParaRPr lang="en-US" sz="4125" dirty="0"/>
          </a:p>
        </p:txBody>
      </p:sp>
      <p:sp>
        <p:nvSpPr>
          <p:cNvPr id="4" name="Text 2"/>
          <p:cNvSpPr/>
          <p:nvPr/>
        </p:nvSpPr>
        <p:spPr>
          <a:xfrm>
            <a:off x="876300" y="1914525"/>
            <a:ext cx="384048" cy="353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1568" dirty="0"/>
          </a:p>
        </p:txBody>
      </p:sp>
      <p:sp>
        <p:nvSpPr>
          <p:cNvPr id="5" name="Text 3"/>
          <p:cNvSpPr/>
          <p:nvPr/>
        </p:nvSpPr>
        <p:spPr>
          <a:xfrm>
            <a:off x="1278636" y="1914525"/>
            <a:ext cx="4561180" cy="620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6"/>
              </a:lnSpc>
              <a:buNone/>
            </a:pPr>
            <a:r>
              <a:rPr lang="en-US" sz="1568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erkin energiyasi, sirt tarangligi va termodinamik asoslar (Gibbs tenglamasi)</a:t>
            </a:r>
            <a:endParaRPr lang="en-US" sz="1568" dirty="0"/>
          </a:p>
        </p:txBody>
      </p:sp>
      <p:sp>
        <p:nvSpPr>
          <p:cNvPr id="6" name="Text 4"/>
          <p:cNvSpPr/>
          <p:nvPr/>
        </p:nvSpPr>
        <p:spPr>
          <a:xfrm>
            <a:off x="876300" y="2638101"/>
            <a:ext cx="384048" cy="353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1568" dirty="0"/>
          </a:p>
        </p:txBody>
      </p:sp>
      <p:sp>
        <p:nvSpPr>
          <p:cNvPr id="7" name="Text 5"/>
          <p:cNvSpPr/>
          <p:nvPr/>
        </p:nvSpPr>
        <p:spPr>
          <a:xfrm>
            <a:off x="1278636" y="2638101"/>
            <a:ext cx="4561180" cy="620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6"/>
              </a:lnSpc>
              <a:buNone/>
            </a:pPr>
            <a:r>
              <a:rPr lang="en-US" sz="1568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tarangligiga taʼsir etuvchi omillar va Antonov qoidasi</a:t>
            </a:r>
            <a:endParaRPr lang="en-US" sz="1568" dirty="0"/>
          </a:p>
        </p:txBody>
      </p:sp>
      <p:sp>
        <p:nvSpPr>
          <p:cNvPr id="8" name="Text 6"/>
          <p:cNvSpPr/>
          <p:nvPr/>
        </p:nvSpPr>
        <p:spPr>
          <a:xfrm>
            <a:off x="876300" y="3361677"/>
            <a:ext cx="384048" cy="353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1568" dirty="0"/>
          </a:p>
        </p:txBody>
      </p:sp>
      <p:sp>
        <p:nvSpPr>
          <p:cNvPr id="9" name="Text 7"/>
          <p:cNvSpPr/>
          <p:nvPr/>
        </p:nvSpPr>
        <p:spPr>
          <a:xfrm>
            <a:off x="1278636" y="3361677"/>
            <a:ext cx="4561180" cy="620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6"/>
              </a:lnSpc>
              <a:buNone/>
            </a:pPr>
            <a:r>
              <a:rPr lang="en-US" sz="1568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Egri sirtlar termodinamikasi: Laplas va Kelvin (Tomson) tenglamalari</a:t>
            </a:r>
            <a:endParaRPr lang="en-US" sz="1568" dirty="0"/>
          </a:p>
        </p:txBody>
      </p:sp>
      <p:sp>
        <p:nvSpPr>
          <p:cNvPr id="10" name="Text 8"/>
          <p:cNvSpPr/>
          <p:nvPr/>
        </p:nvSpPr>
        <p:spPr>
          <a:xfrm>
            <a:off x="876300" y="4085253"/>
            <a:ext cx="384048" cy="353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1568" dirty="0"/>
          </a:p>
        </p:txBody>
      </p:sp>
      <p:sp>
        <p:nvSpPr>
          <p:cNvPr id="11" name="Text 9"/>
          <p:cNvSpPr/>
          <p:nvPr/>
        </p:nvSpPr>
        <p:spPr>
          <a:xfrm>
            <a:off x="1278636" y="4085253"/>
            <a:ext cx="4561180" cy="620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6"/>
              </a:lnSpc>
              <a:buNone/>
            </a:pPr>
            <a:r>
              <a:rPr lang="en-US" sz="1568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Sorbsiya jarayonlari: fizikaviy adsorbsiya, xemosorbsiya va kapillyar kondensatlanish</a:t>
            </a:r>
            <a:endParaRPr lang="en-US" sz="1568" dirty="0"/>
          </a:p>
        </p:txBody>
      </p:sp>
      <p:sp>
        <p:nvSpPr>
          <p:cNvPr id="12" name="Text 10"/>
          <p:cNvSpPr/>
          <p:nvPr/>
        </p:nvSpPr>
        <p:spPr>
          <a:xfrm>
            <a:off x="6315304" y="1914525"/>
            <a:ext cx="384048" cy="353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</a:t>
            </a:r>
            <a:endParaRPr lang="en-US" sz="1568" dirty="0"/>
          </a:p>
        </p:txBody>
      </p:sp>
      <p:sp>
        <p:nvSpPr>
          <p:cNvPr id="13" name="Text 11"/>
          <p:cNvSpPr/>
          <p:nvPr/>
        </p:nvSpPr>
        <p:spPr>
          <a:xfrm>
            <a:off x="6717640" y="1914525"/>
            <a:ext cx="4561180" cy="90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6"/>
              </a:lnSpc>
              <a:buNone/>
            </a:pPr>
            <a:r>
              <a:rPr lang="en-US" sz="1568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Sirt-aktiv (SAM), sirt-inert (SIM) va sirt-nofaol (SNM) moddalar. Traube-Dyuklo qoidasi</a:t>
            </a:r>
            <a:endParaRPr lang="en-US" sz="1568" dirty="0"/>
          </a:p>
        </p:txBody>
      </p:sp>
      <p:sp>
        <p:nvSpPr>
          <p:cNvPr id="14" name="Text 12"/>
          <p:cNvSpPr/>
          <p:nvPr/>
        </p:nvSpPr>
        <p:spPr>
          <a:xfrm>
            <a:off x="6315304" y="2920784"/>
            <a:ext cx="384048" cy="353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</a:t>
            </a:r>
            <a:endParaRPr lang="en-US" sz="1568" dirty="0"/>
          </a:p>
        </p:txBody>
      </p:sp>
      <p:sp>
        <p:nvSpPr>
          <p:cNvPr id="15" name="Text 13"/>
          <p:cNvSpPr/>
          <p:nvPr/>
        </p:nvSpPr>
        <p:spPr>
          <a:xfrm>
            <a:off x="6717640" y="2920784"/>
            <a:ext cx="4561180" cy="620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6"/>
              </a:lnSpc>
              <a:buNone/>
            </a:pPr>
            <a:r>
              <a:rPr lang="en-US" sz="1568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Monomolekulyar adsorbsiya nazariyalari: Gibbs va Lengmyur izotermalari</a:t>
            </a:r>
            <a:endParaRPr lang="en-US" sz="1568" dirty="0"/>
          </a:p>
        </p:txBody>
      </p:sp>
      <p:sp>
        <p:nvSpPr>
          <p:cNvPr id="16" name="Text 14"/>
          <p:cNvSpPr/>
          <p:nvPr/>
        </p:nvSpPr>
        <p:spPr>
          <a:xfrm>
            <a:off x="6315304" y="3644360"/>
            <a:ext cx="384048" cy="353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</a:t>
            </a:r>
            <a:endParaRPr lang="en-US" sz="1568" dirty="0"/>
          </a:p>
        </p:txBody>
      </p:sp>
      <p:sp>
        <p:nvSpPr>
          <p:cNvPr id="17" name="Text 15"/>
          <p:cNvSpPr/>
          <p:nvPr/>
        </p:nvSpPr>
        <p:spPr>
          <a:xfrm>
            <a:off x="6717640" y="3644360"/>
            <a:ext cx="4561180" cy="620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6"/>
              </a:lnSpc>
              <a:buNone/>
            </a:pPr>
            <a:r>
              <a:rPr lang="en-US" sz="1568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Polimolekulyar modellar: Freyndlih, Polyani va BET (Brunauer–Emmett–Teller)</a:t>
            </a:r>
            <a:endParaRPr lang="en-US" sz="1568" dirty="0"/>
          </a:p>
        </p:txBody>
      </p:sp>
      <p:sp>
        <p:nvSpPr>
          <p:cNvPr id="18" name="Text 16"/>
          <p:cNvSpPr/>
          <p:nvPr/>
        </p:nvSpPr>
        <p:spPr>
          <a:xfrm>
            <a:off x="6315304" y="4367936"/>
            <a:ext cx="384048" cy="3534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</a:t>
            </a:r>
            <a:endParaRPr lang="en-US" sz="1568" dirty="0"/>
          </a:p>
        </p:txBody>
      </p:sp>
      <p:sp>
        <p:nvSpPr>
          <p:cNvPr id="19" name="Text 17"/>
          <p:cNvSpPr/>
          <p:nvPr/>
        </p:nvSpPr>
        <p:spPr>
          <a:xfrm>
            <a:off x="6717640" y="4367936"/>
            <a:ext cx="4561180" cy="90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6"/>
              </a:lnSpc>
              <a:buNone/>
            </a:pPr>
            <a:r>
              <a:rPr lang="en-US" sz="1568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Qattiq adsorbentlar va eritmalardan adsorbsiya: Panet-Fayans, Rebinder, xromatografiya</a:t>
            </a:r>
            <a:endParaRPr lang="en-US" sz="1568" dirty="0"/>
          </a:p>
        </p:txBody>
      </p:sp>
      <p:sp>
        <p:nvSpPr>
          <p:cNvPr id="20" name="Shape 18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3" name="Text 21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990" dirty="0"/>
          </a:p>
        </p:txBody>
      </p:sp>
      <p:sp>
        <p:nvSpPr>
          <p:cNvPr id="24" name="Shape 22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76300" y="6267450"/>
            <a:ext cx="835128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83996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27515" y="2762250"/>
            <a:ext cx="2362200" cy="3198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750"/>
              </a:lnSpc>
              <a:buNone/>
            </a:pPr>
            <a:r>
              <a:rPr lang="en-US" sz="16500" dirty="0">
                <a:solidFill>
                  <a:srgbClr val="312A6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16500" dirty="0"/>
          </a:p>
        </p:txBody>
      </p:sp>
      <p:sp>
        <p:nvSpPr>
          <p:cNvPr id="3" name="Shape 1"/>
          <p:cNvSpPr/>
          <p:nvPr/>
        </p:nvSpPr>
        <p:spPr>
          <a:xfrm>
            <a:off x="9318955" y="3714750"/>
            <a:ext cx="2179320" cy="0"/>
          </a:xfrm>
          <a:prstGeom prst="line">
            <a:avLst/>
          </a:prstGeom>
          <a:noFill/>
          <a:ln w="11430">
            <a:solidFill>
              <a:srgbClr val="7C5CFF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76300" y="2857500"/>
            <a:ext cx="1596199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C9B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BIRINCHI QISM</a:t>
            </a:r>
            <a:endParaRPr lang="en-US" sz="1031" dirty="0"/>
          </a:p>
        </p:txBody>
      </p:sp>
      <p:sp>
        <p:nvSpPr>
          <p:cNvPr id="5" name="Text 3"/>
          <p:cNvSpPr/>
          <p:nvPr/>
        </p:nvSpPr>
        <p:spPr>
          <a:xfrm>
            <a:off x="876300" y="3314700"/>
            <a:ext cx="7894015" cy="7476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455"/>
              </a:lnSpc>
              <a:buNone/>
            </a:pPr>
            <a:r>
              <a:rPr lang="en-US" sz="4785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termodinamikasi</a:t>
            </a:r>
            <a:endParaRPr lang="en-US" sz="4785" dirty="0"/>
          </a:p>
        </p:txBody>
      </p:sp>
      <p:sp>
        <p:nvSpPr>
          <p:cNvPr id="6" name="Shape 4"/>
          <p:cNvSpPr/>
          <p:nvPr/>
        </p:nvSpPr>
        <p:spPr>
          <a:xfrm>
            <a:off x="876300" y="4208640"/>
            <a:ext cx="1005840" cy="0"/>
          </a:xfrm>
          <a:prstGeom prst="line">
            <a:avLst/>
          </a:prstGeom>
          <a:noFill/>
          <a:ln w="28575">
            <a:solidFill>
              <a:srgbClr val="7C5C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6300" y="4537824"/>
            <a:ext cx="7894015" cy="7233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32"/>
              </a:lnSpc>
              <a:buNone/>
            </a:pPr>
            <a:r>
              <a:rPr lang="en-US" sz="1815" dirty="0">
                <a:solidFill>
                  <a:srgbClr val="B9B0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energiyasi, sirt tarangligi, sirt-aktiv moddalar va egri sirtlar</a:t>
            </a:r>
            <a:endParaRPr lang="en-US" sz="1815" dirty="0"/>
          </a:p>
        </p:txBody>
      </p:sp>
      <p:sp>
        <p:nvSpPr>
          <p:cNvPr id="8" name="Shape 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11" name="Text 9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990" dirty="0"/>
          </a:p>
        </p:txBody>
      </p:sp>
      <p:sp>
        <p:nvSpPr>
          <p:cNvPr id="12" name="Shape 1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6300" y="6267450"/>
            <a:ext cx="1252691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01559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416302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C9B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TERMODINAMIKASI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qatlamidagi ortiqcha erkin energiya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7C5C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Molekulalararo oʼzaro taʼsir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Hajmdagi molekula (A) barcha yoʼnalishlarda teng kuchlar bilan tortiladi (ΣF = 0). Sirt qatlamidagi molekula (B) esa faqat suyuqlik ichiga tortiladi — uning kuch maydoni kompensatsiyalanmagan.</a:t>
            </a:r>
            <a:endParaRPr lang="en-US" sz="1320" dirty="0"/>
          </a:p>
        </p:txBody>
      </p:sp>
      <p:sp>
        <p:nvSpPr>
          <p:cNvPr id="8" name="Shape 6"/>
          <p:cNvSpPr/>
          <p:nvPr/>
        </p:nvSpPr>
        <p:spPr>
          <a:xfrm>
            <a:off x="876300" y="3728009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700577"/>
            <a:ext cx="5352117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erkin energiyasi (Gs)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Molekulani hajmdan sirtga chiqarish uchun tortishish kuchlariga qarshi ish bajarilishi kerak. Bu ish sirtda ortiqcha erkin energiya koʼrinishida toʼplanadi.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876300" y="5000396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972964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tarangligi (σ)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yuzasini 1 m² ga oshirish uchun sarflanadigan solishtirma erkin sirt energiyasi yoki sirtga urinma yoʼnalishda taʼsir etuvchi kuch [mN/m yoki J/m²].</a:t>
            </a:r>
            <a:endParaRPr lang="en-US" sz="1320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erkin energiyasi tenglamasi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kontent/rasmlar/image1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114592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2478235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Termodinamikaning I va II qonuni birlashuvi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2651971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2800133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2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832137"/>
            <a:ext cx="4529194" cy="1145926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4156371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tarangligining termodinamik taʼrifi</a:t>
            </a:r>
            <a:endParaRPr lang="en-US" sz="1114" dirty="0"/>
          </a:p>
        </p:txBody>
      </p:sp>
      <p:sp>
        <p:nvSpPr>
          <p:cNvPr id="21" name="Shape 17"/>
          <p:cNvSpPr/>
          <p:nvPr/>
        </p:nvSpPr>
        <p:spPr>
          <a:xfrm>
            <a:off x="6722193" y="4330107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4478268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3" name="Image 2" descr="/home/user/jdakimyo/taqdimot/kontent/rasmlar/image3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54197" y="4510272"/>
            <a:ext cx="4529194" cy="114592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99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1670255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2519123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416302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C9B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TERMODINAMIKASI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tarangligiga taʼsir etuvchi omillar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7C5C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11235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Modda tabiati va qutbliligi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Molekulalararo bogʼlanish qancha kuchli boʼlsa (vodorod bogʼlar, ionli bogʼlar), sirt tarangligi shuncha yuqori boʼladi: suvda σ = 72,8 mN/m, simobda σ = 475 mN/m.</a:t>
            </a:r>
            <a:endParaRPr lang="en-US" sz="1403" dirty="0"/>
          </a:p>
        </p:txBody>
      </p:sp>
      <p:sp>
        <p:nvSpPr>
          <p:cNvPr id="8" name="Shape 6"/>
          <p:cNvSpPr/>
          <p:nvPr/>
        </p:nvSpPr>
        <p:spPr>
          <a:xfrm>
            <a:off x="876300" y="3733248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705816"/>
            <a:ext cx="5352117" cy="11235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Harorat taʼsiri (T)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Harorat ortishi bilan molekulalarning issiqlik harakati kuchayadi, molekulalararo tortishish zaiflashadi va sirt tarangligi chiziqli kamayadi. Kritik haroratda (Tk) σ = 0 boʼladi.</a:t>
            </a:r>
            <a:endParaRPr lang="en-US" sz="1403" dirty="0"/>
          </a:p>
        </p:txBody>
      </p:sp>
      <p:sp>
        <p:nvSpPr>
          <p:cNvPr id="10" name="Shape 8"/>
          <p:cNvSpPr/>
          <p:nvPr/>
        </p:nvSpPr>
        <p:spPr>
          <a:xfrm>
            <a:off x="876300" y="5010874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983442"/>
            <a:ext cx="5352117" cy="8563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Antonov qoidasi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Oʼzaro cheklangan eruvchan ikki suyuqlik chegarasidagi sirt tarangligi ularning toʼyingan faza sirt tarangliklari ayirmasiga teng.</a:t>
            </a:r>
            <a:endParaRPr lang="en-US" sz="1403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tarangligining haroratga bogʼliqligi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642689"/>
          </a:xfrm>
          <a:prstGeom prst="roundRect">
            <a:avLst>
              <a:gd name="adj" fmla="val 19919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kontent/rasmlar/image4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578681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191099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Antonov qoidasi tenglamasi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2084726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2232888"/>
            <a:ext cx="4593202" cy="642689"/>
          </a:xfrm>
          <a:prstGeom prst="roundRect">
            <a:avLst>
              <a:gd name="adj" fmla="val 19919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5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264892"/>
            <a:ext cx="4529194" cy="578681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3021881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va hajm molekulalariga taʼsir etuvchi kuchlar</a:t>
            </a:r>
            <a:endParaRPr lang="en-US" sz="1114" dirty="0"/>
          </a:p>
        </p:txBody>
      </p:sp>
      <p:sp>
        <p:nvSpPr>
          <p:cNvPr id="21" name="Shape 17"/>
          <p:cNvSpPr/>
          <p:nvPr/>
        </p:nvSpPr>
        <p:spPr>
          <a:xfrm>
            <a:off x="6722193" y="3195617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3343778"/>
            <a:ext cx="4593202" cy="2439802"/>
          </a:xfrm>
          <a:prstGeom prst="roundRect">
            <a:avLst>
              <a:gd name="adj" fmla="val 5247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3" name="Image 2" descr="/home/user/jdakimyo/taqdimot/kontent/rasmlar/image6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54197" y="3375782"/>
            <a:ext cx="4529194" cy="2375794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</a:t>
            </a:r>
            <a:endParaRPr lang="en-US" sz="99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2087819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2936687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416302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C9B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TERMODINAMIKASI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Sirt-aktiv moddalar va Traube-Dyuklo qoidasi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7C5C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9035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aktivligi (g)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Erigan moddaning sirt tarangligini pasaytirish qobiliyati. Chegarada g = −dσ/dC (C → 0 sharoitida) koʼrinishida aniqlanadi.</a:t>
            </a:r>
            <a:endParaRPr lang="en-US" sz="1485" dirty="0"/>
          </a:p>
        </p:txBody>
      </p:sp>
      <p:sp>
        <p:nvSpPr>
          <p:cNvPr id="8" name="Shape 6"/>
          <p:cNvSpPr/>
          <p:nvPr/>
        </p:nvSpPr>
        <p:spPr>
          <a:xfrm>
            <a:off x="876300" y="3455594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428162"/>
            <a:ext cx="5352117" cy="11864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Traube-Dyuklo qoidasi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Bir xil gomologik qatordagi sirt-aktiv moddalarning (spirtlar, yogʼ kislotalari) uglevodorod zanjiri bitta −CH₂− guruhga uzayganda, ularning sirt aktivligi 3,0–3,5 baravar ortadi.</a:t>
            </a:r>
            <a:endParaRPr lang="en-US" sz="1485" dirty="0"/>
          </a:p>
        </p:txBody>
      </p:sp>
      <p:sp>
        <p:nvSpPr>
          <p:cNvPr id="10" name="Shape 8"/>
          <p:cNvSpPr/>
          <p:nvPr/>
        </p:nvSpPr>
        <p:spPr>
          <a:xfrm>
            <a:off x="876300" y="4738459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711027"/>
            <a:ext cx="5352117" cy="11864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Fizikaviy sababi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Uglevodorod radikali suv muhitidan sirt qatlamiga gidrofob kuchlar taʼsirida siqib chiqariladi — molekula sirtda «dumini koʼtarib» joylashadi.</a:t>
            </a:r>
            <a:endParaRPr lang="en-US" sz="1485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Rebinder boʼyicha sirt aktivlik taʼrifi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664448"/>
          </a:xfrm>
          <a:prstGeom prst="roundRect">
            <a:avLst>
              <a:gd name="adj" fmla="val 19267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kontent/rasmlar/image7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60044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1932749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Traube-Dyuklo koeffitsiyenti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2106485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2254647"/>
            <a:ext cx="4593202" cy="664448"/>
          </a:xfrm>
          <a:prstGeom prst="roundRect">
            <a:avLst>
              <a:gd name="adj" fmla="val 19267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8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286651"/>
            <a:ext cx="4529194" cy="60044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3065398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Spirtlar gomologik qatorida sirt tarangligi</a:t>
            </a:r>
            <a:endParaRPr lang="en-US" sz="1114" dirty="0"/>
          </a:p>
        </p:txBody>
      </p:sp>
      <p:sp>
        <p:nvSpPr>
          <p:cNvPr id="21" name="Shape 17"/>
          <p:cNvSpPr/>
          <p:nvPr/>
        </p:nvSpPr>
        <p:spPr>
          <a:xfrm>
            <a:off x="6722193" y="3239134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3387296"/>
            <a:ext cx="4593202" cy="2396284"/>
          </a:xfrm>
          <a:prstGeom prst="roundRect">
            <a:avLst>
              <a:gd name="adj" fmla="val 5342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3" name="Image 2" descr="/home/user/jdakimyo/taqdimot/kontent/rasmlar/image9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54197" y="3419300"/>
            <a:ext cx="4529194" cy="233227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</a:t>
            </a:r>
            <a:endParaRPr lang="en-US" sz="99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2505383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3354251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416302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C9B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TERMODINAMIKASI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Egri sirtlar: Laplas va Kelvin tenglamalari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7C5C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Kapillyar bosim (Laplas)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Suyuqlik sirti egrilanganda (tomchi, pufakcha, kapillyar menisk) sirt taranglik kuchlari natijasida qoʼshimcha Laplas bosimi ΔP hosil boʼladi.</a:t>
            </a:r>
            <a:endParaRPr lang="en-US" sz="1320" dirty="0"/>
          </a:p>
        </p:txBody>
      </p:sp>
      <p:sp>
        <p:nvSpPr>
          <p:cNvPr id="8" name="Shape 6"/>
          <p:cNvSpPr/>
          <p:nvPr/>
        </p:nvSpPr>
        <p:spPr>
          <a:xfrm>
            <a:off x="876300" y="3502609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475177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Botiq va qabariq menisklar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Qabariq sirtda (tomchi) ichki bosim ortadi (ΔP &gt; 0). Botiq sirtda (kapillyar) bosim pasayadi (ΔP &lt; 0) — bu kapillyar koʼtarilishga sabab boʼladi.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876300" y="4549597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522165"/>
            <a:ext cx="5352117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Kelvin (Tomson) tenglamasi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Kichik tomchilar ustidagi toʼyingan bugʼ bosimi (Pr) tekis sirt ustidagi bosimdan (P₀) yuqori boʼladi. Botiq kapillyarlarda esa bugʼ bosimi pasayadi — kapillyar kondensatlanish shu asosda kechadi.</a:t>
            </a:r>
            <a:endParaRPr lang="en-US" sz="1320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Kapillyar koʼtarilish: botiq menisk va Laplas bosimi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2266046"/>
          </a:xfrm>
          <a:prstGeom prst="roundRect">
            <a:avLst>
              <a:gd name="adj" fmla="val 5649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chiqish/rasm-kichik/gen-kapillyar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220203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3534348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Laplas tenglamasi (sferik sirt)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3708084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3856245"/>
            <a:ext cx="4593202" cy="729567"/>
          </a:xfrm>
          <a:prstGeom prst="roundRect">
            <a:avLst>
              <a:gd name="adj" fmla="val 17547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10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3888249"/>
            <a:ext cx="4529194" cy="665559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4732116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Kelvin (Tomson) tenglamasi</a:t>
            </a:r>
            <a:endParaRPr lang="en-US" sz="1114" dirty="0"/>
          </a:p>
        </p:txBody>
      </p:sp>
      <p:sp>
        <p:nvSpPr>
          <p:cNvPr id="21" name="Shape 17"/>
          <p:cNvSpPr/>
          <p:nvPr/>
        </p:nvSpPr>
        <p:spPr>
          <a:xfrm>
            <a:off x="6722193" y="4905852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5054013"/>
            <a:ext cx="4593202" cy="729567"/>
          </a:xfrm>
          <a:prstGeom prst="roundRect">
            <a:avLst>
              <a:gd name="adj" fmla="val 17547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3" name="Image 2" descr="/home/user/jdakimyo/taqdimot/kontent/rasmlar/image11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54197" y="5086017"/>
            <a:ext cx="4529194" cy="665559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</a:t>
            </a:r>
            <a:endParaRPr lang="en-US" sz="99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2922947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3771815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27515" y="2762250"/>
            <a:ext cx="2362200" cy="3198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750"/>
              </a:lnSpc>
              <a:buNone/>
            </a:pPr>
            <a:r>
              <a:rPr lang="en-US" sz="16500" dirty="0">
                <a:solidFill>
                  <a:srgbClr val="312A6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16500" dirty="0"/>
          </a:p>
        </p:txBody>
      </p:sp>
      <p:sp>
        <p:nvSpPr>
          <p:cNvPr id="3" name="Shape 1"/>
          <p:cNvSpPr/>
          <p:nvPr/>
        </p:nvSpPr>
        <p:spPr>
          <a:xfrm>
            <a:off x="9318955" y="3714750"/>
            <a:ext cx="2179320" cy="0"/>
          </a:xfrm>
          <a:prstGeom prst="line">
            <a:avLst/>
          </a:prstGeom>
          <a:noFill/>
          <a:ln w="11430">
            <a:solidFill>
              <a:srgbClr val="7C5CFF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76300" y="2857500"/>
            <a:ext cx="1596199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C9B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IKKINCHI QISM</a:t>
            </a:r>
            <a:endParaRPr lang="en-US" sz="1031" dirty="0"/>
          </a:p>
        </p:txBody>
      </p:sp>
      <p:sp>
        <p:nvSpPr>
          <p:cNvPr id="5" name="Text 3"/>
          <p:cNvSpPr/>
          <p:nvPr/>
        </p:nvSpPr>
        <p:spPr>
          <a:xfrm>
            <a:off x="876300" y="3314700"/>
            <a:ext cx="7894015" cy="14404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455"/>
              </a:lnSpc>
              <a:buNone/>
            </a:pPr>
            <a:r>
              <a:rPr lang="en-US" sz="4785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Sorbsiya va adsorbsiya asoslari</a:t>
            </a:r>
            <a:endParaRPr lang="en-US" sz="4785" dirty="0"/>
          </a:p>
        </p:txBody>
      </p:sp>
      <p:sp>
        <p:nvSpPr>
          <p:cNvPr id="6" name="Shape 4"/>
          <p:cNvSpPr/>
          <p:nvPr/>
        </p:nvSpPr>
        <p:spPr>
          <a:xfrm>
            <a:off x="876300" y="4901413"/>
            <a:ext cx="1005840" cy="0"/>
          </a:xfrm>
          <a:prstGeom prst="line">
            <a:avLst/>
          </a:prstGeom>
          <a:noFill/>
          <a:ln w="28575">
            <a:solidFill>
              <a:srgbClr val="7C5C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6300" y="5230597"/>
            <a:ext cx="7894015" cy="389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32"/>
              </a:lnSpc>
              <a:buNone/>
            </a:pPr>
            <a:r>
              <a:rPr lang="en-US" sz="1815" dirty="0">
                <a:solidFill>
                  <a:srgbClr val="B9B0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Jarayonlar tasnifi, miqdoriy koʼrsatkichlar va Gibbs tenglamasi</a:t>
            </a:r>
            <a:endParaRPr lang="en-US" sz="1815" dirty="0"/>
          </a:p>
        </p:txBody>
      </p:sp>
      <p:sp>
        <p:nvSpPr>
          <p:cNvPr id="8" name="Shape 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11" name="Text 9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</a:t>
            </a:r>
            <a:endParaRPr lang="en-US" sz="990" dirty="0"/>
          </a:p>
        </p:txBody>
      </p:sp>
      <p:sp>
        <p:nvSpPr>
          <p:cNvPr id="12" name="Shape 1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6300" y="6267450"/>
            <a:ext cx="3340510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9378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666750"/>
            <a:ext cx="3705034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C9B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SORBSIYA VA ADSORBSIYA ASOSLARI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050798"/>
            <a:ext cx="10439095" cy="5896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211"/>
              </a:lnSpc>
              <a:buNone/>
            </a:pPr>
            <a:r>
              <a:rPr lang="en-US" sz="363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Sorbsiya hodisalarining mexanizmi</a:t>
            </a:r>
            <a:endParaRPr lang="en-US" sz="3630" dirty="0"/>
          </a:p>
        </p:txBody>
      </p:sp>
      <p:sp>
        <p:nvSpPr>
          <p:cNvPr id="4" name="Shape 2"/>
          <p:cNvSpPr/>
          <p:nvPr/>
        </p:nvSpPr>
        <p:spPr>
          <a:xfrm>
            <a:off x="876300" y="2132498"/>
            <a:ext cx="3333394" cy="3103388"/>
          </a:xfrm>
          <a:prstGeom prst="roundRect">
            <a:avLst>
              <a:gd name="adj" fmla="val 5598"/>
            </a:avLst>
          </a:prstGeom>
          <a:solidFill>
            <a:srgbClr val="1A1440"/>
          </a:solidFill>
          <a:ln w="9525">
            <a:solidFill>
              <a:srgbClr val="3B2E7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4044" y="2406818"/>
            <a:ext cx="402336" cy="0"/>
          </a:xfrm>
          <a:prstGeom prst="line">
            <a:avLst/>
          </a:prstGeom>
          <a:noFill/>
          <a:ln w="28575">
            <a:solidFill>
              <a:srgbClr val="7C5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4044" y="2589698"/>
            <a:ext cx="460400" cy="4949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231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2310" dirty="0"/>
          </a:p>
        </p:txBody>
      </p:sp>
      <p:sp>
        <p:nvSpPr>
          <p:cNvPr id="7" name="Text 5"/>
          <p:cNvSpPr/>
          <p:nvPr/>
        </p:nvSpPr>
        <p:spPr>
          <a:xfrm>
            <a:off x="1114044" y="3084617"/>
            <a:ext cx="2876194" cy="3298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733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Adsorbsiya (sirtqi)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1114044" y="3487667"/>
            <a:ext cx="2876194" cy="1657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B9B0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Moddaning fazalar ajralish sirtida (qattiq/gaz, qattiq/suyuqlik) toʼplanishi. Sirtqi hodisa; tez muvozanatga erishadi; qaytar — desorbsiya kuzatiladi.</a:t>
            </a:r>
            <a:endParaRPr lang="en-US" sz="1403" dirty="0"/>
          </a:p>
        </p:txBody>
      </p:sp>
      <p:sp>
        <p:nvSpPr>
          <p:cNvPr id="9" name="Shape 7"/>
          <p:cNvSpPr/>
          <p:nvPr/>
        </p:nvSpPr>
        <p:spPr>
          <a:xfrm>
            <a:off x="4429150" y="2132498"/>
            <a:ext cx="3333394" cy="3103388"/>
          </a:xfrm>
          <a:prstGeom prst="roundRect">
            <a:avLst>
              <a:gd name="adj" fmla="val 5598"/>
            </a:avLst>
          </a:prstGeom>
          <a:solidFill>
            <a:srgbClr val="1A1440"/>
          </a:solidFill>
          <a:ln w="9525">
            <a:solidFill>
              <a:srgbClr val="3B2E7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6894" y="2406818"/>
            <a:ext cx="402336" cy="0"/>
          </a:xfrm>
          <a:prstGeom prst="line">
            <a:avLst/>
          </a:prstGeom>
          <a:noFill/>
          <a:ln w="28575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6894" y="2589698"/>
            <a:ext cx="460400" cy="4949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231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2310" dirty="0"/>
          </a:p>
        </p:txBody>
      </p:sp>
      <p:sp>
        <p:nvSpPr>
          <p:cNvPr id="12" name="Text 10"/>
          <p:cNvSpPr/>
          <p:nvPr/>
        </p:nvSpPr>
        <p:spPr>
          <a:xfrm>
            <a:off x="4666894" y="3084617"/>
            <a:ext cx="2876194" cy="3298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733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Absorbsiya (hajmiy)</a:t>
            </a:r>
            <a:endParaRPr lang="en-US" sz="1733" dirty="0"/>
          </a:p>
        </p:txBody>
      </p:sp>
      <p:sp>
        <p:nvSpPr>
          <p:cNvPr id="13" name="Text 11"/>
          <p:cNvSpPr/>
          <p:nvPr/>
        </p:nvSpPr>
        <p:spPr>
          <a:xfrm>
            <a:off x="4666894" y="3487667"/>
            <a:ext cx="2876194" cy="1390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B9B0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Yutilayotgan moddaning ikkinchi faza (suyuqlik yoki qattiq jism) hajmi boʼylab tekis tarqalishi. Diffuziya bilan bogʼliq, sekin boradi.</a:t>
            </a:r>
            <a:endParaRPr lang="en-US" sz="1403" dirty="0"/>
          </a:p>
        </p:txBody>
      </p:sp>
      <p:sp>
        <p:nvSpPr>
          <p:cNvPr id="14" name="Shape 12"/>
          <p:cNvSpPr/>
          <p:nvPr/>
        </p:nvSpPr>
        <p:spPr>
          <a:xfrm>
            <a:off x="7982001" y="2132498"/>
            <a:ext cx="3333394" cy="3103388"/>
          </a:xfrm>
          <a:prstGeom prst="roundRect">
            <a:avLst>
              <a:gd name="adj" fmla="val 5598"/>
            </a:avLst>
          </a:prstGeom>
          <a:solidFill>
            <a:srgbClr val="1A1440"/>
          </a:solidFill>
          <a:ln w="9525">
            <a:solidFill>
              <a:srgbClr val="3B2E7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19745" y="2406818"/>
            <a:ext cx="402336" cy="0"/>
          </a:xfrm>
          <a:prstGeom prst="line">
            <a:avLst/>
          </a:prstGeom>
          <a:noFill/>
          <a:ln w="28575">
            <a:solidFill>
              <a:srgbClr val="7C5C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19745" y="2589698"/>
            <a:ext cx="460400" cy="4949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231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2310" dirty="0"/>
          </a:p>
        </p:txBody>
      </p:sp>
      <p:sp>
        <p:nvSpPr>
          <p:cNvPr id="17" name="Text 15"/>
          <p:cNvSpPr/>
          <p:nvPr/>
        </p:nvSpPr>
        <p:spPr>
          <a:xfrm>
            <a:off x="8219745" y="3084617"/>
            <a:ext cx="2876194" cy="3298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6"/>
              </a:lnSpc>
              <a:buNone/>
            </a:pPr>
            <a:r>
              <a:rPr lang="en-US" sz="1733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Kapillyar kondensatlanish</a:t>
            </a:r>
            <a:endParaRPr lang="en-US" sz="1733" dirty="0"/>
          </a:p>
        </p:txBody>
      </p:sp>
      <p:sp>
        <p:nvSpPr>
          <p:cNvPr id="18" name="Text 16"/>
          <p:cNvSpPr/>
          <p:nvPr/>
        </p:nvSpPr>
        <p:spPr>
          <a:xfrm>
            <a:off x="8219745" y="3487667"/>
            <a:ext cx="2876194" cy="1657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B9B0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Gʼovak adsorbentlarda botiq menisklar hosil boʼlishi natijasida bugʼning P &lt; P₀ bosimda suyuqlikka aylanishi. Kelvin tenglamasi va histerezis sirtlari bilan tavsiflanadi.</a:t>
            </a:r>
            <a:endParaRPr lang="en-US" sz="1403" dirty="0"/>
          </a:p>
        </p:txBody>
      </p:sp>
      <p:sp>
        <p:nvSpPr>
          <p:cNvPr id="19" name="Shape 17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2" name="Text 20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09</a:t>
            </a:r>
            <a:endParaRPr lang="en-US" sz="990" dirty="0"/>
          </a:p>
        </p:txBody>
      </p:sp>
      <p:sp>
        <p:nvSpPr>
          <p:cNvPr id="23" name="Shape 21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6300" y="6267450"/>
            <a:ext cx="3758074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06942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3705034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C9B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SORBSIYA VA ADSORBSIYA ASOSLARI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Miqdoriy koʼrsatkichlar va absolyut adsorbsiya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7C5C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12492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Asosiy tushunchalar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Adsorbent — sirtida adsorbsiya sodir boʼladigan qattiq yoki suyuq modda. Adsorbtiv — adsorbsiyalanuvchi modda. Adsorbat — sirtda ushlanib qolgan modda.</a:t>
            </a:r>
            <a:endParaRPr lang="en-US" sz="1568" dirty="0"/>
          </a:p>
        </p:txBody>
      </p:sp>
      <p:sp>
        <p:nvSpPr>
          <p:cNvPr id="8" name="Shape 6"/>
          <p:cNvSpPr/>
          <p:nvPr/>
        </p:nvSpPr>
        <p:spPr>
          <a:xfrm>
            <a:off x="876300" y="3843261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815829"/>
            <a:ext cx="5352117" cy="950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Absolyut adsorbsiya (a)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Adsorbentning birlik massasi (m) yoki birlik sirt yuzasida (S) toʼplangan adsorbatning mol miqdori.</a:t>
            </a:r>
            <a:endParaRPr lang="en-US" sz="1568" dirty="0"/>
          </a:p>
        </p:txBody>
      </p:sp>
      <p:sp>
        <p:nvSpPr>
          <p:cNvPr id="10" name="Shape 8"/>
          <p:cNvSpPr/>
          <p:nvPr/>
        </p:nvSpPr>
        <p:spPr>
          <a:xfrm>
            <a:off x="876300" y="4932293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904861"/>
            <a:ext cx="5352117" cy="950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Gibbs ortiqcha adsorbsiyasi (G)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qatlamidagi modda miqdorining hajm konsentratsiyasiga nisbatan ortiqcha qismi [mol/m²].</a:t>
            </a:r>
            <a:endParaRPr lang="en-US" sz="1568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Absolyut adsorbsiya (a)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kontent/rasmlar/image1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114592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2478235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Gibbs ortiqcha adsorbsiyasi (G)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2651971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2800133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1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832137"/>
            <a:ext cx="4529194" cy="1145926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3" name="Text 19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990" dirty="0"/>
          </a:p>
        </p:txBody>
      </p:sp>
      <p:sp>
        <p:nvSpPr>
          <p:cNvPr id="24" name="Shape 2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76300" y="6267450"/>
            <a:ext cx="4175638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024506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3705034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C9B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SORBSIYA VA ADSORBSIYA ASOSLARI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Gibbsning fundamental adsorbsiya tenglamasi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7C5C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12492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Tenglamaning mohiyati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tarangligining konsentratsiyaga qarab oʼzgarishi (dσ/dC) bilan sirtda modda toʼplanishi (G) oʼrtasidagi fundamental termodinamik bogʼliqlik.</a:t>
            </a:r>
            <a:endParaRPr lang="en-US" sz="1568" dirty="0"/>
          </a:p>
        </p:txBody>
      </p:sp>
      <p:sp>
        <p:nvSpPr>
          <p:cNvPr id="8" name="Shape 6"/>
          <p:cNvSpPr/>
          <p:nvPr/>
        </p:nvSpPr>
        <p:spPr>
          <a:xfrm>
            <a:off x="876300" y="3843261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815829"/>
            <a:ext cx="5352117" cy="950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Musbat adsorbsiya (G &gt; 0)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dσ/dC &lt; 0 boʼlsa (sirt-aktiv moddalar), G &gt; 0 — modda sirtda toʼplanadi va sirt tarangligini pasaytiradi.</a:t>
            </a:r>
            <a:endParaRPr lang="en-US" sz="1568" dirty="0"/>
          </a:p>
        </p:txBody>
      </p:sp>
      <p:sp>
        <p:nvSpPr>
          <p:cNvPr id="10" name="Shape 8"/>
          <p:cNvSpPr/>
          <p:nvPr/>
        </p:nvSpPr>
        <p:spPr>
          <a:xfrm>
            <a:off x="876300" y="4932293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904861"/>
            <a:ext cx="5352117" cy="950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Manfiy adsorbsiya (G &lt; 0)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dσ/dC &gt; 0 boʼlsa (sirt-inert moddalar), G &lt; 0 — modda hajmga oʼtadi, sirt qatlamida kamayadi.</a:t>
            </a:r>
            <a:endParaRPr lang="en-US" sz="1568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Gibbs tenglamasi (konsentratsiyali)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664448"/>
          </a:xfrm>
          <a:prstGeom prst="roundRect">
            <a:avLst>
              <a:gd name="adj" fmla="val 19267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kontent/rasmlar/image14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60044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1932749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Gibbs tenglamasi (aktivlikli)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2106485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2254647"/>
            <a:ext cx="4593202" cy="664448"/>
          </a:xfrm>
          <a:prstGeom prst="roundRect">
            <a:avLst>
              <a:gd name="adj" fmla="val 19267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15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286651"/>
            <a:ext cx="4529194" cy="60044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3065398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SAM, SIM va SNM moddalar uchun σ(C) egri chiziqlari</a:t>
            </a:r>
            <a:endParaRPr lang="en-US" sz="1114" dirty="0"/>
          </a:p>
        </p:txBody>
      </p:sp>
      <p:sp>
        <p:nvSpPr>
          <p:cNvPr id="21" name="Shape 17"/>
          <p:cNvSpPr/>
          <p:nvPr/>
        </p:nvSpPr>
        <p:spPr>
          <a:xfrm>
            <a:off x="6722193" y="3239134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3387296"/>
            <a:ext cx="4593202" cy="2396284"/>
          </a:xfrm>
          <a:prstGeom prst="roundRect">
            <a:avLst>
              <a:gd name="adj" fmla="val 5342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3" name="Image 2" descr="/home/user/jdakimyo/taqdimot/kontent/rasmlar/image16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54197" y="3419300"/>
            <a:ext cx="4529194" cy="233227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99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4593202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5442070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27515" y="2762250"/>
            <a:ext cx="2362200" cy="3198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750"/>
              </a:lnSpc>
              <a:buNone/>
            </a:pPr>
            <a:r>
              <a:rPr lang="en-US" sz="16500" dirty="0">
                <a:solidFill>
                  <a:srgbClr val="312A6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16500" dirty="0"/>
          </a:p>
        </p:txBody>
      </p:sp>
      <p:sp>
        <p:nvSpPr>
          <p:cNvPr id="3" name="Shape 1"/>
          <p:cNvSpPr/>
          <p:nvPr/>
        </p:nvSpPr>
        <p:spPr>
          <a:xfrm>
            <a:off x="9318955" y="3714750"/>
            <a:ext cx="2179320" cy="0"/>
          </a:xfrm>
          <a:prstGeom prst="line">
            <a:avLst/>
          </a:prstGeom>
          <a:noFill/>
          <a:ln w="11430">
            <a:solidFill>
              <a:srgbClr val="7C5CFF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76300" y="2857500"/>
            <a:ext cx="1596199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C9B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UCHINCHI QISM</a:t>
            </a:r>
            <a:endParaRPr lang="en-US" sz="1031" dirty="0"/>
          </a:p>
        </p:txBody>
      </p:sp>
      <p:sp>
        <p:nvSpPr>
          <p:cNvPr id="5" name="Text 3"/>
          <p:cNvSpPr/>
          <p:nvPr/>
        </p:nvSpPr>
        <p:spPr>
          <a:xfrm>
            <a:off x="876300" y="3314700"/>
            <a:ext cx="7894015" cy="14404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455"/>
              </a:lnSpc>
              <a:buNone/>
            </a:pPr>
            <a:r>
              <a:rPr lang="en-US" sz="4785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Monomolekulyar adsorbsiya</a:t>
            </a:r>
            <a:endParaRPr lang="en-US" sz="4785" dirty="0"/>
          </a:p>
        </p:txBody>
      </p:sp>
      <p:sp>
        <p:nvSpPr>
          <p:cNvPr id="6" name="Shape 4"/>
          <p:cNvSpPr/>
          <p:nvPr/>
        </p:nvSpPr>
        <p:spPr>
          <a:xfrm>
            <a:off x="876300" y="4901413"/>
            <a:ext cx="1005840" cy="0"/>
          </a:xfrm>
          <a:prstGeom prst="line">
            <a:avLst/>
          </a:prstGeom>
          <a:noFill/>
          <a:ln w="28575">
            <a:solidFill>
              <a:srgbClr val="7C5C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6300" y="5230597"/>
            <a:ext cx="7894015" cy="389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32"/>
              </a:lnSpc>
              <a:buNone/>
            </a:pPr>
            <a:r>
              <a:rPr lang="en-US" sz="1815" dirty="0">
                <a:solidFill>
                  <a:srgbClr val="B9B0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Shishkovskiy tenglamasi, Lengmyur nazariyasi va izoterma sohalari</a:t>
            </a:r>
            <a:endParaRPr lang="en-US" sz="1815" dirty="0"/>
          </a:p>
        </p:txBody>
      </p:sp>
      <p:sp>
        <p:nvSpPr>
          <p:cNvPr id="8" name="Shape 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11" name="Text 9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990" dirty="0"/>
          </a:p>
        </p:txBody>
      </p:sp>
      <p:sp>
        <p:nvSpPr>
          <p:cNvPr id="12" name="Shape 1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6300" y="6267450"/>
            <a:ext cx="5010766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59634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3002090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C9B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MONOMOLEKULYAR ADSORBSIYA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Shishkovskiy tenglamasi va molekula oʼlchamlari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7C5C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9035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Shishkovskiy tenglamasi (1908)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Sirt-aktiv moddalar konsentratsiyasi ortishi bilan sirt tarangligi pasayishini empirik ravishda ifodalaydi.</a:t>
            </a:r>
            <a:endParaRPr lang="en-US" sz="1485" dirty="0"/>
          </a:p>
        </p:txBody>
      </p:sp>
      <p:sp>
        <p:nvSpPr>
          <p:cNvPr id="8" name="Shape 6"/>
          <p:cNvSpPr/>
          <p:nvPr/>
        </p:nvSpPr>
        <p:spPr>
          <a:xfrm>
            <a:off x="876300" y="3549891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522459"/>
            <a:ext cx="5352117" cy="11864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Gibbs va Lengmyur bilan bogʼlanishi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Shishkovskiy konstantasi B = Gmax·RT ekanligi isbotlandi — bu Gibbs tenglamasidan Lengmyur izotermasiga oʼtish imkonini berdi.</a:t>
            </a:r>
            <a:endParaRPr lang="en-US" sz="1485" dirty="0"/>
          </a:p>
        </p:txBody>
      </p:sp>
      <p:sp>
        <p:nvSpPr>
          <p:cNvPr id="10" name="Shape 8"/>
          <p:cNvSpPr/>
          <p:nvPr/>
        </p:nvSpPr>
        <p:spPr>
          <a:xfrm>
            <a:off x="876300" y="4927054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899622"/>
            <a:ext cx="5352117" cy="9035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Molekula parametrlari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Gmax qiymatidan molekulaning sirtda egallagan koʼndalang kesim yuzasi (S₀) va sirt qatlamining qalinligi (l) aniqlanadi.</a:t>
            </a:r>
            <a:endParaRPr lang="en-US" sz="1485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Shishkovskiy empirik tenglamasi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kontent/rasmlar/image17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114592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2478235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Gibbs-Lengmyur birlashgan tenglamasi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2651971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2800133"/>
            <a:ext cx="4593202" cy="1206790"/>
          </a:xfrm>
          <a:prstGeom prst="roundRect">
            <a:avLst>
              <a:gd name="adj" fmla="val 10608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18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832137"/>
            <a:ext cx="4529194" cy="1142782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4153227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Molekula oʼlchamlari formulalari</a:t>
            </a:r>
            <a:endParaRPr lang="en-US" sz="1114" dirty="0"/>
          </a:p>
        </p:txBody>
      </p:sp>
      <p:sp>
        <p:nvSpPr>
          <p:cNvPr id="21" name="Shape 17"/>
          <p:cNvSpPr/>
          <p:nvPr/>
        </p:nvSpPr>
        <p:spPr>
          <a:xfrm>
            <a:off x="6722193" y="4326963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4475124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3" name="Image 2" descr="/home/user/jdakimyo/taqdimot/kontent/rasmlar/image19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54197" y="4507128"/>
            <a:ext cx="4529194" cy="114592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99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5428330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6277198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3002090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C9B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MONOMOLEKULYAR ADSORBSIYA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09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Lengmyurning monomolekulyar nazariyasi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7C5C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Lengmyur postulatlari (1915)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Adsorbsiya adsorbent sirtidagi diskret faol markazlarda sodir boʼladi. 2. Har bir faol markaz faqat bitta adsorbat molekulasini tuta oladi (monoqavat). 3. Faol markazlar energetik jihatdan teng va bir-biriga taʼsir etmaydi. 4. Jarayon dinamik muvozanatda: adsorbsiya tezligi = desorbsiya tezligi.</a:t>
            </a:r>
            <a:endParaRPr lang="en-US" sz="1320" dirty="0"/>
          </a:p>
        </p:txBody>
      </p:sp>
      <p:sp>
        <p:nvSpPr>
          <p:cNvPr id="8" name="Shape 6"/>
          <p:cNvSpPr/>
          <p:nvPr/>
        </p:nvSpPr>
        <p:spPr>
          <a:xfrm>
            <a:off x="876300" y="4230929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4203497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Izoterma shakli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Adsorbsiya toʼyingan qiymatga intiladi: past konsentratsiyada keskin oʼsadi, yuqorisida esa gorizontalga yaqinlashadi.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876300" y="5251856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5224424"/>
            <a:ext cx="535211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toʼlish darajasi (θ)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θ = G/Gmax — sirtning qancha qismi monoqavat bilan qoplanganini koʼrsatadi (0 ≤ θ ≤ 1).</a:t>
            </a:r>
            <a:endParaRPr lang="en-US" sz="1320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Lengmyur adsorbsiya izotermasi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678528"/>
          </a:xfrm>
          <a:prstGeom prst="roundRect">
            <a:avLst>
              <a:gd name="adj" fmla="val 18867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kontent/rasmlar/image20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61452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1946829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toʼlish darajasi (θ)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2120565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2268726"/>
            <a:ext cx="4593202" cy="678528"/>
          </a:xfrm>
          <a:prstGeom prst="roundRect">
            <a:avLst>
              <a:gd name="adj" fmla="val 18867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21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300730"/>
            <a:ext cx="4529194" cy="61452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3093558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Lengmyur izotermasi grafigi va sohalari</a:t>
            </a:r>
            <a:endParaRPr lang="en-US" sz="1114" dirty="0"/>
          </a:p>
        </p:txBody>
      </p:sp>
      <p:sp>
        <p:nvSpPr>
          <p:cNvPr id="21" name="Shape 17"/>
          <p:cNvSpPr/>
          <p:nvPr/>
        </p:nvSpPr>
        <p:spPr>
          <a:xfrm>
            <a:off x="6722193" y="3267294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3415455"/>
            <a:ext cx="4593202" cy="2368125"/>
          </a:xfrm>
          <a:prstGeom prst="roundRect">
            <a:avLst>
              <a:gd name="adj" fmla="val 5406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3" name="Image 2" descr="/home/user/jdakimyo/taqdimot/kontent/rasmlar/image22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54197" y="3447459"/>
            <a:ext cx="4529194" cy="2304117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99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5845893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6694761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3002090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C9B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MONOMOLEKULYAR ADSORBSIYA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1344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Lengmyur izotermasining sohalari va linearizatsiyasi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620442"/>
            <a:ext cx="914400" cy="0"/>
          </a:xfrm>
          <a:prstGeom prst="line">
            <a:avLst/>
          </a:prstGeom>
          <a:noFill/>
          <a:ln w="24765">
            <a:solidFill>
              <a:srgbClr val="7C5C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885618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858186"/>
            <a:ext cx="5352117" cy="950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Genri sohasi (C → 0)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Juda kam konsentratsiyada KC ≪ 1, shunda G = Gmax·K·C = KH·C. Adsorbsiya konsentratsiyaga toʼgʼri mutanosib.</a:t>
            </a:r>
            <a:endParaRPr lang="en-US" sz="1568" dirty="0"/>
          </a:p>
        </p:txBody>
      </p:sp>
      <p:sp>
        <p:nvSpPr>
          <p:cNvPr id="8" name="Shape 6"/>
          <p:cNvSpPr/>
          <p:nvPr/>
        </p:nvSpPr>
        <p:spPr>
          <a:xfrm>
            <a:off x="876300" y="3930853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903421"/>
            <a:ext cx="5352117" cy="950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Toʼyinish sohasi (C → ∞)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Yuqori konsentratsiyada KC ≫ 1, shunda G = Gmax. Adsorbent sirti toʼliq monoqavat bilan qoplanadi.</a:t>
            </a:r>
            <a:endParaRPr lang="en-US" sz="1568" dirty="0"/>
          </a:p>
        </p:txBody>
      </p:sp>
      <p:sp>
        <p:nvSpPr>
          <p:cNvPr id="10" name="Shape 8"/>
          <p:cNvSpPr/>
          <p:nvPr/>
        </p:nvSpPr>
        <p:spPr>
          <a:xfrm>
            <a:off x="876300" y="4976089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948657"/>
            <a:ext cx="5352117" cy="950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Linearizatsiya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Tajriba maʼlumotlaridan Gmax va K doimiylarini grafik usulda aniqlash uchun 1/G ga nisbatan 1/C grafigi chiziladi.</a:t>
            </a:r>
            <a:endParaRPr lang="en-US" sz="1568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Lengmyur tenglamasining chiziqli shakli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kontent/rasmlar/image23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114592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2478235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Genri sohasi chegarasi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2651971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2800133"/>
            <a:ext cx="4593202" cy="1206163"/>
          </a:xfrm>
          <a:prstGeom prst="roundRect">
            <a:avLst>
              <a:gd name="adj" fmla="val 10613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24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832137"/>
            <a:ext cx="4529194" cy="1142155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41526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Toʼyinish sohasi chegarasi</a:t>
            </a:r>
            <a:endParaRPr lang="en-US" sz="1114" dirty="0"/>
          </a:p>
        </p:txBody>
      </p:sp>
      <p:sp>
        <p:nvSpPr>
          <p:cNvPr id="21" name="Shape 17"/>
          <p:cNvSpPr/>
          <p:nvPr/>
        </p:nvSpPr>
        <p:spPr>
          <a:xfrm>
            <a:off x="6722193" y="4326336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4474497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3" name="Image 2" descr="/home/user/jdakimyo/taqdimot/kontent/rasmlar/image25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54197" y="4506501"/>
            <a:ext cx="4529194" cy="114592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99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6263457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7112325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27515" y="2762250"/>
            <a:ext cx="2362200" cy="3198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750"/>
              </a:lnSpc>
              <a:buNone/>
            </a:pPr>
            <a:r>
              <a:rPr lang="en-US" sz="16500" dirty="0">
                <a:solidFill>
                  <a:srgbClr val="312A6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16500" dirty="0"/>
          </a:p>
        </p:txBody>
      </p:sp>
      <p:sp>
        <p:nvSpPr>
          <p:cNvPr id="3" name="Shape 1"/>
          <p:cNvSpPr/>
          <p:nvPr/>
        </p:nvSpPr>
        <p:spPr>
          <a:xfrm>
            <a:off x="9318955" y="3714750"/>
            <a:ext cx="2179320" cy="0"/>
          </a:xfrm>
          <a:prstGeom prst="line">
            <a:avLst/>
          </a:prstGeom>
          <a:noFill/>
          <a:ln w="11430">
            <a:solidFill>
              <a:srgbClr val="7C5CFF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76300" y="2857500"/>
            <a:ext cx="1830515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C9B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TOʼRTINCHI QISM</a:t>
            </a:r>
            <a:endParaRPr lang="en-US" sz="1031" dirty="0"/>
          </a:p>
        </p:txBody>
      </p:sp>
      <p:sp>
        <p:nvSpPr>
          <p:cNvPr id="5" name="Text 3"/>
          <p:cNvSpPr/>
          <p:nvPr/>
        </p:nvSpPr>
        <p:spPr>
          <a:xfrm>
            <a:off x="876300" y="3314700"/>
            <a:ext cx="7894015" cy="14404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455"/>
              </a:lnSpc>
              <a:buNone/>
            </a:pPr>
            <a:r>
              <a:rPr lang="en-US" sz="4785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Polimolekulyar modellar va adsorbentlar</a:t>
            </a:r>
            <a:endParaRPr lang="en-US" sz="4785" dirty="0"/>
          </a:p>
        </p:txBody>
      </p:sp>
      <p:sp>
        <p:nvSpPr>
          <p:cNvPr id="6" name="Shape 4"/>
          <p:cNvSpPr/>
          <p:nvPr/>
        </p:nvSpPr>
        <p:spPr>
          <a:xfrm>
            <a:off x="876300" y="4901413"/>
            <a:ext cx="1005840" cy="0"/>
          </a:xfrm>
          <a:prstGeom prst="line">
            <a:avLst/>
          </a:prstGeom>
          <a:noFill/>
          <a:ln w="28575">
            <a:solidFill>
              <a:srgbClr val="7C5C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6300" y="5230597"/>
            <a:ext cx="7894015" cy="389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32"/>
              </a:lnSpc>
              <a:buNone/>
            </a:pPr>
            <a:r>
              <a:rPr lang="en-US" sz="1815" dirty="0">
                <a:solidFill>
                  <a:srgbClr val="B9B0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Freyndlih, BET nazariyasi, gʼovaklik tasnifi va Rebinder qoidasi</a:t>
            </a:r>
            <a:endParaRPr lang="en-US" sz="1815" dirty="0"/>
          </a:p>
        </p:txBody>
      </p:sp>
      <p:sp>
        <p:nvSpPr>
          <p:cNvPr id="8" name="Shape 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11" name="Text 9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</a:t>
            </a:r>
            <a:endParaRPr lang="en-US" sz="990" dirty="0"/>
          </a:p>
        </p:txBody>
      </p:sp>
      <p:sp>
        <p:nvSpPr>
          <p:cNvPr id="12" name="Shape 1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6300" y="6267450"/>
            <a:ext cx="6681021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529889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767774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C9B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POLIMOLEKULYAR MODELLAR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Freyndlihning empirik izotermasi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7C5C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12492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Tenglama (1909)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Gʼovak va energetik jihatdan bir jinsli boʼlmagan adsorbentlarda oʼrtacha konsentratsiyalar sohasida adsorbsiyani ifodalovchi empirik darajali tenglama.</a:t>
            </a:r>
            <a:endParaRPr lang="en-US" sz="1568" dirty="0"/>
          </a:p>
        </p:txBody>
      </p:sp>
      <p:sp>
        <p:nvSpPr>
          <p:cNvPr id="8" name="Shape 6"/>
          <p:cNvSpPr/>
          <p:nvPr/>
        </p:nvSpPr>
        <p:spPr>
          <a:xfrm>
            <a:off x="876300" y="3843261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815829"/>
            <a:ext cx="5352117" cy="950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Tenglama doimiylari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 — adsorbsion sigʼim koeffitsiyenti; 1/n — sirtning energetik bir jinsli emaslik koeffitsiyenti (0,1 &lt; 1/n &lt; 0,7).</a:t>
            </a:r>
            <a:endParaRPr lang="en-US" sz="1568" dirty="0"/>
          </a:p>
        </p:txBody>
      </p:sp>
      <p:sp>
        <p:nvSpPr>
          <p:cNvPr id="10" name="Shape 8"/>
          <p:cNvSpPr/>
          <p:nvPr/>
        </p:nvSpPr>
        <p:spPr>
          <a:xfrm>
            <a:off x="876300" y="4932293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904861"/>
            <a:ext cx="5352117" cy="950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Qoʼllanish chegarasi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351"/>
              </a:lnSpc>
              <a:buNone/>
            </a:pPr>
            <a:r>
              <a:rPr lang="en-US" sz="1568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Juda kichik va juda yuqori konsentratsiyalarda (toʼyinishda) bajarilmaydi — bu uning asosiy cheklovi.</a:t>
            </a:r>
            <a:endParaRPr lang="en-US" sz="1568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Freyndlih darajali tenglamasi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664448"/>
          </a:xfrm>
          <a:prstGeom prst="roundRect">
            <a:avLst>
              <a:gd name="adj" fmla="val 19267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kontent/rasmlar/image26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60044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1932749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Logarifmik chiziqli shakli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2106485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2254647"/>
            <a:ext cx="4593202" cy="664448"/>
          </a:xfrm>
          <a:prstGeom prst="roundRect">
            <a:avLst>
              <a:gd name="adj" fmla="val 19267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27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286651"/>
            <a:ext cx="4529194" cy="60044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3065398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Freyndlih izotermasi (logarifmik koordinatalar)</a:t>
            </a:r>
            <a:endParaRPr lang="en-US" sz="1114" dirty="0"/>
          </a:p>
        </p:txBody>
      </p:sp>
      <p:sp>
        <p:nvSpPr>
          <p:cNvPr id="21" name="Shape 17"/>
          <p:cNvSpPr/>
          <p:nvPr/>
        </p:nvSpPr>
        <p:spPr>
          <a:xfrm>
            <a:off x="6722193" y="3239134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3387296"/>
            <a:ext cx="4593202" cy="2396284"/>
          </a:xfrm>
          <a:prstGeom prst="roundRect">
            <a:avLst>
              <a:gd name="adj" fmla="val 5342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3" name="Image 2" descr="/home/user/jdakimyo/taqdimot/kontent/rasmlar/image28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54197" y="3419300"/>
            <a:ext cx="4529194" cy="233227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17</a:t>
            </a:r>
            <a:endParaRPr lang="en-US" sz="99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7098585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7947453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767774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C9B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POLIMOLEKULYAR MODELLAR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4848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BET polimolekulyar modeli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1760449"/>
            <a:ext cx="914400" cy="0"/>
          </a:xfrm>
          <a:prstGeom prst="line">
            <a:avLst/>
          </a:prstGeom>
          <a:noFill/>
          <a:ln w="24765">
            <a:solidFill>
              <a:srgbClr val="7C5C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025625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1998193"/>
            <a:ext cx="5352117" cy="17522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BET nazariyasi (1938)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Brunauer, Emmett va Teller taklif etgan model: 1. Adsorbsiya polimolekulyar (koʼp qatlamli) xarakterga ega. 2. Birinchi qatlam energiyasi (E₁) adsorbent bilan taʼsirga bogʼliq. 3. Ikkinchi va keyingi qatlamlar kondensatlanish issiqligiga (EL) teng deb qaraladi.</a:t>
            </a:r>
            <a:endParaRPr lang="en-US" sz="1485" dirty="0"/>
          </a:p>
        </p:txBody>
      </p:sp>
      <p:sp>
        <p:nvSpPr>
          <p:cNvPr id="8" name="Shape 6"/>
          <p:cNvSpPr/>
          <p:nvPr/>
        </p:nvSpPr>
        <p:spPr>
          <a:xfrm>
            <a:off x="876300" y="3923309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895877"/>
            <a:ext cx="5352117" cy="9035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S-simon izoterma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Past bosimda bir qatlam, oʼrta bosimda koʼp qatlam, yuqori bosimda kapillyar kondensatlanish — egri chiziq S shaklini oladi.</a:t>
            </a:r>
            <a:endParaRPr lang="en-US" sz="1485" dirty="0"/>
          </a:p>
        </p:txBody>
      </p:sp>
      <p:sp>
        <p:nvSpPr>
          <p:cNvPr id="10" name="Shape 8"/>
          <p:cNvSpPr/>
          <p:nvPr/>
        </p:nvSpPr>
        <p:spPr>
          <a:xfrm>
            <a:off x="876300" y="4972317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944885"/>
            <a:ext cx="5352117" cy="9035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Amaliy ahamiyati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228"/>
              </a:lnSpc>
              <a:buNone/>
            </a:pPr>
            <a:r>
              <a:rPr lang="en-US" sz="1485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Kukun va gʼovak adsorbentlarning solishtirma sirt yuzasini (Ssol) aniqlashda standart xalqaro usul hisoblanadi.</a:t>
            </a:r>
            <a:endParaRPr lang="en-US" sz="1485" dirty="0"/>
          </a:p>
        </p:txBody>
      </p:sp>
      <p:sp>
        <p:nvSpPr>
          <p:cNvPr id="12" name="Text 10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BET chiziqli tenglamasi</a:t>
            </a:r>
            <a:endParaRPr lang="en-US" sz="1114" dirty="0"/>
          </a:p>
        </p:txBody>
      </p:sp>
      <p:sp>
        <p:nvSpPr>
          <p:cNvPr id="13" name="Shape 11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1121997"/>
            <a:ext cx="4593202" cy="910332"/>
          </a:xfrm>
          <a:prstGeom prst="roundRect">
            <a:avLst>
              <a:gd name="adj" fmla="val 14063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5" name="Image 0" descr="/home/user/jdakimyo/taqdimot/kontent/rasmlar/image29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846324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2178634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BET polimolekulyar izotermasi</a:t>
            </a:r>
            <a:endParaRPr lang="en-US" sz="1114" dirty="0"/>
          </a:p>
        </p:txBody>
      </p:sp>
      <p:sp>
        <p:nvSpPr>
          <p:cNvPr id="17" name="Shape 14"/>
          <p:cNvSpPr/>
          <p:nvPr/>
        </p:nvSpPr>
        <p:spPr>
          <a:xfrm>
            <a:off x="6722193" y="2352370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2500531"/>
            <a:ext cx="4593202" cy="3283049"/>
          </a:xfrm>
          <a:prstGeom prst="roundRect">
            <a:avLst>
              <a:gd name="adj" fmla="val 3899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9" name="Image 1" descr="/home/user/jdakimyo/taqdimot/kontent/rasmlar/image30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532535"/>
            <a:ext cx="4529194" cy="3219041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3" name="Text 19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</a:t>
            </a:r>
            <a:endParaRPr lang="en-US" sz="990" dirty="0"/>
          </a:p>
        </p:txBody>
      </p:sp>
      <p:sp>
        <p:nvSpPr>
          <p:cNvPr id="24" name="Shape 2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76300" y="6267450"/>
            <a:ext cx="7516149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65017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767774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C9B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POLIMOLEKULYAR MODELLAR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Qattiq adsorbentlar va gʼovaklik strukturasi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7C5C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8563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Gidrofil (qutbli) adsorbentlar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Silikagel SiO₂, alyumogel Al₂O₃, gil minerallari. Suv va qutbli moddalarni yaxshi adsorbsiyalaydi.</a:t>
            </a:r>
            <a:endParaRPr lang="en-US" sz="1403" dirty="0"/>
          </a:p>
        </p:txBody>
      </p:sp>
      <p:sp>
        <p:nvSpPr>
          <p:cNvPr id="8" name="Shape 6"/>
          <p:cNvSpPr/>
          <p:nvPr/>
        </p:nvSpPr>
        <p:spPr>
          <a:xfrm>
            <a:off x="876300" y="3427557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400125"/>
            <a:ext cx="5352117" cy="8563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Gidrofob (qutbsiz) adsorbentlar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Aktivlangan koʼmir, soot, grafit. Organik moddalarni suvli eritmalardan yaxshi tutadi.</a:t>
            </a:r>
            <a:endParaRPr lang="en-US" sz="1403" dirty="0"/>
          </a:p>
        </p:txBody>
      </p:sp>
      <p:sp>
        <p:nvSpPr>
          <p:cNvPr id="10" name="Shape 8"/>
          <p:cNvSpPr/>
          <p:nvPr/>
        </p:nvSpPr>
        <p:spPr>
          <a:xfrm>
            <a:off x="876300" y="4399493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372061"/>
            <a:ext cx="5352117" cy="8563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IUPAC boʼyicha gʼovaklar tasnifi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Mikrogʼovaklar r &lt; 2 nm; mezogʼovaklar 2 nm &lt; r &lt; 50 nm; makrogʼovaklar r &gt; 50 nm.</a:t>
            </a:r>
            <a:endParaRPr lang="en-US" sz="1403" dirty="0"/>
          </a:p>
        </p:txBody>
      </p:sp>
      <p:sp>
        <p:nvSpPr>
          <p:cNvPr id="12" name="Shape 10"/>
          <p:cNvSpPr/>
          <p:nvPr/>
        </p:nvSpPr>
        <p:spPr>
          <a:xfrm>
            <a:off x="876300" y="5371428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5756" y="5343996"/>
            <a:ext cx="5352117" cy="5892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Rebinder qoidasi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2104"/>
              </a:lnSpc>
              <a:buNone/>
            </a:pPr>
            <a:r>
              <a:rPr lang="en-US" sz="1403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Adsorbsiya faza chegaralarining qutbliliklari farqi kamayishi yoʼnalishida boradi.</a:t>
            </a:r>
            <a:endParaRPr lang="en-US" sz="1403" dirty="0"/>
          </a:p>
        </p:txBody>
      </p:sp>
      <p:sp>
        <p:nvSpPr>
          <p:cNvPr id="14" name="Text 12"/>
          <p:cNvSpPr/>
          <p:nvPr/>
        </p:nvSpPr>
        <p:spPr>
          <a:xfrm>
            <a:off x="6740481" y="800100"/>
            <a:ext cx="4547482" cy="4792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Gʼovak adsorbent kesimi: mikrokovaklar va tutilgan molekulalar</a:t>
            </a:r>
            <a:endParaRPr lang="en-US" sz="1114" dirty="0"/>
          </a:p>
        </p:txBody>
      </p:sp>
      <p:sp>
        <p:nvSpPr>
          <p:cNvPr id="15" name="Shape 13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22193" y="1334167"/>
            <a:ext cx="4593202" cy="3011607"/>
          </a:xfrm>
          <a:prstGeom prst="roundRect">
            <a:avLst>
              <a:gd name="adj" fmla="val 4251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7" name="Image 0" descr="/home/user/jdakimyo/taqdimot/chiqish/rasm-kichik/gen-adsorben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366171"/>
            <a:ext cx="4529194" cy="2947599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6740481" y="4492078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Rebinder qutblar tenglashtirish qoidasi</a:t>
            </a:r>
            <a:endParaRPr lang="en-US" sz="1114" dirty="0"/>
          </a:p>
        </p:txBody>
      </p:sp>
      <p:sp>
        <p:nvSpPr>
          <p:cNvPr id="19" name="Shape 16"/>
          <p:cNvSpPr/>
          <p:nvPr/>
        </p:nvSpPr>
        <p:spPr>
          <a:xfrm>
            <a:off x="6722193" y="4665814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722193" y="4813975"/>
            <a:ext cx="4593202" cy="969605"/>
          </a:xfrm>
          <a:prstGeom prst="roundRect">
            <a:avLst>
              <a:gd name="adj" fmla="val 13203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1" name="Image 1" descr="/home/user/jdakimyo/taqdimot/kontent/rasmlar/image31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4845979"/>
            <a:ext cx="4529194" cy="905597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5" name="Text 21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</a:t>
            </a:r>
            <a:endParaRPr lang="en-US" sz="990" dirty="0"/>
          </a:p>
        </p:txBody>
      </p:sp>
      <p:sp>
        <p:nvSpPr>
          <p:cNvPr id="26" name="Shape 22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76300" y="6267450"/>
            <a:ext cx="7933712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782580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27515" y="2762250"/>
            <a:ext cx="2362200" cy="3198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750"/>
              </a:lnSpc>
              <a:buNone/>
            </a:pPr>
            <a:r>
              <a:rPr lang="en-US" sz="16500" dirty="0">
                <a:solidFill>
                  <a:srgbClr val="312A6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</a:t>
            </a:r>
            <a:endParaRPr lang="en-US" sz="16500" dirty="0"/>
          </a:p>
        </p:txBody>
      </p:sp>
      <p:sp>
        <p:nvSpPr>
          <p:cNvPr id="3" name="Shape 1"/>
          <p:cNvSpPr/>
          <p:nvPr/>
        </p:nvSpPr>
        <p:spPr>
          <a:xfrm>
            <a:off x="9318955" y="3714750"/>
            <a:ext cx="2179320" cy="0"/>
          </a:xfrm>
          <a:prstGeom prst="line">
            <a:avLst/>
          </a:prstGeom>
          <a:noFill/>
          <a:ln w="11430">
            <a:solidFill>
              <a:srgbClr val="7C5CFF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76300" y="2857500"/>
            <a:ext cx="1713357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C9B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BESHINCHI QISM</a:t>
            </a:r>
            <a:endParaRPr lang="en-US" sz="1031" dirty="0"/>
          </a:p>
        </p:txBody>
      </p:sp>
      <p:sp>
        <p:nvSpPr>
          <p:cNvPr id="5" name="Text 3"/>
          <p:cNvSpPr/>
          <p:nvPr/>
        </p:nvSpPr>
        <p:spPr>
          <a:xfrm>
            <a:off x="876300" y="3314700"/>
            <a:ext cx="7894015" cy="14404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455"/>
              </a:lnSpc>
              <a:buNone/>
            </a:pPr>
            <a:r>
              <a:rPr lang="en-US" sz="4785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Eritmalardan adsorbsiya va qoʼllanish</a:t>
            </a:r>
            <a:endParaRPr lang="en-US" sz="4785" dirty="0"/>
          </a:p>
        </p:txBody>
      </p:sp>
      <p:sp>
        <p:nvSpPr>
          <p:cNvPr id="6" name="Shape 4"/>
          <p:cNvSpPr/>
          <p:nvPr/>
        </p:nvSpPr>
        <p:spPr>
          <a:xfrm>
            <a:off x="876300" y="4901413"/>
            <a:ext cx="1005840" cy="0"/>
          </a:xfrm>
          <a:prstGeom prst="line">
            <a:avLst/>
          </a:prstGeom>
          <a:noFill/>
          <a:ln w="28575">
            <a:solidFill>
              <a:srgbClr val="7C5C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6300" y="5230597"/>
            <a:ext cx="7894015" cy="389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32"/>
              </a:lnSpc>
              <a:buNone/>
            </a:pPr>
            <a:r>
              <a:rPr lang="en-US" sz="1815" dirty="0">
                <a:solidFill>
                  <a:srgbClr val="B9B0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Ionli adsorbsiya, xromatografiya, tibbiyot va sanoat</a:t>
            </a:r>
            <a:endParaRPr lang="en-US" sz="1815" dirty="0"/>
          </a:p>
        </p:txBody>
      </p:sp>
      <p:sp>
        <p:nvSpPr>
          <p:cNvPr id="8" name="Shape 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11" name="Text 9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</a:t>
            </a:r>
            <a:endParaRPr lang="en-US" sz="990" dirty="0"/>
          </a:p>
        </p:txBody>
      </p:sp>
      <p:sp>
        <p:nvSpPr>
          <p:cNvPr id="12" name="Shape 1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6300" y="6267450"/>
            <a:ext cx="8351276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00144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767774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C9B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ERITMALARDAN ADSORBSIYA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Ionli adsorbsiya va Panet-Fayans qoidasi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7C5C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Ionli adsorbsiya xususiyatlari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Qattiq adsorbent sirtida elektrod potensiali va elektr ikki qatlami (EDL) hosil boʼlishi bilan kechadigan tanlanma (selektiv) adsorbsiya.</a:t>
            </a:r>
            <a:endParaRPr lang="en-US" sz="1320" dirty="0"/>
          </a:p>
        </p:txBody>
      </p:sp>
      <p:sp>
        <p:nvSpPr>
          <p:cNvPr id="8" name="Shape 6"/>
          <p:cNvSpPr/>
          <p:nvPr/>
        </p:nvSpPr>
        <p:spPr>
          <a:xfrm>
            <a:off x="876300" y="3360763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333331"/>
            <a:ext cx="5352117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Panet-Fayans selektivlik qoidasi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Qattiq kristall adsorbent sirtiga birinchi navbatda uning kristall panjarasi tarkibiga kiruvchi yoki u bilan qiyin eriydigan birikma hosil qiluvchi ionlar adsorbsiyalanadi.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876300" y="4517365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489933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Liotrop (Hofmeyster) qatorlar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Bir xil valentli ionlarning gidratlanish radiusi kamayishi bilan ularning adsorbsiyalanish qobiliyati ortadi.</a:t>
            </a:r>
            <a:endParaRPr lang="en-US" sz="1320" dirty="0"/>
          </a:p>
        </p:txBody>
      </p:sp>
      <p:sp>
        <p:nvSpPr>
          <p:cNvPr id="12" name="Shape 10"/>
          <p:cNvSpPr/>
          <p:nvPr/>
        </p:nvSpPr>
        <p:spPr>
          <a:xfrm>
            <a:off x="876300" y="5422506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5756" y="5395074"/>
            <a:ext cx="535211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Ionitlar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Kationitlar (kation almashuvchi) va anionitlar (anion almashuvchi) — gʼovak polimer va minerallar.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Liotrop kationlar qatori</a:t>
            </a:r>
            <a:endParaRPr lang="en-US" sz="1114" dirty="0"/>
          </a:p>
        </p:txBody>
      </p:sp>
      <p:sp>
        <p:nvSpPr>
          <p:cNvPr id="15" name="Shape 13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22193" y="1121997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7" name="Image 0" descr="/home/user/jdakimyo/taqdimot/kontent/rasmlar/image3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1145926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6740481" y="2478235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Liotrop anionlar qatori</a:t>
            </a:r>
            <a:endParaRPr lang="en-US" sz="1114" dirty="0"/>
          </a:p>
        </p:txBody>
      </p:sp>
      <p:sp>
        <p:nvSpPr>
          <p:cNvPr id="19" name="Shape 16"/>
          <p:cNvSpPr/>
          <p:nvPr/>
        </p:nvSpPr>
        <p:spPr>
          <a:xfrm>
            <a:off x="6722193" y="2651971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722193" y="2800133"/>
            <a:ext cx="4593202" cy="1209934"/>
          </a:xfrm>
          <a:prstGeom prst="roundRect">
            <a:avLst>
              <a:gd name="adj" fmla="val 10580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21" name="Image 1" descr="/home/user/jdakimyo/taqdimot/kontent/rasmlar/image3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754197" y="2832137"/>
            <a:ext cx="4529194" cy="1145926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5" name="Text 21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21</a:t>
            </a:r>
            <a:endParaRPr lang="en-US" sz="990" dirty="0"/>
          </a:p>
        </p:txBody>
      </p:sp>
      <p:sp>
        <p:nvSpPr>
          <p:cNvPr id="26" name="Shape 22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76300" y="6267450"/>
            <a:ext cx="8768840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9617708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1713357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C9B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XROMATOGRAFIYA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Xromatografik ajratish usullari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7C5C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M.S. Tsvet kashfiyoti (1903)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Oʼsimlik pigmentlarini (xlorofill, karotin) boʼr ustunida (CaCO₃) adsorbsion ajratib, xromatografiya usuliga asos soldi.</a:t>
            </a:r>
            <a:endParaRPr lang="en-US" sz="1320" dirty="0"/>
          </a:p>
        </p:txBody>
      </p:sp>
      <p:sp>
        <p:nvSpPr>
          <p:cNvPr id="8" name="Shape 6"/>
          <p:cNvSpPr/>
          <p:nvPr/>
        </p:nvSpPr>
        <p:spPr>
          <a:xfrm>
            <a:off x="876300" y="3360763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333331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Klassifikatsiya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Adsorbsion (Gmax va K farqi), taqsimlash (eruvchanlik farqi), ion almashinish va eksklyuzion (gel-filtratsiya) xromatografiyalari.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876300" y="4265905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238473"/>
            <a:ext cx="535211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Zamonaviy usullar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Yuqori samarali suyuqlik (HPLC) va gaz xromatografiyasi — analitik kimyoning eng sezgir usullari.</a:t>
            </a:r>
            <a:endParaRPr lang="en-US" sz="1320" dirty="0"/>
          </a:p>
        </p:txBody>
      </p:sp>
      <p:sp>
        <p:nvSpPr>
          <p:cNvPr id="12" name="Shape 10"/>
          <p:cNvSpPr/>
          <p:nvPr/>
        </p:nvSpPr>
        <p:spPr>
          <a:xfrm>
            <a:off x="876300" y="4919586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5756" y="4892154"/>
            <a:ext cx="5352117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Ustun mexanizmi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Harakatchan faza (eluyent) va qoʼzgʼalmas faza (adsorbent) oʼrtasida uzluksiz adsorbsiya-desorbsiya boradi: koeffitsiyenti kichik modda ustundan birinchi chiqadi.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Ajralish ustuni: komponentlar rangli zonalarga boʼlinadi</a:t>
            </a:r>
            <a:endParaRPr lang="en-US" sz="1114" dirty="0"/>
          </a:p>
        </p:txBody>
      </p:sp>
      <p:sp>
        <p:nvSpPr>
          <p:cNvPr id="15" name="Shape 13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22193" y="1121997"/>
            <a:ext cx="4593202" cy="3758074"/>
          </a:xfrm>
          <a:prstGeom prst="roundRect">
            <a:avLst>
              <a:gd name="adj" fmla="val 3406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7" name="Image 0" descr="/home/user/jdakimyo/taqdimot/chiqish/rasm-kichik/gen-xromatografiya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3694066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1" name="Text 18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22</a:t>
            </a:r>
            <a:endParaRPr lang="en-US" sz="990" dirty="0"/>
          </a:p>
        </p:txBody>
      </p:sp>
      <p:sp>
        <p:nvSpPr>
          <p:cNvPr id="22" name="Shape 19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76300" y="6267450"/>
            <a:ext cx="9186404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035272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1596199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C9B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AMALIY TATBIQ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Adsorbsiyaning tibbiyotdagi roli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7C5C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Entero- va gemosorbsiya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Oshqozon-ichak yoʼlidan va qondan toksinlar, zaharli moddalar, allergenlar hamda ogʼir metallarni ajratib olish.</a:t>
            </a:r>
            <a:endParaRPr lang="en-US" sz="1320" dirty="0"/>
          </a:p>
        </p:txBody>
      </p:sp>
      <p:sp>
        <p:nvSpPr>
          <p:cNvPr id="8" name="Shape 6"/>
          <p:cNvSpPr/>
          <p:nvPr/>
        </p:nvSpPr>
        <p:spPr>
          <a:xfrm>
            <a:off x="876300" y="3423628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396196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Biologik membranalar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Hujayra membranasi lipid ikki qavat va oqsil qatlamlaridan tuzilgan: fermentativ va retseptor jarayonlari sirt hodisalariga asoslanadi.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876300" y="4391635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364203"/>
            <a:ext cx="535211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Dori tashuvchilari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Preparatlarning soʼrilishini oshirish uchun ular mikrogʼovak tashuvchilarda immobilizatsiyalanadi.</a:t>
            </a:r>
            <a:endParaRPr lang="en-US" sz="1320" dirty="0"/>
          </a:p>
        </p:txBody>
      </p:sp>
      <p:sp>
        <p:nvSpPr>
          <p:cNvPr id="12" name="Shape 10"/>
          <p:cNvSpPr/>
          <p:nvPr/>
        </p:nvSpPr>
        <p:spPr>
          <a:xfrm>
            <a:off x="876300" y="5108181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5756" y="5080749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Tibbiy sorbentlar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Aktivlangan koʼmir, smekta va politrepan, silikagelli enterosorbentlar (Polisorb), selektiv immunasorbentlar.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Enterosorbent: gʼovak yuza toksinlarni ushlab qoladi</a:t>
            </a:r>
            <a:endParaRPr lang="en-US" sz="1114" dirty="0"/>
          </a:p>
        </p:txBody>
      </p:sp>
      <p:sp>
        <p:nvSpPr>
          <p:cNvPr id="15" name="Shape 13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22193" y="1121997"/>
            <a:ext cx="4593202" cy="3758074"/>
          </a:xfrm>
          <a:prstGeom prst="roundRect">
            <a:avLst>
              <a:gd name="adj" fmla="val 3406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7" name="Image 0" descr="/home/user/jdakimyo/taqdimot/chiqish/rasm-kichik/gen-tibbiyo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3694066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1" name="Text 18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23</a:t>
            </a:r>
            <a:endParaRPr lang="en-US" sz="990" dirty="0"/>
          </a:p>
        </p:txBody>
      </p:sp>
      <p:sp>
        <p:nvSpPr>
          <p:cNvPr id="22" name="Shape 19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76300" y="6267450"/>
            <a:ext cx="9603968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452836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1596199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C9B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AMALIY TATBIQ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620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297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17</a:t>
            </a:r>
            <a:endParaRPr lang="en-US" sz="297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914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86"/>
              </a:lnSpc>
              <a:buNone/>
            </a:pPr>
            <a:r>
              <a:rPr lang="en-US" sz="297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Sanoat va ekologiyadagi amaliy roli</a:t>
            </a:r>
            <a:endParaRPr lang="en-US" sz="2970" dirty="0"/>
          </a:p>
        </p:txBody>
      </p:sp>
      <p:sp>
        <p:nvSpPr>
          <p:cNvPr id="5" name="Shape 3"/>
          <p:cNvSpPr/>
          <p:nvPr/>
        </p:nvSpPr>
        <p:spPr>
          <a:xfrm>
            <a:off x="876300" y="2190445"/>
            <a:ext cx="914400" cy="0"/>
          </a:xfrm>
          <a:prstGeom prst="line">
            <a:avLst/>
          </a:prstGeom>
          <a:noFill/>
          <a:ln w="24765">
            <a:solidFill>
              <a:srgbClr val="7C5C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455621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428189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Gazlarni tozalash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Chiqindi gazlarni H₂S, SO₂, CO₂ va zaharli moddalardan tozalash; sanoat protivogazlarida gazlarni tutib qolish.</a:t>
            </a:r>
            <a:endParaRPr lang="en-US" sz="1320" dirty="0"/>
          </a:p>
        </p:txBody>
      </p:sp>
      <p:sp>
        <p:nvSpPr>
          <p:cNvPr id="8" name="Shape 6"/>
          <p:cNvSpPr/>
          <p:nvPr/>
        </p:nvSpPr>
        <p:spPr>
          <a:xfrm>
            <a:off x="876300" y="3423628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396196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Suvni tozalash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Ichimlik suvi va oqova suvlarni neft mahsulotlari, boʼyoqlar, fenollar hamda sirt-aktiv moddalardan tozalash.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876300" y="4391635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364203"/>
            <a:ext cx="535211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Geterogen kataliz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Sanoat sintez reaksiyalarining 80% gacha qismi katalizator sirtidagi adsorbsiya orqali boradi.</a:t>
            </a:r>
            <a:endParaRPr lang="en-US" sz="1320" dirty="0"/>
          </a:p>
        </p:txBody>
      </p:sp>
      <p:sp>
        <p:nvSpPr>
          <p:cNvPr id="12" name="Shape 10"/>
          <p:cNvSpPr/>
          <p:nvPr/>
        </p:nvSpPr>
        <p:spPr>
          <a:xfrm>
            <a:off x="876300" y="5108181"/>
            <a:ext cx="68580" cy="68580"/>
          </a:xfrm>
          <a:prstGeom prst="diamond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5756" y="5080749"/>
            <a:ext cx="5352117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Sanoat texnologiyalari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7C5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</a:t>
            </a:r>
            <a:pPr algn="l" indent="0" marL="0">
              <a:lnSpc>
                <a:spcPts val="1980"/>
              </a:lnSpc>
              <a:buNone/>
            </a:pPr>
            <a:r>
              <a:rPr lang="en-US" sz="132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Koks gazidan benzol va toluol ajratish, shakar va moylarni rangsizlantirish, molekulyar elaklar (seolitlar) bilan gazlarni quritish.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6740481" y="800100"/>
            <a:ext cx="4547482" cy="2670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1114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Adsorbsion tozalash minorasi: iflos gaz — toza gaz</a:t>
            </a:r>
            <a:endParaRPr lang="en-US" sz="1114" dirty="0"/>
          </a:p>
        </p:txBody>
      </p:sp>
      <p:sp>
        <p:nvSpPr>
          <p:cNvPr id="15" name="Shape 13"/>
          <p:cNvSpPr/>
          <p:nvPr/>
        </p:nvSpPr>
        <p:spPr>
          <a:xfrm>
            <a:off x="6722193" y="973836"/>
            <a:ext cx="201168" cy="0"/>
          </a:xfrm>
          <a:prstGeom prst="line">
            <a:avLst/>
          </a:prstGeom>
          <a:noFill/>
          <a:ln w="20955">
            <a:solidFill>
              <a:srgbClr val="7C5C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22193" y="1121997"/>
            <a:ext cx="4593202" cy="4661583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9525">
            <a:solidFill>
              <a:srgbClr val="7C5CFF">
                <a:alpha val="45000"/>
              </a:srgbClr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30000"/>
              </a:srgbClr>
            </a:outerShdw>
          </a:effectLst>
        </p:spPr>
      </p:sp>
      <p:pic>
        <p:nvPicPr>
          <p:cNvPr id="17" name="Image 0" descr="/home/user/jdakimyo/taqdimot/chiqish/rasm-kichik/gen-sanoa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4197" y="1154001"/>
            <a:ext cx="4529194" cy="4597575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7C5C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332A63">
                <a:alpha val="8500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76300" y="6233160"/>
            <a:ext cx="8610295" cy="2356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3"/>
              </a:lnSpc>
              <a:buNone/>
            </a:pPr>
            <a:r>
              <a:rPr lang="en-US" sz="949" spc="105" kern="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KOLLOID KIMYO · SIRT HODISALARI VA ADSORBSIYA</a:t>
            </a:r>
            <a:endParaRPr lang="en-US" sz="949" dirty="0"/>
          </a:p>
        </p:txBody>
      </p:sp>
      <p:sp>
        <p:nvSpPr>
          <p:cNvPr id="21" name="Text 18"/>
          <p:cNvSpPr/>
          <p:nvPr/>
        </p:nvSpPr>
        <p:spPr>
          <a:xfrm>
            <a:off x="10675315" y="6233160"/>
            <a:ext cx="640080" cy="243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99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24</a:t>
            </a:r>
            <a:endParaRPr lang="en-US" sz="990" dirty="0"/>
          </a:p>
        </p:txBody>
      </p:sp>
      <p:sp>
        <p:nvSpPr>
          <p:cNvPr id="22" name="Shape 19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332A63">
                <a:alpha val="55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76300" y="6267450"/>
            <a:ext cx="10021531" cy="0"/>
          </a:xfrm>
          <a:prstGeom prst="line">
            <a:avLst/>
          </a:prstGeom>
          <a:noFill/>
          <a:ln w="15240">
            <a:solidFill>
              <a:srgbClr val="7C5C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870399" y="6240018"/>
            <a:ext cx="54864" cy="548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2865120"/>
            <a:ext cx="776097" cy="251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7"/>
              </a:lnSpc>
              <a:buNone/>
            </a:pPr>
            <a:r>
              <a:rPr lang="en-US" sz="1031" spc="180" kern="0" dirty="0">
                <a:solidFill>
                  <a:srgbClr val="C9BC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XULOSA</a:t>
            </a:r>
            <a:endParaRPr lang="en-US" sz="1031" dirty="0"/>
          </a:p>
        </p:txBody>
      </p:sp>
      <p:sp>
        <p:nvSpPr>
          <p:cNvPr id="3" name="Text 1"/>
          <p:cNvSpPr/>
          <p:nvPr/>
        </p:nvSpPr>
        <p:spPr>
          <a:xfrm>
            <a:off x="876300" y="3505200"/>
            <a:ext cx="10439095" cy="7237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267"/>
              </a:lnSpc>
              <a:buNone/>
            </a:pPr>
            <a:r>
              <a:rPr lang="en-US" sz="4620" dirty="0">
                <a:solidFill>
                  <a:srgbClr val="F7F5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Asosiy xulosalar</a:t>
            </a:r>
            <a:endParaRPr lang="en-US" sz="4620" dirty="0"/>
          </a:p>
        </p:txBody>
      </p:sp>
      <p:sp>
        <p:nvSpPr>
          <p:cNvPr id="4" name="Shape 2"/>
          <p:cNvSpPr/>
          <p:nvPr/>
        </p:nvSpPr>
        <p:spPr>
          <a:xfrm>
            <a:off x="5455768" y="4411828"/>
            <a:ext cx="1280160" cy="0"/>
          </a:xfrm>
          <a:prstGeom prst="line">
            <a:avLst/>
          </a:prstGeom>
          <a:noFill/>
          <a:ln w="28575">
            <a:solidFill>
              <a:srgbClr val="7C5C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76300" y="4722724"/>
            <a:ext cx="10439095" cy="3335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95"/>
              </a:lnSpc>
              <a:buNone/>
            </a:pPr>
            <a:r>
              <a:rPr lang="en-US" sz="1568" dirty="0">
                <a:solidFill>
                  <a:srgbClr val="B9B0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Sirt energiyasi — barcha sirt hodisalarining manbai</a:t>
            </a:r>
            <a:endParaRPr lang="en-US" sz="1568" dirty="0"/>
          </a:p>
        </p:txBody>
      </p:sp>
      <p:sp>
        <p:nvSpPr>
          <p:cNvPr id="6" name="Text 4"/>
          <p:cNvSpPr/>
          <p:nvPr/>
        </p:nvSpPr>
        <p:spPr>
          <a:xfrm>
            <a:off x="876300" y="5111153"/>
            <a:ext cx="10439095" cy="3335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95"/>
              </a:lnSpc>
              <a:buNone/>
            </a:pPr>
            <a:r>
              <a:rPr lang="en-US" sz="1568" dirty="0">
                <a:solidFill>
                  <a:srgbClr val="B9B0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Izotermalar (Lengmyur, Freyndlih, BET) adsorbsiyani miqdoriy tavsiflaydi</a:t>
            </a:r>
            <a:endParaRPr lang="en-US" sz="1568" dirty="0"/>
          </a:p>
        </p:txBody>
      </p:sp>
      <p:sp>
        <p:nvSpPr>
          <p:cNvPr id="7" name="Text 5"/>
          <p:cNvSpPr/>
          <p:nvPr/>
        </p:nvSpPr>
        <p:spPr>
          <a:xfrm>
            <a:off x="876300" y="5499583"/>
            <a:ext cx="10439095" cy="3335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95"/>
              </a:lnSpc>
              <a:buNone/>
            </a:pPr>
            <a:r>
              <a:rPr lang="en-US" sz="1568" dirty="0">
                <a:solidFill>
                  <a:srgbClr val="B9B0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Adsorbsiya tibbiyot, sanoat va ekologiyada hal qiluvchi jarayon</a:t>
            </a:r>
            <a:endParaRPr lang="en-US" sz="1568" dirty="0"/>
          </a:p>
        </p:txBody>
      </p:sp>
      <p:sp>
        <p:nvSpPr>
          <p:cNvPr id="8" name="Text 6"/>
          <p:cNvSpPr/>
          <p:nvPr/>
        </p:nvSpPr>
        <p:spPr>
          <a:xfrm>
            <a:off x="876300" y="5909310"/>
            <a:ext cx="10439095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48"/>
              </a:lnSpc>
              <a:buNone/>
            </a:pPr>
            <a:r>
              <a:rPr lang="en-US" sz="1320" dirty="0">
                <a:solidFill>
                  <a:srgbClr val="8D82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Savollar uchun rahmat</a:t>
            </a:r>
            <a:endParaRPr lang="en-US" sz="13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2026-10-11T08:05:49Z</dcterms:created>
  <dcterms:modified xsi:type="dcterms:W3CDTF">2026-10-11T08:05:49Z</dcterms:modified>
</cp:coreProperties>
</file>