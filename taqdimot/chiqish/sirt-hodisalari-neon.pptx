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257060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KOLLOID KIMYO · MAʼRUZA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9158935" cy="1633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216"/>
              </a:lnSpc>
              <a:buNone/>
            </a:pPr>
            <a:r>
              <a:rPr lang="en-US" sz="555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Sirt hodisalari va adsorbsiya</a:t>
            </a:r>
            <a:endParaRPr lang="en-US" sz="5550" dirty="0"/>
          </a:p>
        </p:txBody>
      </p:sp>
      <p:sp>
        <p:nvSpPr>
          <p:cNvPr id="4" name="Shape 2"/>
          <p:cNvSpPr/>
          <p:nvPr/>
        </p:nvSpPr>
        <p:spPr>
          <a:xfrm>
            <a:off x="876300" y="2794254"/>
            <a:ext cx="1234440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6300" y="3086862"/>
            <a:ext cx="9158935" cy="3482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Sirt hodisalari termodinamikasi, adsorbsiya izotermalari va amaliy tizimlar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876300" y="5429250"/>
            <a:ext cx="10439095" cy="0"/>
          </a:xfrm>
          <a:prstGeom prst="line">
            <a:avLst/>
          </a:prstGeom>
          <a:noFill/>
          <a:ln w="7620">
            <a:solidFill>
              <a:srgbClr val="332A63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18115" y="5575554"/>
            <a:ext cx="1097280" cy="276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4"/>
              </a:lnSpc>
              <a:buNone/>
            </a:pPr>
            <a:r>
              <a:rPr lang="en-US" sz="1163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16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1376172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MAVZU REJASI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10439095" cy="607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75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Ilmiy programma</a:t>
            </a:r>
            <a:endParaRPr lang="en-US" sz="3750" dirty="0"/>
          </a:p>
        </p:txBody>
      </p:sp>
      <p:sp>
        <p:nvSpPr>
          <p:cNvPr id="4" name="Text 2"/>
          <p:cNvSpPr/>
          <p:nvPr/>
        </p:nvSpPr>
        <p:spPr>
          <a:xfrm>
            <a:off x="876300" y="1859280"/>
            <a:ext cx="384048" cy="32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01</a:t>
            </a:r>
            <a:endParaRPr lang="en-US" sz="1425" dirty="0"/>
          </a:p>
        </p:txBody>
      </p:sp>
      <p:sp>
        <p:nvSpPr>
          <p:cNvPr id="5" name="Text 3"/>
          <p:cNvSpPr/>
          <p:nvPr/>
        </p:nvSpPr>
        <p:spPr>
          <a:xfrm>
            <a:off x="1278636" y="1859280"/>
            <a:ext cx="4561180" cy="568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4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Sirt erkin energiyasi, sirt tarangligi va termodinamik asoslar (Gibbs tenglamasi)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876300" y="2556171"/>
            <a:ext cx="384048" cy="32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02</a:t>
            </a:r>
            <a:endParaRPr lang="en-US" sz="1425" dirty="0"/>
          </a:p>
        </p:txBody>
      </p:sp>
      <p:sp>
        <p:nvSpPr>
          <p:cNvPr id="7" name="Text 5"/>
          <p:cNvSpPr/>
          <p:nvPr/>
        </p:nvSpPr>
        <p:spPr>
          <a:xfrm>
            <a:off x="1278636" y="2556171"/>
            <a:ext cx="4561180" cy="568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4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Sirt tarangligiga taʼsir etuvchi omillar va Antonov qoidasi</a:t>
            </a:r>
            <a:endParaRPr lang="en-US" sz="1425" dirty="0"/>
          </a:p>
        </p:txBody>
      </p:sp>
      <p:sp>
        <p:nvSpPr>
          <p:cNvPr id="8" name="Text 6"/>
          <p:cNvSpPr/>
          <p:nvPr/>
        </p:nvSpPr>
        <p:spPr>
          <a:xfrm>
            <a:off x="876300" y="3253063"/>
            <a:ext cx="384048" cy="32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03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1278636" y="3253063"/>
            <a:ext cx="4561180" cy="568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4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Egri sirtlar termodinamikasi: Laplas va Kelvin (Tomson) tenglamalari</a:t>
            </a:r>
            <a:endParaRPr lang="en-US" sz="1425" dirty="0"/>
          </a:p>
        </p:txBody>
      </p:sp>
      <p:sp>
        <p:nvSpPr>
          <p:cNvPr id="10" name="Text 8"/>
          <p:cNvSpPr/>
          <p:nvPr/>
        </p:nvSpPr>
        <p:spPr>
          <a:xfrm>
            <a:off x="876300" y="3949954"/>
            <a:ext cx="384048" cy="32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04</a:t>
            </a:r>
            <a:endParaRPr lang="en-US" sz="1425" dirty="0"/>
          </a:p>
        </p:txBody>
      </p:sp>
      <p:sp>
        <p:nvSpPr>
          <p:cNvPr id="11" name="Text 9"/>
          <p:cNvSpPr/>
          <p:nvPr/>
        </p:nvSpPr>
        <p:spPr>
          <a:xfrm>
            <a:off x="1278636" y="3949954"/>
            <a:ext cx="4561180" cy="568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4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Sorbsiya jarayonlari: fizikaviy adsorbsiya, xemosorbsiya va kapillyar kondensatlanish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6315304" y="1859280"/>
            <a:ext cx="384048" cy="32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05</a:t>
            </a:r>
            <a:endParaRPr lang="en-US" sz="1425" dirty="0"/>
          </a:p>
        </p:txBody>
      </p:sp>
      <p:sp>
        <p:nvSpPr>
          <p:cNvPr id="13" name="Text 11"/>
          <p:cNvSpPr/>
          <p:nvPr/>
        </p:nvSpPr>
        <p:spPr>
          <a:xfrm>
            <a:off x="6717640" y="1859280"/>
            <a:ext cx="4561180" cy="8258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4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Sirt-aktiv (SAM), sirt-inert (SIM) va sirt-nofaol (SNM) moddalar. Traube-Dyuklo qoidasi</a:t>
            </a:r>
            <a:endParaRPr lang="en-US" sz="1425" dirty="0"/>
          </a:p>
        </p:txBody>
      </p:sp>
      <p:sp>
        <p:nvSpPr>
          <p:cNvPr id="14" name="Text 12"/>
          <p:cNvSpPr/>
          <p:nvPr/>
        </p:nvSpPr>
        <p:spPr>
          <a:xfrm>
            <a:off x="6315304" y="2813156"/>
            <a:ext cx="384048" cy="32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06</a:t>
            </a:r>
            <a:endParaRPr lang="en-US" sz="1425" dirty="0"/>
          </a:p>
        </p:txBody>
      </p:sp>
      <p:sp>
        <p:nvSpPr>
          <p:cNvPr id="15" name="Text 13"/>
          <p:cNvSpPr/>
          <p:nvPr/>
        </p:nvSpPr>
        <p:spPr>
          <a:xfrm>
            <a:off x="6717640" y="2813156"/>
            <a:ext cx="4561180" cy="568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4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Monomolekulyar adsorbsiya nazariyalari: Gibbs va Lengmyur izotermalari</a:t>
            </a:r>
            <a:endParaRPr lang="en-US" sz="1425" dirty="0"/>
          </a:p>
        </p:txBody>
      </p:sp>
      <p:sp>
        <p:nvSpPr>
          <p:cNvPr id="16" name="Text 14"/>
          <p:cNvSpPr/>
          <p:nvPr/>
        </p:nvSpPr>
        <p:spPr>
          <a:xfrm>
            <a:off x="6315304" y="3510047"/>
            <a:ext cx="384048" cy="32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07</a:t>
            </a:r>
            <a:endParaRPr lang="en-US" sz="1425" dirty="0"/>
          </a:p>
        </p:txBody>
      </p:sp>
      <p:sp>
        <p:nvSpPr>
          <p:cNvPr id="17" name="Text 15"/>
          <p:cNvSpPr/>
          <p:nvPr/>
        </p:nvSpPr>
        <p:spPr>
          <a:xfrm>
            <a:off x="6717640" y="3510047"/>
            <a:ext cx="4561180" cy="568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4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Polimolekulyar modellar: Freyndlih, Polyani va BET (Brunauer–Emmett–Teller)</a:t>
            </a:r>
            <a:endParaRPr lang="en-US" sz="1425" dirty="0"/>
          </a:p>
        </p:txBody>
      </p:sp>
      <p:sp>
        <p:nvSpPr>
          <p:cNvPr id="18" name="Text 16"/>
          <p:cNvSpPr/>
          <p:nvPr/>
        </p:nvSpPr>
        <p:spPr>
          <a:xfrm>
            <a:off x="6315304" y="4206939"/>
            <a:ext cx="384048" cy="32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08</a:t>
            </a:r>
            <a:endParaRPr lang="en-US" sz="1425" dirty="0"/>
          </a:p>
        </p:txBody>
      </p:sp>
      <p:sp>
        <p:nvSpPr>
          <p:cNvPr id="19" name="Text 17"/>
          <p:cNvSpPr/>
          <p:nvPr/>
        </p:nvSpPr>
        <p:spPr>
          <a:xfrm>
            <a:off x="6717640" y="4206939"/>
            <a:ext cx="4561180" cy="568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4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Qattiq adsorbentlar va eritmalardan adsorbsiya: Panet-Fayans, Rebinder, xromatografiya</a:t>
            </a:r>
            <a:endParaRPr lang="en-US" sz="1425" dirty="0"/>
          </a:p>
        </p:txBody>
      </p:sp>
      <p:sp>
        <p:nvSpPr>
          <p:cNvPr id="20" name="Shape 18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3" name="Text 21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76300" y="6267450"/>
            <a:ext cx="835128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83996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2912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15000" dirty="0">
                <a:solidFill>
                  <a:srgbClr val="312A6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01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7C5C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48475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BIRINCHI QISM</a:t>
            </a:r>
            <a:endParaRPr lang="en-US" sz="938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6846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959"/>
              </a:lnSpc>
              <a:buNone/>
            </a:pPr>
            <a:r>
              <a:rPr lang="en-US" sz="435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Sirt termodinamikasi</a:t>
            </a:r>
            <a:endParaRPr lang="en-US" sz="4350" dirty="0"/>
          </a:p>
        </p:txBody>
      </p:sp>
      <p:sp>
        <p:nvSpPr>
          <p:cNvPr id="6" name="Shape 4"/>
          <p:cNvSpPr/>
          <p:nvPr/>
        </p:nvSpPr>
        <p:spPr>
          <a:xfrm>
            <a:off x="876300" y="4145661"/>
            <a:ext cx="1005840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4474845"/>
            <a:ext cx="7894015" cy="358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93"/>
              </a:lnSpc>
              <a:buNone/>
            </a:pPr>
            <a:r>
              <a:rPr lang="en-US" sz="1650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Sirt energiyasi, sirt tarangligi, sirt-aktiv moddalar va egri sirtlar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1252691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01559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244852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TERMODINAMIKASI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7C5C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01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Sirt qatlamidagi ortiqcha erkin energiya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112264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377440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350008"/>
            <a:ext cx="5352117" cy="1083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Molekulalararo oʼzaro taʼsir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Hajmdagi molekula (A) barcha yoʼnalishlarda teng kuchlar bilan tortiladi (ΣF = 0). Sirt qatlamidagi molekula (B) esa faqat suyuqlik ichiga tortiladi — uning kuch maydoni kompensatsiyalanmagan.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76300" y="3677793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650361"/>
            <a:ext cx="5352117" cy="1083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erkin energiyasi (Gs)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Molekulani hajmdan sirtga chiqarish uchun tortishish kuchlariga qarshi ish bajarilishi kerak. Bu ish sirtda ortiqcha erkin energiya koʼrinishida toʼplanadi.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6300" y="4978146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50714"/>
            <a:ext cx="5352117" cy="826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tarangligi (σ)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Sirt yuzasini 1 m² ga oshirish uchun sarflanadigan solishtirma erkin sirt energiyasi yoki sirtga urinma yoʼnalishda taʼsir etuvchi kuch [mN/m yoki J/m²].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40481" y="239572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erkin energiyasi tenglamasi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6722193" y="2569464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2706624"/>
            <a:ext cx="4593202" cy="736092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5" name="Image 0" descr="/home/user/jdakimyo/taqdimot/kontent/rasmlar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5423" y="2761488"/>
            <a:ext cx="3566743" cy="62636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589020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Termodinamikaning I va II qonuni birlashuvi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6722193" y="3762756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3899916"/>
            <a:ext cx="4593202" cy="736092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1" descr="/home/user/jdakimyo/taqdimot/kontent/rasmlar/image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5423" y="3954780"/>
            <a:ext cx="3566743" cy="62636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782312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tarangligining termodinamik taʼrifi</a:t>
            </a:r>
            <a:endParaRPr lang="en-US" sz="1013" dirty="0"/>
          </a:p>
        </p:txBody>
      </p:sp>
      <p:sp>
        <p:nvSpPr>
          <p:cNvPr id="21" name="Shape 17"/>
          <p:cNvSpPr/>
          <p:nvPr/>
        </p:nvSpPr>
        <p:spPr>
          <a:xfrm>
            <a:off x="6722193" y="4956048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5093208"/>
            <a:ext cx="4593202" cy="736092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23" name="Image 2" descr="/home/user/jdakimyo/taqdimot/kontent/rasmlar/image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5423" y="5148072"/>
            <a:ext cx="3566743" cy="626364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04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1670255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2519123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244852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TERMODINAMIKASI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7C5C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02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Sirt tarangligiga taʼsir etuvchi omillar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112264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377440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350008"/>
            <a:ext cx="5352117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Modda tabiati va qutbliligi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Molekulalararo bogʼlanish qancha kuchli boʼlsa (vodorod bogʼlar, ionli bogʼlar), sirt tarangligi shuncha yuqori boʼladi: suvda σ = 72,8 mN/m, simobda σ = 475 mN/m.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876300" y="3682556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655124"/>
            <a:ext cx="5352117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Harorat taʼsiri (T)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Harorat ortishi bilan molekulalarning issiqlik harakati kuchayadi, molekulalararo tortishish zaiflashadi va sirt tarangligi chiziqli kamayadi. Kritik haroratda (Tk) σ = 0 boʼladi.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876300" y="498767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60239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Antonov qoidasi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Oʼzaro cheklangan eruvchan ikki suyuqlik chegarasidagi sirt tarangligi ularning toʼyingan faza sirt tarangliklari ayirmasiga teng.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6740481" y="239572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tarangligining haroratga bogʼliqligi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6722193" y="2569464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2706624"/>
            <a:ext cx="4593202" cy="403311"/>
          </a:xfrm>
          <a:prstGeom prst="roundRect">
            <a:avLst>
              <a:gd name="adj" fmla="val 3174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5" name="Image 0" descr="/home/user/jdakimyo/taqdimot/kontent/rasmlar/image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2909" y="2761488"/>
            <a:ext cx="1671770" cy="293583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256239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Antonov qoidasi tenglamasi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6722193" y="3429975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3567135"/>
            <a:ext cx="4593202" cy="403311"/>
          </a:xfrm>
          <a:prstGeom prst="roundRect">
            <a:avLst>
              <a:gd name="adj" fmla="val 3174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1" descr="/home/user/jdakimyo/taqdimot/kontent/rasmlar/image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2909" y="3621999"/>
            <a:ext cx="1671770" cy="293583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116751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va hajm molekulalariga taʼsir etuvchi kuchlar</a:t>
            </a:r>
            <a:endParaRPr lang="en-US" sz="1013" dirty="0"/>
          </a:p>
        </p:txBody>
      </p:sp>
      <p:sp>
        <p:nvSpPr>
          <p:cNvPr id="21" name="Shape 17"/>
          <p:cNvSpPr/>
          <p:nvPr/>
        </p:nvSpPr>
        <p:spPr>
          <a:xfrm>
            <a:off x="6722193" y="4290487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4427647"/>
            <a:ext cx="4593202" cy="1531067"/>
          </a:xfrm>
          <a:prstGeom prst="roundRect">
            <a:avLst>
              <a:gd name="adj" fmla="val 836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23" name="Image 2" descr="/home/user/jdakimyo/taqdimot/kontent/rasmlar/image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2790" y="4482511"/>
            <a:ext cx="2132009" cy="1421339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2087819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2936687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244852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TERMODINAMIKASI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7C5C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03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Sirt-aktiv moddalar va Traube-Dyuklo qoidasi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112264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377440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350008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aktivligi (g)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Erigan moddaning sirt tarangligini pasaytirish qobiliyati. Chegarada g = −dσ/dC (C → 0 sharoitida) koʼrinishida aniqlanadi.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876300" y="3411093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383661"/>
            <a:ext cx="5352117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Traube-Dyuklo qoidasi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 xil gomologik qatordagi sirt-aktiv moddalarning (spirtlar, yogʼ kislotalari) uglevodorod zanjiri bitta −CH₂− guruhga uzayganda, ularning sirt aktivligi 3,0–3,5 baravar ortadi.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876300" y="4716209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688777"/>
            <a:ext cx="5352117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Fizikaviy sababi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Uglevodorod radikali suv muhitidan sirt qatlamiga gidrofob kuchlar taʼsirida siqib chiqariladi — molekula sirtda «dumini koʼtarib» joylashadi.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6740481" y="239572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Rebinder boʼyicha sirt aktivlik taʼrifi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6722193" y="2569464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2706624"/>
            <a:ext cx="4593202" cy="403311"/>
          </a:xfrm>
          <a:prstGeom prst="roundRect">
            <a:avLst>
              <a:gd name="adj" fmla="val 3174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5" name="Image 0" descr="/home/user/jdakimyo/taqdimot/kontent/rasmlar/image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2909" y="2761488"/>
            <a:ext cx="1671770" cy="293583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256239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Traube-Dyuklo koeffitsiyenti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6722193" y="3429975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3567135"/>
            <a:ext cx="4593202" cy="403311"/>
          </a:xfrm>
          <a:prstGeom prst="roundRect">
            <a:avLst>
              <a:gd name="adj" fmla="val 3174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1" descr="/home/user/jdakimyo/taqdimot/kontent/rasmlar/imag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2909" y="3621999"/>
            <a:ext cx="1671770" cy="293583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116751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Spirtlar gomologik qatorida sirt tarangligi</a:t>
            </a:r>
            <a:endParaRPr lang="en-US" sz="1013" dirty="0"/>
          </a:p>
        </p:txBody>
      </p:sp>
      <p:sp>
        <p:nvSpPr>
          <p:cNvPr id="21" name="Shape 17"/>
          <p:cNvSpPr/>
          <p:nvPr/>
        </p:nvSpPr>
        <p:spPr>
          <a:xfrm>
            <a:off x="6722193" y="4290487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4427647"/>
            <a:ext cx="4593202" cy="1454514"/>
          </a:xfrm>
          <a:prstGeom prst="roundRect">
            <a:avLst>
              <a:gd name="adj" fmla="val 880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23" name="Image 2" descr="/home/user/jdakimyo/taqdimot/kontent/rasmlar/image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7121" y="4482511"/>
            <a:ext cx="2123346" cy="134478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06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2505383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3354251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244852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TERMODINAMIKASI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7C5C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04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Egri sirtlar: Laplas va Kelvin tenglamalari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112264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377440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350008"/>
            <a:ext cx="5352117" cy="826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Kapillyar bosim (Laplas)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Suyuqlik sirti egrilanganda (tomchi, pufakcha, kapillyar menisk) sirt taranglik kuchlari natijasida qoʼshimcha Laplas bosimi ΔP hosil boʼladi.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76300" y="3420618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393186"/>
            <a:ext cx="5352117" cy="1083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Botiq va qabariq menisklar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Qabariq sirtda (tomchi) ichki bosim ortadi (ΔP &gt; 0). Botiq sirtda (kapillyar) bosim pasayadi (ΔP &lt; 0) — bu kapillyar koʼtarilishga sabab boʼladi.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6300" y="472097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693539"/>
            <a:ext cx="5352117" cy="1083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Kelvin (Tomson) tenglamasi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Kichik tomchilar ustidagi toʼyingan bugʼ bosimi (Pr) tekis sirt ustidagi bosimdan (P₀) yuqori boʼladi. Botiq kapillyarlarda esa bugʼ bosimi pasayadi — kapillyar kondensatlanish shu asosda kechadi.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40481" y="239572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Laplas tenglamasi (sferik sirt)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6722193" y="2569464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2706624"/>
            <a:ext cx="4593202" cy="806623"/>
          </a:xfrm>
          <a:prstGeom prst="roundRect">
            <a:avLst>
              <a:gd name="adj" fmla="val 1587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5" name="Image 0" descr="/home/user/jdakimyo/taqdimot/kontent/rasmlar/image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609" y="2761488"/>
            <a:ext cx="3968371" cy="69689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659551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Kelvin (Tomson) tenglamasi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6722193" y="3833287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3970447"/>
            <a:ext cx="4593202" cy="806623"/>
          </a:xfrm>
          <a:prstGeom prst="roundRect">
            <a:avLst>
              <a:gd name="adj" fmla="val 1587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1" descr="/home/user/jdakimyo/taqdimot/kontent/rasmlar/image1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4609" y="4025311"/>
            <a:ext cx="3968371" cy="696895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3" name="Text 19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07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76300" y="6267450"/>
            <a:ext cx="2922947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3771815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2912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15000" dirty="0">
                <a:solidFill>
                  <a:srgbClr val="312A6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02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7C5C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48475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IKKINCHI QISM</a:t>
            </a:r>
            <a:endParaRPr lang="en-US" sz="938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959"/>
              </a:lnSpc>
              <a:buNone/>
            </a:pPr>
            <a:r>
              <a:rPr lang="en-US" sz="435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Sorbsiya va adsorbsiya asoslari</a:t>
            </a:r>
            <a:endParaRPr lang="en-US" sz="4350" dirty="0"/>
          </a:p>
        </p:txBody>
      </p:sp>
      <p:sp>
        <p:nvSpPr>
          <p:cNvPr id="6" name="Shape 4"/>
          <p:cNvSpPr/>
          <p:nvPr/>
        </p:nvSpPr>
        <p:spPr>
          <a:xfrm>
            <a:off x="876300" y="4775454"/>
            <a:ext cx="1005840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5104638"/>
            <a:ext cx="7894015" cy="358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93"/>
              </a:lnSpc>
              <a:buNone/>
            </a:pPr>
            <a:r>
              <a:rPr lang="en-US" sz="1650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Jarayonlar tasnifi, miqdoriy koʼrsatkichlar va Gibbs tenglamasi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08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3340510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9378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343928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SORBSIYA VA ADSORBSIYA ASOSLARI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10439095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828"/>
              </a:lnSpc>
              <a:buNone/>
            </a:pPr>
            <a:r>
              <a:rPr lang="en-US" sz="330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Sorbsiya hodisalarining mexanizmi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76300" y="2149688"/>
            <a:ext cx="3333394" cy="2932652"/>
          </a:xfrm>
          <a:prstGeom prst="roundRect">
            <a:avLst>
              <a:gd name="adj" fmla="val 5924"/>
            </a:avLst>
          </a:prstGeom>
          <a:solidFill>
            <a:srgbClr val="1A1440"/>
          </a:solidFill>
          <a:ln w="9525">
            <a:solidFill>
              <a:srgbClr val="3B2E7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4044" y="2424008"/>
            <a:ext cx="402336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4044" y="2606888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7C5C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14044" y="3009224"/>
            <a:ext cx="2876194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F7F5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Adsorbsiya (sirtqi)</a:t>
            </a:r>
            <a:endParaRPr lang="en-US" sz="1575" dirty="0"/>
          </a:p>
        </p:txBody>
      </p:sp>
      <p:sp>
        <p:nvSpPr>
          <p:cNvPr id="8" name="Text 6"/>
          <p:cNvSpPr/>
          <p:nvPr/>
        </p:nvSpPr>
        <p:spPr>
          <a:xfrm>
            <a:off x="1114044" y="3387271"/>
            <a:ext cx="2876194" cy="1269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Moddaning fazalar ajralish sirtida (qattiq/gaz, qattiq/suyuqlik) toʼplanishi. Sirtqi hodisa; tez muvozanatga erishadi; qaytar — desorbsiya kuzatiladi.</a:t>
            </a:r>
            <a:endParaRPr lang="en-US" sz="1275" dirty="0"/>
          </a:p>
        </p:txBody>
      </p:sp>
      <p:sp>
        <p:nvSpPr>
          <p:cNvPr id="9" name="Shape 7"/>
          <p:cNvSpPr/>
          <p:nvPr/>
        </p:nvSpPr>
        <p:spPr>
          <a:xfrm>
            <a:off x="4429150" y="2149688"/>
            <a:ext cx="3333394" cy="2932652"/>
          </a:xfrm>
          <a:prstGeom prst="roundRect">
            <a:avLst>
              <a:gd name="adj" fmla="val 5924"/>
            </a:avLst>
          </a:prstGeom>
          <a:solidFill>
            <a:srgbClr val="1A1440"/>
          </a:solidFill>
          <a:ln w="9525">
            <a:solidFill>
              <a:srgbClr val="3B2E7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6894" y="2424008"/>
            <a:ext cx="402336" cy="0"/>
          </a:xfrm>
          <a:prstGeom prst="line">
            <a:avLst/>
          </a:prstGeom>
          <a:noFill/>
          <a:ln w="28575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6894" y="2606888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7C5C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666894" y="3009224"/>
            <a:ext cx="2876194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F7F5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Absorbsiya (hajmiy)</a:t>
            </a:r>
            <a:endParaRPr lang="en-US" sz="1575" dirty="0"/>
          </a:p>
        </p:txBody>
      </p:sp>
      <p:sp>
        <p:nvSpPr>
          <p:cNvPr id="13" name="Text 11"/>
          <p:cNvSpPr/>
          <p:nvPr/>
        </p:nvSpPr>
        <p:spPr>
          <a:xfrm>
            <a:off x="4666894" y="3387271"/>
            <a:ext cx="2876194" cy="1269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Yutilayotgan moddaning ikkinchi faza (suyuqlik yoki qattiq jism) hajmi boʼylab tekis tarqalishi. Diffuziya bilan bogʼliq, sekin boradi.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7982001" y="2149688"/>
            <a:ext cx="3333394" cy="2932652"/>
          </a:xfrm>
          <a:prstGeom prst="roundRect">
            <a:avLst>
              <a:gd name="adj" fmla="val 5924"/>
            </a:avLst>
          </a:prstGeom>
          <a:solidFill>
            <a:srgbClr val="1A1440"/>
          </a:solidFill>
          <a:ln w="9525">
            <a:solidFill>
              <a:srgbClr val="3B2E7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19745" y="2424008"/>
            <a:ext cx="402336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9745" y="2606888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7C5C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03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8219745" y="3009224"/>
            <a:ext cx="2876194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F7F5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Kapillyar kondensatlanish</a:t>
            </a:r>
            <a:endParaRPr lang="en-US" sz="1575" dirty="0"/>
          </a:p>
        </p:txBody>
      </p:sp>
      <p:sp>
        <p:nvSpPr>
          <p:cNvPr id="18" name="Text 16"/>
          <p:cNvSpPr/>
          <p:nvPr/>
        </p:nvSpPr>
        <p:spPr>
          <a:xfrm>
            <a:off x="8219745" y="3387271"/>
            <a:ext cx="2876194" cy="1512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Gʼovak adsorbentlarda botiq menisklar hosil boʼlishi natijasida bugʼning P &lt; P₀ bosimda suyuqlikka aylanishi. Kelvin tenglamasi va histerezis sirtlari bilan tavsiflanadi.</a:t>
            </a:r>
            <a:endParaRPr lang="en-US" sz="1275" dirty="0"/>
          </a:p>
        </p:txBody>
      </p:sp>
      <p:sp>
        <p:nvSpPr>
          <p:cNvPr id="19" name="Shape 17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2" name="Text 20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09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6300" y="6267450"/>
            <a:ext cx="3758074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06942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43928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SORBSIYA VA ADSORBSIYA ASOSLARI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7C5C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06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Miqdoriy koʼrsatkichlar va absolyut adsorbsiya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112264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377440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350008"/>
            <a:ext cx="5352117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Asosiy tushunchalar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Adsorbent — sirtida adsorbsiya sodir boʼladigan qattiq yoki suyuq modda. Adsorbtiv — adsorbsiyalanuvchi modda. Adsorbat — sirtda ushlanib qolgan modda.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876300" y="3755898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728466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Absolyut adsorbsiya (a)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Adsorbentning birlik massasi (m) yoki birlik sirt yuzasida (S) toʼplangan adsorbatning mol miqdori.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876300" y="4862894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835462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Gibbs ortiqcha adsorbsiyasi (G)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Sirt qatlamidagi modda miqdorining hajm konsentratsiyasiga nisbatan ortiqcha qismi [mol/m²].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6740481" y="239572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Absolyut adsorbsiya (a)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6722193" y="2569464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2706624"/>
            <a:ext cx="4593202" cy="806623"/>
          </a:xfrm>
          <a:prstGeom prst="roundRect">
            <a:avLst>
              <a:gd name="adj" fmla="val 1587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5" name="Image 0" descr="/home/user/jdakimyo/taqdimot/kontent/rasmlar/image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609" y="2761488"/>
            <a:ext cx="3968371" cy="69689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659551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Gibbs ortiqcha adsorbsiyasi (G)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6722193" y="3833287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3970447"/>
            <a:ext cx="4593202" cy="806623"/>
          </a:xfrm>
          <a:prstGeom prst="roundRect">
            <a:avLst>
              <a:gd name="adj" fmla="val 1587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1" descr="/home/user/jdakimyo/taqdimot/kontent/rasmlar/image1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4609" y="4025311"/>
            <a:ext cx="3968371" cy="696895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3" name="Text 19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10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76300" y="6267450"/>
            <a:ext cx="4175638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024506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43928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SORBSIYA VA ADSORBSIYA ASOSLARI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7C5C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07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Gibbsning fundamental adsorbsiya tenglamasi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112264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377440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350008"/>
            <a:ext cx="5352117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Tenglamaning mohiyati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Sirt tarangligining konsentratsiyaga qarab oʼzgarishi (dσ/dC) bilan sirtda modda toʼplanishi (G) oʼrtasidagi fundamental termodinamik bogʼliqlik.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876300" y="3755898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728466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Musbat adsorbsiya (G &gt; 0)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dσ/dC &lt; 0 boʼlsa (sirt-aktiv moddalar), G &gt; 0 — modda sirtda toʼplanadi va sirt tarangligini pasaytiradi.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876300" y="4862894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835462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Manfiy adsorbsiya (G &lt; 0)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dσ/dC &gt; 0 boʼlsa (sirt-inert moddalar), G &lt; 0 — modda hajmga oʼtadi, sirt qatlamida kamayadi.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6740481" y="239572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Gibbs tenglamasi (konsentratsiyali)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6722193" y="2569464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2706624"/>
            <a:ext cx="4593202" cy="403311"/>
          </a:xfrm>
          <a:prstGeom prst="roundRect">
            <a:avLst>
              <a:gd name="adj" fmla="val 3174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5" name="Image 0" descr="/home/user/jdakimyo/taqdimot/kontent/rasmlar/image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2909" y="2761488"/>
            <a:ext cx="1671770" cy="293583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256239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Gibbs tenglamasi (aktivlikli)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6722193" y="3429975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3567135"/>
            <a:ext cx="4593202" cy="403311"/>
          </a:xfrm>
          <a:prstGeom prst="roundRect">
            <a:avLst>
              <a:gd name="adj" fmla="val 3174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1" descr="/home/user/jdakimyo/taqdimot/kontent/rasmlar/image1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2909" y="3621999"/>
            <a:ext cx="1671770" cy="293583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116751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SAM, SIM va SNM moddalar uchun σ(C) egri chiziqlari</a:t>
            </a:r>
            <a:endParaRPr lang="en-US" sz="1013" dirty="0"/>
          </a:p>
        </p:txBody>
      </p:sp>
      <p:sp>
        <p:nvSpPr>
          <p:cNvPr id="21" name="Shape 17"/>
          <p:cNvSpPr/>
          <p:nvPr/>
        </p:nvSpPr>
        <p:spPr>
          <a:xfrm>
            <a:off x="6722193" y="4290487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4427647"/>
            <a:ext cx="4593202" cy="1454514"/>
          </a:xfrm>
          <a:prstGeom prst="roundRect">
            <a:avLst>
              <a:gd name="adj" fmla="val 880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23" name="Image 2" descr="/home/user/jdakimyo/taqdimot/kontent/rasmlar/image1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7121" y="4482511"/>
            <a:ext cx="2123346" cy="134478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11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4593202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442070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2912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15000" dirty="0">
                <a:solidFill>
                  <a:srgbClr val="312A6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03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7C5C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48475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UCHINCHI QISM</a:t>
            </a:r>
            <a:endParaRPr lang="en-US" sz="938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6846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959"/>
              </a:lnSpc>
              <a:buNone/>
            </a:pPr>
            <a:r>
              <a:rPr lang="en-US" sz="435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Monomolekulyar adsorbsiya</a:t>
            </a:r>
            <a:endParaRPr lang="en-US" sz="4350" dirty="0"/>
          </a:p>
        </p:txBody>
      </p:sp>
      <p:sp>
        <p:nvSpPr>
          <p:cNvPr id="6" name="Shape 4"/>
          <p:cNvSpPr/>
          <p:nvPr/>
        </p:nvSpPr>
        <p:spPr>
          <a:xfrm>
            <a:off x="876300" y="4145661"/>
            <a:ext cx="1005840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4474845"/>
            <a:ext cx="7894015" cy="358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93"/>
              </a:lnSpc>
              <a:buNone/>
            </a:pPr>
            <a:r>
              <a:rPr lang="en-US" sz="1650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Shishkovskiy tenglamasi, Lengmyur nazariyasi va izoterma sohalari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5010766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59634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78777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MONOMOLEKULYAR ADSORBSIYA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7C5C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08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Shishkovskiy tenglamasi va molekula oʼlchamlari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112264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377440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350008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Shishkovskiy tenglamasi (1908)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Sirt-aktiv moddalar konsentratsiyasi ortishi bilan sirt tarangligi pasayishini empirik ravishda ifodalaydi.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876300" y="3484436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457004"/>
            <a:ext cx="5352117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Gibbs va Lengmyur bilan bogʼlanishi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Shishkovskiy konstantasi B = Gmax·RT ekanligi isbotlandi — bu Gibbs tenglamasidan Lengmyur izotermasiga oʼtish imkonini berdi.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876300" y="4862894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835462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Molekula parametrlari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Gmax qiymatidan molekulaning sirtda egallagan koʼndalang kesim yuzasi (S₀) va sirt qatlamining qalinligi (l) aniqlanadi.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6740481" y="239572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Shishkovskiy empirik tenglamasi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6722193" y="2569464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2706624"/>
            <a:ext cx="4593202" cy="736730"/>
          </a:xfrm>
          <a:prstGeom prst="roundRect">
            <a:avLst>
              <a:gd name="adj" fmla="val 17376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5" name="Image 0" descr="/home/user/jdakimyo/taqdimot/kontent/rasmlar/image1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606" y="2761488"/>
            <a:ext cx="3570377" cy="627002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58965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Gibbs-Lengmyur birlashgan tenglamasi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6722193" y="3763394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3900554"/>
            <a:ext cx="4593202" cy="734816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1" descr="/home/user/jdakimyo/taqdimot/kontent/rasmlar/image1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4420" y="3955418"/>
            <a:ext cx="3568749" cy="62508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781674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Molekula oʼlchamlari formulalari</a:t>
            </a:r>
            <a:endParaRPr lang="en-US" sz="1013" dirty="0"/>
          </a:p>
        </p:txBody>
      </p:sp>
      <p:sp>
        <p:nvSpPr>
          <p:cNvPr id="21" name="Shape 17"/>
          <p:cNvSpPr/>
          <p:nvPr/>
        </p:nvSpPr>
        <p:spPr>
          <a:xfrm>
            <a:off x="6722193" y="4955410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5092570"/>
            <a:ext cx="4593202" cy="736730"/>
          </a:xfrm>
          <a:prstGeom prst="roundRect">
            <a:avLst>
              <a:gd name="adj" fmla="val 17376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23" name="Image 2" descr="/home/user/jdakimyo/taqdimot/kontent/rasmlar/image1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3606" y="5147434"/>
            <a:ext cx="3570377" cy="627002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13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5428330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277198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78777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MONOMOLEKULYAR ADSORBSIYA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7C5C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09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Lengmyurning monomolekulyar nazariyasi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112264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377440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350008"/>
            <a:ext cx="5352117" cy="1597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Lengmyur postulatlari (1915)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Adsorbsiya adsorbent sirtidagi diskret faol markazlarda sodir boʼladi. 2. Har bir faol markaz faqat bitta adsorbat molekulasini tuta oladi (monoqavat). 3. Faol markazlar energetik jihatdan teng va bir-biriga taʼsir etmaydi. 4. Jarayon dinamik muvozanatda: adsorbsiya tezligi = desorbsiya tezligi.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76300" y="4192143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4164711"/>
            <a:ext cx="5352117" cy="826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Izoterma shakli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Adsorbsiya toʼyingan qiymatga intiladi: past konsentratsiyada keskin oʼsadi, yuqorisida esa gorizontalga yaqinlashadi.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6300" y="523532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5207889"/>
            <a:ext cx="5352117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toʼlish darajasi (θ)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θ = G/Gmax — sirtning qancha qismi monoqavat bilan qoplanganini koʼrsatadi (0 ≤ θ ≤ 1).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40481" y="239572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Lengmyur adsorbsiya izotermasi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6722193" y="2569464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2706624"/>
            <a:ext cx="4593202" cy="403311"/>
          </a:xfrm>
          <a:prstGeom prst="roundRect">
            <a:avLst>
              <a:gd name="adj" fmla="val 3174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5" name="Image 0" descr="/home/user/jdakimyo/taqdimot/kontent/rasmlar/image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2909" y="2761488"/>
            <a:ext cx="1671770" cy="293583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256239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toʼlish darajasi (θ)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6722193" y="3429975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3567135"/>
            <a:ext cx="4593202" cy="403311"/>
          </a:xfrm>
          <a:prstGeom prst="roundRect">
            <a:avLst>
              <a:gd name="adj" fmla="val 3174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1" descr="/home/user/jdakimyo/taqdimot/kontent/rasmlar/image2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2909" y="3621999"/>
            <a:ext cx="1671770" cy="293583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116751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Lengmyur izotermasi grafigi va sohalari</a:t>
            </a:r>
            <a:endParaRPr lang="en-US" sz="1013" dirty="0"/>
          </a:p>
        </p:txBody>
      </p:sp>
      <p:sp>
        <p:nvSpPr>
          <p:cNvPr id="21" name="Shape 17"/>
          <p:cNvSpPr/>
          <p:nvPr/>
        </p:nvSpPr>
        <p:spPr>
          <a:xfrm>
            <a:off x="6722193" y="4290487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4427647"/>
            <a:ext cx="4593202" cy="1407594"/>
          </a:xfrm>
          <a:prstGeom prst="roundRect">
            <a:avLst>
              <a:gd name="adj" fmla="val 9095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23" name="Image 2" descr="/home/user/jdakimyo/taqdimot/kontent/rasmlar/image2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0009" y="4482511"/>
            <a:ext cx="2117571" cy="129786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14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5845893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694761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78777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MONOMOLEKULYAR ADSORBSIYA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7C5C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10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1227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Lengmyur izotermasining sohalari va linearizatsiyasi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503170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768346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740914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Genri sohasi (C → 0)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Juda kam konsentratsiyada KC ≪ 1, shunda G = Gmax·K·C = KH·C. Adsorbsiya konsentratsiyaga toʼgʼri mutanosib.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876300" y="3852672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825240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Toʼyinish sohasi (C → ∞)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Yuqori konsentratsiyada KC ≫ 1, shunda G = Gmax. Adsorbent sirti toʼliq monoqavat bilan qoplanadi.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876300" y="4936998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09566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Linearizatsiya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Tajriba maʼlumotlaridan Gmax va K doimiylarini grafik usulda aniqlash uchun 1/G ga nisbatan 1/C grafigi chiziladi.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6740481" y="2786634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Lengmyur tenglamasining chiziqli shakli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6722193" y="2960370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3097530"/>
            <a:ext cx="4593202" cy="606420"/>
          </a:xfrm>
          <a:prstGeom prst="roundRect">
            <a:avLst>
              <a:gd name="adj" fmla="val 21110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5" name="Image 0" descr="/home/user/jdakimyo/taqdimot/kontent/rasmlar/image2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4622" y="3152394"/>
            <a:ext cx="2828344" cy="496692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850254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Genri sohasi chegarasi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6722193" y="4023990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4161150"/>
            <a:ext cx="4593202" cy="60453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1" descr="/home/user/jdakimyo/taqdimot/kontent/rasmlar/image2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5599" y="4216014"/>
            <a:ext cx="2826391" cy="49480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911984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Toʼyinish sohasi chegarasi</a:t>
            </a:r>
            <a:endParaRPr lang="en-US" sz="1013" dirty="0"/>
          </a:p>
        </p:txBody>
      </p:sp>
      <p:sp>
        <p:nvSpPr>
          <p:cNvPr id="21" name="Shape 17"/>
          <p:cNvSpPr/>
          <p:nvPr/>
        </p:nvSpPr>
        <p:spPr>
          <a:xfrm>
            <a:off x="6722193" y="5085720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5222880"/>
            <a:ext cx="4593202" cy="606420"/>
          </a:xfrm>
          <a:prstGeom prst="roundRect">
            <a:avLst>
              <a:gd name="adj" fmla="val 21110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23" name="Image 2" descr="/home/user/jdakimyo/taqdimot/kontent/rasmlar/image2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4622" y="5277744"/>
            <a:ext cx="2828344" cy="496692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15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6263457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112325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2912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15000" dirty="0">
                <a:solidFill>
                  <a:srgbClr val="312A6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04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7C5C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70192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TOʼRTINCHI QISM</a:t>
            </a:r>
            <a:endParaRPr lang="en-US" sz="938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959"/>
              </a:lnSpc>
              <a:buNone/>
            </a:pPr>
            <a:r>
              <a:rPr lang="en-US" sz="435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Polimolekulyar modellar va adsorbentlar</a:t>
            </a:r>
            <a:endParaRPr lang="en-US" sz="4350" dirty="0"/>
          </a:p>
        </p:txBody>
      </p:sp>
      <p:sp>
        <p:nvSpPr>
          <p:cNvPr id="6" name="Shape 4"/>
          <p:cNvSpPr/>
          <p:nvPr/>
        </p:nvSpPr>
        <p:spPr>
          <a:xfrm>
            <a:off x="876300" y="4775454"/>
            <a:ext cx="1005840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5104638"/>
            <a:ext cx="7894015" cy="358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93"/>
              </a:lnSpc>
              <a:buNone/>
            </a:pPr>
            <a:r>
              <a:rPr lang="en-US" sz="1650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Freyndlih, BET nazariyasi, gʼovaklik tasnifi va Rebinder qoidasi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16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6681021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29889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57060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POLIMOLEKULYAR MODELLAR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7C5C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11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Freyndlihning empirik izotermasi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112264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377440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350008"/>
            <a:ext cx="5352117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Tenglama (1909)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Gʼovak va energetik jihatdan bir jinsli boʼlmagan adsorbentlarda oʼrtacha konsentratsiyalar sohasida adsorbsiyani ifodalovchi empirik darajali tenglama.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876300" y="3755898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728466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Tenglama doimiylari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β — adsorbsion sigʼim koeffitsiyenti; 1/n — sirtning energetik bir jinsli emaslik koeffitsiyenti (0,1 &lt; 1/n &lt; 0,7).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876300" y="4862894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835462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Qoʼllanish chegarasi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Juda kichik va juda yuqori konsentratsiyalarda (toʼyinishda) bajarilmaydi — bu uning asosiy cheklovi.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6740481" y="239572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Freyndlih darajali tenglamasi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6722193" y="2569464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2706624"/>
            <a:ext cx="4593202" cy="403311"/>
          </a:xfrm>
          <a:prstGeom prst="roundRect">
            <a:avLst>
              <a:gd name="adj" fmla="val 3174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5" name="Image 0" descr="/home/user/jdakimyo/taqdimot/kontent/rasmlar/image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2909" y="2761488"/>
            <a:ext cx="1671770" cy="293583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256239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Logarifmik chiziqli shakli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6722193" y="3429975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3567135"/>
            <a:ext cx="4593202" cy="403311"/>
          </a:xfrm>
          <a:prstGeom prst="roundRect">
            <a:avLst>
              <a:gd name="adj" fmla="val 3174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1" descr="/home/user/jdakimyo/taqdimot/kontent/rasmlar/image2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2909" y="3621999"/>
            <a:ext cx="1671770" cy="293583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116751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Freyndlih izotermasi (logarifmik koordinatalar)</a:t>
            </a:r>
            <a:endParaRPr lang="en-US" sz="1013" dirty="0"/>
          </a:p>
        </p:txBody>
      </p:sp>
      <p:sp>
        <p:nvSpPr>
          <p:cNvPr id="21" name="Shape 17"/>
          <p:cNvSpPr/>
          <p:nvPr/>
        </p:nvSpPr>
        <p:spPr>
          <a:xfrm>
            <a:off x="6722193" y="4290487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4427647"/>
            <a:ext cx="4593202" cy="1454514"/>
          </a:xfrm>
          <a:prstGeom prst="roundRect">
            <a:avLst>
              <a:gd name="adj" fmla="val 880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23" name="Image 2" descr="/home/user/jdakimyo/taqdimot/kontent/rasmlar/image2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7121" y="4482511"/>
            <a:ext cx="2123346" cy="134478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17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7098585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947453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57060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POLIMOLEKULYAR MODELLAR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7C5C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12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BET polimolekulyar modeli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1721358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1986534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1959102"/>
            <a:ext cx="5352117" cy="1683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BET nazariyasi (1938)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Brunauer, Emmett va Teller taklif etgan model: 1. Adsorbsiya polimolekulyar (koʼp qatlamli) xarakterga ega. 2. Birinchi qatlam energiyasi (E₁) adsorbent bilan taʼsirga bogʼliq. 3. Ikkinchi va keyingi qatlamlar kondensatlanish issiqligiga (EL) teng deb qaraladi.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876300" y="3874389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846957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S-simon izoterma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 bosimda bir qatlam, oʼrta bosimda koʼp qatlam, yuqori bosimda kapillyar kondensatlanish — egri chiziq S shaklini oladi.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876300" y="4947857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20425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Amaliy ahamiyati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Kukun va gʼovak adsorbentlarning solishtirma sirt yuzasini (Ssol) aniqlashda standart xalqaro usul hisoblanadi.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6740481" y="2004822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BET chiziqli tenglamasi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6722193" y="2178558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2315718"/>
            <a:ext cx="4593202" cy="663504"/>
          </a:xfrm>
          <a:prstGeom prst="roundRect">
            <a:avLst>
              <a:gd name="adj" fmla="val 19294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5" name="Image 0" descr="/home/user/jdakimyo/taqdimot/kontent/rasmlar/image2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095" y="2370582"/>
            <a:ext cx="3153398" cy="55377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125526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BET polimolekulyar izotermasi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6722193" y="3299262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3436422"/>
            <a:ext cx="4593202" cy="2392878"/>
          </a:xfrm>
          <a:prstGeom prst="roundRect">
            <a:avLst>
              <a:gd name="adj" fmla="val 5350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1" descr="/home/user/jdakimyo/taqdimot/kontent/rasmlar/image3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6307" y="3491286"/>
            <a:ext cx="3604974" cy="228315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3" name="Text 19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18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76300" y="6267450"/>
            <a:ext cx="7516149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65017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57060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POLIMOLEKULYAR MODELLAR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7C5C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13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Qattiq adsorbentlar va gʼovaklik strukturasi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112264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377440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350008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Gidrofil (qutbli) adsorbentlar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Silikagel SiO₂, alyumogel Al₂O₃, gil minerallari. Suv va qutbli moddalarni yaxshi adsorbsiyalaydi.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876300" y="3369993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342561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Gidrofob (qutbsiz) adsorbentlar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Aktivlangan koʼmir, soot, grafit. Organik moddalarni suvli eritmalardan yaxshi tutadi.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876300" y="4362545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335113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IUPAC boʼyicha gʼovaklar tasnifi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Mikrogʼovaklar r &lt; 2 nm; mezogʼovaklar 2 nm &lt; r &lt; 50 nm; makrogʼovaklar r &gt; 50 nm.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876300" y="5355098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5327666"/>
            <a:ext cx="5352117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Rebinder qoidasi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Adsorbsiya faza chegaralarining qutbliliklari farqi kamayishi yoʼnalishida boradi.</a:t>
            </a:r>
            <a:endParaRPr lang="en-US" sz="1425" dirty="0"/>
          </a:p>
        </p:txBody>
      </p:sp>
      <p:sp>
        <p:nvSpPr>
          <p:cNvPr id="14" name="Text 12"/>
          <p:cNvSpPr/>
          <p:nvPr/>
        </p:nvSpPr>
        <p:spPr>
          <a:xfrm>
            <a:off x="6740481" y="239572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Rebinder qutblar tenglashtirish qoidasi</a:t>
            </a:r>
            <a:endParaRPr lang="en-US" sz="1013" dirty="0"/>
          </a:p>
        </p:txBody>
      </p:sp>
      <p:sp>
        <p:nvSpPr>
          <p:cNvPr id="15" name="Shape 13"/>
          <p:cNvSpPr/>
          <p:nvPr/>
        </p:nvSpPr>
        <p:spPr>
          <a:xfrm>
            <a:off x="6722193" y="2569464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2706624"/>
            <a:ext cx="4593202" cy="806623"/>
          </a:xfrm>
          <a:prstGeom prst="roundRect">
            <a:avLst>
              <a:gd name="adj" fmla="val 1587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7" name="Image 0" descr="/home/user/jdakimyo/taqdimot/kontent/rasmlar/image3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609" y="2761488"/>
            <a:ext cx="3968371" cy="696895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1" name="Text 18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19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76300" y="6267450"/>
            <a:ext cx="7933712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782580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2912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15000" dirty="0">
                <a:solidFill>
                  <a:srgbClr val="312A6C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05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7C5C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593342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BESHINCHI QISM</a:t>
            </a:r>
            <a:endParaRPr lang="en-US" sz="938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959"/>
              </a:lnSpc>
              <a:buNone/>
            </a:pPr>
            <a:r>
              <a:rPr lang="en-US" sz="435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Eritmalardan adsorbsiya va qoʼllanish</a:t>
            </a:r>
            <a:endParaRPr lang="en-US" sz="4350" dirty="0"/>
          </a:p>
        </p:txBody>
      </p:sp>
      <p:sp>
        <p:nvSpPr>
          <p:cNvPr id="6" name="Shape 4"/>
          <p:cNvSpPr/>
          <p:nvPr/>
        </p:nvSpPr>
        <p:spPr>
          <a:xfrm>
            <a:off x="876300" y="4775454"/>
            <a:ext cx="1005840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5104638"/>
            <a:ext cx="7894015" cy="358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93"/>
              </a:lnSpc>
              <a:buNone/>
            </a:pPr>
            <a:r>
              <a:rPr lang="en-US" sz="1650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Ionli adsorbsiya, xromatografiya, tibbiyot va sanoat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8351276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00144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57060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ERITMALARDAN ADSORBSIYA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7C5CF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14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Ionli adsorbsiya va Panet-Fayans qoidasi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112264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377440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350008"/>
            <a:ext cx="5352117" cy="826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Ionli adsorbsiya xususiyatlari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Qattiq adsorbent sirtida elektrod potensiali va elektr ikki qatlami (EDL) hosil boʼlishi bilan kechadigan tanlanma (selektiv) adsorbsiya.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76300" y="3302127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274695"/>
            <a:ext cx="5352117" cy="1083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Panet-Fayans selektivlik qoidasi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Qattiq kristall adsorbent sirtiga birinchi navbatda uning kristall panjarasi tarkibiga kiruvchi yoki u bilan qiyin eriydigan birikma hosil qiluvchi ionlar adsorbsiyalanadi.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6300" y="4483989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456557"/>
            <a:ext cx="5352117" cy="826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Liotrop (Hofmeyster) qatorlar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 xil valentli ionlarning gidratlanish radiusi kamayishi bilan ularning adsorbsiyalanish qobiliyati ortadi.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76300" y="5408676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5381244"/>
            <a:ext cx="5352117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Ionitlar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7C5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F7F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Kationitlar (kation almashuvchi) va anionitlar (anion almashuvchi) — gʼovak polimer va minerallar.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740481" y="239572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Liotrop kationlar qatori</a:t>
            </a:r>
            <a:endParaRPr lang="en-US" sz="1013" dirty="0"/>
          </a:p>
        </p:txBody>
      </p:sp>
      <p:sp>
        <p:nvSpPr>
          <p:cNvPr id="15" name="Shape 13"/>
          <p:cNvSpPr/>
          <p:nvPr/>
        </p:nvSpPr>
        <p:spPr>
          <a:xfrm>
            <a:off x="6722193" y="2569464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2706624"/>
            <a:ext cx="4593202" cy="806623"/>
          </a:xfrm>
          <a:prstGeom prst="roundRect">
            <a:avLst>
              <a:gd name="adj" fmla="val 1587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17" name="Image 0" descr="/home/user/jdakimyo/taqdimot/kontent/rasmlar/image3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609" y="2761488"/>
            <a:ext cx="3968371" cy="696895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740481" y="3659551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7F5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Liotrop anionlar qatori</a:t>
            </a:r>
            <a:endParaRPr lang="en-US" sz="1013" dirty="0"/>
          </a:p>
        </p:txBody>
      </p:sp>
      <p:sp>
        <p:nvSpPr>
          <p:cNvPr id="19" name="Shape 16"/>
          <p:cNvSpPr/>
          <p:nvPr/>
        </p:nvSpPr>
        <p:spPr>
          <a:xfrm>
            <a:off x="6722193" y="3833287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722193" y="3970447"/>
            <a:ext cx="4593202" cy="806623"/>
          </a:xfrm>
          <a:prstGeom prst="roundRect">
            <a:avLst>
              <a:gd name="adj" fmla="val 15871"/>
            </a:avLst>
          </a:prstGeom>
          <a:solidFill>
            <a:srgbClr val="FFFFFF"/>
          </a:solidFill>
          <a:ln w="9525">
            <a:solidFill>
              <a:srgbClr val="3B2E7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28000"/>
              </a:srgbClr>
            </a:outerShdw>
          </a:effectLst>
        </p:spPr>
      </p:sp>
      <p:pic>
        <p:nvPicPr>
          <p:cNvPr id="21" name="Image 1" descr="/home/user/jdakimyo/taqdimot/kontent/rasmlar/image3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4609" y="4025311"/>
            <a:ext cx="3968371" cy="696895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5" name="Text 21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21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76300" y="6267450"/>
            <a:ext cx="8768840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9617708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1593342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XROMATOGRAFIYA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10439095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828"/>
              </a:lnSpc>
              <a:buNone/>
            </a:pPr>
            <a:r>
              <a:rPr lang="en-US" sz="330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Xromatografik ajratish usullari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76300" y="1931089"/>
            <a:ext cx="2445182" cy="3661315"/>
          </a:xfrm>
          <a:prstGeom prst="roundRect">
            <a:avLst>
              <a:gd name="adj" fmla="val 7105"/>
            </a:avLst>
          </a:prstGeom>
          <a:solidFill>
            <a:srgbClr val="1A1440"/>
          </a:solidFill>
          <a:ln w="9525">
            <a:solidFill>
              <a:srgbClr val="3B2E7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4044" y="2205409"/>
            <a:ext cx="402336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4044" y="2388289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7C5C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14044" y="2790625"/>
            <a:ext cx="1987982" cy="554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F7F5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Tsvet kashfiyoti (1903)</a:t>
            </a:r>
            <a:endParaRPr lang="en-US" sz="1575" dirty="0"/>
          </a:p>
        </p:txBody>
      </p:sp>
      <p:sp>
        <p:nvSpPr>
          <p:cNvPr id="8" name="Text 6"/>
          <p:cNvSpPr/>
          <p:nvPr/>
        </p:nvSpPr>
        <p:spPr>
          <a:xfrm>
            <a:off x="1114044" y="3418703"/>
            <a:ext cx="1987982" cy="17550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M.S. Tsvet osimlik pigmentlarini (xlorofill, karotin) boʼr ustunida (CaCO₃) adsorbsion ajratib, xromatografiya usuliga asos soldi.</a:t>
            </a:r>
            <a:endParaRPr lang="en-US" sz="1275" dirty="0"/>
          </a:p>
        </p:txBody>
      </p:sp>
      <p:sp>
        <p:nvSpPr>
          <p:cNvPr id="9" name="Shape 7"/>
          <p:cNvSpPr/>
          <p:nvPr/>
        </p:nvSpPr>
        <p:spPr>
          <a:xfrm>
            <a:off x="3540938" y="1931089"/>
            <a:ext cx="2445182" cy="3661315"/>
          </a:xfrm>
          <a:prstGeom prst="roundRect">
            <a:avLst>
              <a:gd name="adj" fmla="val 7105"/>
            </a:avLst>
          </a:prstGeom>
          <a:solidFill>
            <a:srgbClr val="1A1440"/>
          </a:solidFill>
          <a:ln w="9525">
            <a:solidFill>
              <a:srgbClr val="3B2E7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78682" y="2205409"/>
            <a:ext cx="402336" cy="0"/>
          </a:xfrm>
          <a:prstGeom prst="line">
            <a:avLst/>
          </a:prstGeom>
          <a:noFill/>
          <a:ln w="28575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78682" y="2388289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7C5C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3778682" y="2790625"/>
            <a:ext cx="1987982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F7F5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Klassifikatsiya</a:t>
            </a:r>
            <a:endParaRPr lang="en-US" sz="1575" dirty="0"/>
          </a:p>
        </p:txBody>
      </p:sp>
      <p:sp>
        <p:nvSpPr>
          <p:cNvPr id="13" name="Text 11"/>
          <p:cNvSpPr/>
          <p:nvPr/>
        </p:nvSpPr>
        <p:spPr>
          <a:xfrm>
            <a:off x="3778682" y="3168672"/>
            <a:ext cx="1987982" cy="17550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Adsorbsion (Gmax va K farqi), taqsimlash (eruvchanlik farqi), ion almashinish va eksklyuzion (gel-filtratsiya) xromatografiyalari.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6205576" y="1931089"/>
            <a:ext cx="2445182" cy="3661315"/>
          </a:xfrm>
          <a:prstGeom prst="roundRect">
            <a:avLst>
              <a:gd name="adj" fmla="val 7105"/>
            </a:avLst>
          </a:prstGeom>
          <a:solidFill>
            <a:srgbClr val="1A1440"/>
          </a:solidFill>
          <a:ln w="9525">
            <a:solidFill>
              <a:srgbClr val="3B2E7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43320" y="2205409"/>
            <a:ext cx="402336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3320" y="2388289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7C5C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03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443320" y="2790625"/>
            <a:ext cx="1987982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F7F5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HPLC va GC</a:t>
            </a:r>
            <a:endParaRPr lang="en-US" sz="1575" dirty="0"/>
          </a:p>
        </p:txBody>
      </p:sp>
      <p:sp>
        <p:nvSpPr>
          <p:cNvPr id="18" name="Text 16"/>
          <p:cNvSpPr/>
          <p:nvPr/>
        </p:nvSpPr>
        <p:spPr>
          <a:xfrm>
            <a:off x="6443320" y="3168672"/>
            <a:ext cx="1987982" cy="1269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Yuqori samarali suyuqlik va gaz xromatografiyasi — analitik kimyoning eng sezgir usullari.</a:t>
            </a:r>
            <a:endParaRPr lang="en-US" sz="1275" dirty="0"/>
          </a:p>
        </p:txBody>
      </p:sp>
      <p:sp>
        <p:nvSpPr>
          <p:cNvPr id="19" name="Shape 17"/>
          <p:cNvSpPr/>
          <p:nvPr/>
        </p:nvSpPr>
        <p:spPr>
          <a:xfrm>
            <a:off x="8870213" y="1931089"/>
            <a:ext cx="2445182" cy="3661315"/>
          </a:xfrm>
          <a:prstGeom prst="roundRect">
            <a:avLst>
              <a:gd name="adj" fmla="val 7105"/>
            </a:avLst>
          </a:prstGeom>
          <a:solidFill>
            <a:srgbClr val="1A1440"/>
          </a:solidFill>
          <a:ln w="9525">
            <a:solidFill>
              <a:srgbClr val="3B2E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07957" y="2205409"/>
            <a:ext cx="402336" cy="0"/>
          </a:xfrm>
          <a:prstGeom prst="line">
            <a:avLst/>
          </a:prstGeom>
          <a:noFill/>
          <a:ln w="28575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07957" y="2388289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7C5C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04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07957" y="2790625"/>
            <a:ext cx="1987982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F7F5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Ustun mexanizmi</a:t>
            </a:r>
            <a:endParaRPr lang="en-US" sz="1575" dirty="0"/>
          </a:p>
        </p:txBody>
      </p:sp>
      <p:sp>
        <p:nvSpPr>
          <p:cNvPr id="23" name="Text 21"/>
          <p:cNvSpPr/>
          <p:nvPr/>
        </p:nvSpPr>
        <p:spPr>
          <a:xfrm>
            <a:off x="9107957" y="3168672"/>
            <a:ext cx="1987982" cy="22408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Harakatchan faza (eluyent) va qoʼzgʼalmas faza (adsorbent) oʼrtasida uzluksiz adsorbsiya-desorbsiya boradi. Koeffitsiyenti kichik modda ustundan birinchi chiqadi.</a:t>
            </a:r>
            <a:endParaRPr lang="en-US" sz="1275" dirty="0"/>
          </a:p>
        </p:txBody>
      </p:sp>
      <p:sp>
        <p:nvSpPr>
          <p:cNvPr id="24" name="Shape 22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7" name="Text 25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22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6300" y="6267450"/>
            <a:ext cx="9186404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035272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941832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AMALIYOT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10439095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828"/>
              </a:lnSpc>
              <a:buNone/>
            </a:pPr>
            <a:r>
              <a:rPr lang="en-US" sz="330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Adsorbsiyaning tibbiyotdagi roli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76300" y="1928946"/>
            <a:ext cx="2445182" cy="3668459"/>
          </a:xfrm>
          <a:prstGeom prst="roundRect">
            <a:avLst>
              <a:gd name="adj" fmla="val 7105"/>
            </a:avLst>
          </a:prstGeom>
          <a:solidFill>
            <a:srgbClr val="1A1440"/>
          </a:solidFill>
          <a:ln w="9525">
            <a:solidFill>
              <a:srgbClr val="3B2E7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4044" y="2203266"/>
            <a:ext cx="402336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4044" y="2386146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7C5C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14044" y="2788482"/>
            <a:ext cx="1987982" cy="554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F7F5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Entero- va gemosorbsiya</a:t>
            </a:r>
            <a:endParaRPr lang="en-US" sz="1575" dirty="0"/>
          </a:p>
        </p:txBody>
      </p:sp>
      <p:sp>
        <p:nvSpPr>
          <p:cNvPr id="8" name="Text 6"/>
          <p:cNvSpPr/>
          <p:nvPr/>
        </p:nvSpPr>
        <p:spPr>
          <a:xfrm>
            <a:off x="1114044" y="3416560"/>
            <a:ext cx="1987982" cy="1512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Oshqozon-ichak yoʼlidan va qondan toksinlar, zaharli moddalar, allergenlar hamda ogʼir metallarni ajratib olish.</a:t>
            </a:r>
            <a:endParaRPr lang="en-US" sz="1275" dirty="0"/>
          </a:p>
        </p:txBody>
      </p:sp>
      <p:sp>
        <p:nvSpPr>
          <p:cNvPr id="9" name="Shape 7"/>
          <p:cNvSpPr/>
          <p:nvPr/>
        </p:nvSpPr>
        <p:spPr>
          <a:xfrm>
            <a:off x="3540938" y="1928946"/>
            <a:ext cx="2445182" cy="3668459"/>
          </a:xfrm>
          <a:prstGeom prst="roundRect">
            <a:avLst>
              <a:gd name="adj" fmla="val 7105"/>
            </a:avLst>
          </a:prstGeom>
          <a:solidFill>
            <a:srgbClr val="1A1440"/>
          </a:solidFill>
          <a:ln w="9525">
            <a:solidFill>
              <a:srgbClr val="3B2E7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78682" y="2203266"/>
            <a:ext cx="402336" cy="0"/>
          </a:xfrm>
          <a:prstGeom prst="line">
            <a:avLst/>
          </a:prstGeom>
          <a:noFill/>
          <a:ln w="28575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78682" y="2386146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7C5C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3778682" y="2788482"/>
            <a:ext cx="1987982" cy="554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F7F5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Biologik membranalar</a:t>
            </a:r>
            <a:endParaRPr lang="en-US" sz="1575" dirty="0"/>
          </a:p>
        </p:txBody>
      </p:sp>
      <p:sp>
        <p:nvSpPr>
          <p:cNvPr id="13" name="Text 11"/>
          <p:cNvSpPr/>
          <p:nvPr/>
        </p:nvSpPr>
        <p:spPr>
          <a:xfrm>
            <a:off x="3778682" y="3416560"/>
            <a:ext cx="1987982" cy="19979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Hujayra membranasi lipid ikki qavat va oqsil qatlamlaridan tuzilgan; fermentativ va retseptor jarayonlari sirt hodisalariga asoslanadi.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6205576" y="1928946"/>
            <a:ext cx="2445182" cy="3668459"/>
          </a:xfrm>
          <a:prstGeom prst="roundRect">
            <a:avLst>
              <a:gd name="adj" fmla="val 7105"/>
            </a:avLst>
          </a:prstGeom>
          <a:solidFill>
            <a:srgbClr val="1A1440"/>
          </a:solidFill>
          <a:ln w="9525">
            <a:solidFill>
              <a:srgbClr val="3B2E7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43320" y="2203266"/>
            <a:ext cx="402336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3320" y="2386146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7C5C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03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443320" y="2788482"/>
            <a:ext cx="1987982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F7F5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Dori tashuvchilari</a:t>
            </a:r>
            <a:endParaRPr lang="en-US" sz="1575" dirty="0"/>
          </a:p>
        </p:txBody>
      </p:sp>
      <p:sp>
        <p:nvSpPr>
          <p:cNvPr id="18" name="Text 16"/>
          <p:cNvSpPr/>
          <p:nvPr/>
        </p:nvSpPr>
        <p:spPr>
          <a:xfrm>
            <a:off x="6443320" y="3166529"/>
            <a:ext cx="1987982" cy="1269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Preparatlarning soʼrilishini oshirish uchun ular mikrogʼovak tashuvchilarda immobilizatsiyalanadi.</a:t>
            </a:r>
            <a:endParaRPr lang="en-US" sz="1275" dirty="0"/>
          </a:p>
        </p:txBody>
      </p:sp>
      <p:sp>
        <p:nvSpPr>
          <p:cNvPr id="19" name="Shape 17"/>
          <p:cNvSpPr/>
          <p:nvPr/>
        </p:nvSpPr>
        <p:spPr>
          <a:xfrm>
            <a:off x="8870213" y="1928946"/>
            <a:ext cx="2445182" cy="3668459"/>
          </a:xfrm>
          <a:prstGeom prst="roundRect">
            <a:avLst>
              <a:gd name="adj" fmla="val 7105"/>
            </a:avLst>
          </a:prstGeom>
          <a:solidFill>
            <a:srgbClr val="1A1440"/>
          </a:solidFill>
          <a:ln w="9525">
            <a:solidFill>
              <a:srgbClr val="3B2E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07957" y="2203266"/>
            <a:ext cx="402336" cy="0"/>
          </a:xfrm>
          <a:prstGeom prst="line">
            <a:avLst/>
          </a:prstGeom>
          <a:noFill/>
          <a:ln w="28575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07957" y="2386146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7C5C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04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07957" y="2788482"/>
            <a:ext cx="1987982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F7F5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Sorbentlar</a:t>
            </a:r>
            <a:endParaRPr lang="en-US" sz="1575" dirty="0"/>
          </a:p>
        </p:txBody>
      </p:sp>
      <p:sp>
        <p:nvSpPr>
          <p:cNvPr id="23" name="Text 21"/>
          <p:cNvSpPr/>
          <p:nvPr/>
        </p:nvSpPr>
        <p:spPr>
          <a:xfrm>
            <a:off x="9107957" y="3166529"/>
            <a:ext cx="1987982" cy="1512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Aktivlangan koʼmir, smekta va politrepan, silikagelli enterosorbentlar (Polisorb), selektiv immunasorbentlar.</a:t>
            </a:r>
            <a:endParaRPr lang="en-US" sz="1275" dirty="0"/>
          </a:p>
        </p:txBody>
      </p:sp>
      <p:sp>
        <p:nvSpPr>
          <p:cNvPr id="24" name="Shape 22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7" name="Text 25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6300" y="6267450"/>
            <a:ext cx="9603968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452836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941832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AMALIYOT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10439095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828"/>
              </a:lnSpc>
              <a:buNone/>
            </a:pPr>
            <a:r>
              <a:rPr lang="en-US" sz="330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Sanoat va ekologiyadagi amaliy roli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76300" y="2076821"/>
            <a:ext cx="2445182" cy="3175540"/>
          </a:xfrm>
          <a:prstGeom prst="roundRect">
            <a:avLst>
              <a:gd name="adj" fmla="val 7105"/>
            </a:avLst>
          </a:prstGeom>
          <a:solidFill>
            <a:srgbClr val="1A1440"/>
          </a:solidFill>
          <a:ln w="9525">
            <a:solidFill>
              <a:srgbClr val="3B2E7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4044" y="2351141"/>
            <a:ext cx="402336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4044" y="2534021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7C5C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14044" y="2936357"/>
            <a:ext cx="1987982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F7F5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Gazlarni tozalash</a:t>
            </a:r>
            <a:endParaRPr lang="en-US" sz="1575" dirty="0"/>
          </a:p>
        </p:txBody>
      </p:sp>
      <p:sp>
        <p:nvSpPr>
          <p:cNvPr id="8" name="Text 6"/>
          <p:cNvSpPr/>
          <p:nvPr/>
        </p:nvSpPr>
        <p:spPr>
          <a:xfrm>
            <a:off x="1114044" y="3314405"/>
            <a:ext cx="1987982" cy="1269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Chiqindi gazlarni H₂S, SO₂, CO₂ va zaharli moddalardan tozalash; sanoat protivogazlarida gazlarni tutib qolish.</a:t>
            </a:r>
            <a:endParaRPr lang="en-US" sz="1275" dirty="0"/>
          </a:p>
        </p:txBody>
      </p:sp>
      <p:sp>
        <p:nvSpPr>
          <p:cNvPr id="9" name="Shape 7"/>
          <p:cNvSpPr/>
          <p:nvPr/>
        </p:nvSpPr>
        <p:spPr>
          <a:xfrm>
            <a:off x="3540938" y="2076821"/>
            <a:ext cx="2445182" cy="3175540"/>
          </a:xfrm>
          <a:prstGeom prst="roundRect">
            <a:avLst>
              <a:gd name="adj" fmla="val 7105"/>
            </a:avLst>
          </a:prstGeom>
          <a:solidFill>
            <a:srgbClr val="1A1440"/>
          </a:solidFill>
          <a:ln w="9525">
            <a:solidFill>
              <a:srgbClr val="3B2E7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78682" y="2351141"/>
            <a:ext cx="402336" cy="0"/>
          </a:xfrm>
          <a:prstGeom prst="line">
            <a:avLst/>
          </a:prstGeom>
          <a:noFill/>
          <a:ln w="28575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78682" y="2534021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7C5C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3778682" y="2936357"/>
            <a:ext cx="1987982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F7F5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Suvni tozalash</a:t>
            </a:r>
            <a:endParaRPr lang="en-US" sz="1575" dirty="0"/>
          </a:p>
        </p:txBody>
      </p:sp>
      <p:sp>
        <p:nvSpPr>
          <p:cNvPr id="13" name="Text 11"/>
          <p:cNvSpPr/>
          <p:nvPr/>
        </p:nvSpPr>
        <p:spPr>
          <a:xfrm>
            <a:off x="3778682" y="3314405"/>
            <a:ext cx="1987982" cy="1512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Ichimlik suvi va oqova suvlarni neft mahsulotlari, boʼyoqlar, fenollar hamda sirt-aktiv moddalardan tozalash.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6205576" y="2076821"/>
            <a:ext cx="2445182" cy="3175540"/>
          </a:xfrm>
          <a:prstGeom prst="roundRect">
            <a:avLst>
              <a:gd name="adj" fmla="val 7105"/>
            </a:avLst>
          </a:prstGeom>
          <a:solidFill>
            <a:srgbClr val="1A1440"/>
          </a:solidFill>
          <a:ln w="9525">
            <a:solidFill>
              <a:srgbClr val="3B2E7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43320" y="2351141"/>
            <a:ext cx="402336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3320" y="2534021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7C5C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03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443320" y="2936357"/>
            <a:ext cx="1987982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F7F5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Geterogen kataliz</a:t>
            </a:r>
            <a:endParaRPr lang="en-US" sz="1575" dirty="0"/>
          </a:p>
        </p:txBody>
      </p:sp>
      <p:sp>
        <p:nvSpPr>
          <p:cNvPr id="18" name="Text 16"/>
          <p:cNvSpPr/>
          <p:nvPr/>
        </p:nvSpPr>
        <p:spPr>
          <a:xfrm>
            <a:off x="6443320" y="3314405"/>
            <a:ext cx="1987982" cy="1269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Sanoat sintez reaksiyalarining 80% gacha qismi katalizator sirtidagi adsorbsiya orqali boradi.</a:t>
            </a:r>
            <a:endParaRPr lang="en-US" sz="1275" dirty="0"/>
          </a:p>
        </p:txBody>
      </p:sp>
      <p:sp>
        <p:nvSpPr>
          <p:cNvPr id="19" name="Shape 17"/>
          <p:cNvSpPr/>
          <p:nvPr/>
        </p:nvSpPr>
        <p:spPr>
          <a:xfrm>
            <a:off x="8870213" y="2076821"/>
            <a:ext cx="2445182" cy="3175540"/>
          </a:xfrm>
          <a:prstGeom prst="roundRect">
            <a:avLst>
              <a:gd name="adj" fmla="val 7105"/>
            </a:avLst>
          </a:prstGeom>
          <a:solidFill>
            <a:srgbClr val="1A1440"/>
          </a:solidFill>
          <a:ln w="9525">
            <a:solidFill>
              <a:srgbClr val="3B2E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07957" y="2351141"/>
            <a:ext cx="402336" cy="0"/>
          </a:xfrm>
          <a:prstGeom prst="line">
            <a:avLst/>
          </a:prstGeom>
          <a:noFill/>
          <a:ln w="28575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07957" y="2534021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7C5C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04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07957" y="2936357"/>
            <a:ext cx="1987982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F7F5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Texnologiyalar</a:t>
            </a:r>
            <a:endParaRPr lang="en-US" sz="1575" dirty="0"/>
          </a:p>
        </p:txBody>
      </p:sp>
      <p:sp>
        <p:nvSpPr>
          <p:cNvPr id="23" name="Text 21"/>
          <p:cNvSpPr/>
          <p:nvPr/>
        </p:nvSpPr>
        <p:spPr>
          <a:xfrm>
            <a:off x="9107957" y="3314405"/>
            <a:ext cx="1987982" cy="17550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Koks gazidan benzol va toluol ajratish, shakar va moylarni rangsizlantirish, molekulyar elaklar (seolitlar) bilan gazlarni quritish.</a:t>
            </a:r>
            <a:endParaRPr lang="en-US" sz="1275" dirty="0"/>
          </a:p>
        </p:txBody>
      </p:sp>
      <p:sp>
        <p:nvSpPr>
          <p:cNvPr id="24" name="Shape 22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7" name="Text 25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D82C4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6300" y="6267450"/>
            <a:ext cx="10021531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870399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2865120"/>
            <a:ext cx="724662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C9BCF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XULOSA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3505200"/>
            <a:ext cx="10439095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788"/>
              </a:lnSpc>
              <a:buNone/>
            </a:pPr>
            <a:r>
              <a:rPr lang="en-US" sz="4200" dirty="0">
                <a:solidFill>
                  <a:srgbClr val="F7F5F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Asosiy xulosalar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5455768" y="4351020"/>
            <a:ext cx="1280160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6300" y="4661916"/>
            <a:ext cx="10439095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95"/>
              </a:lnSpc>
              <a:buNone/>
            </a:pPr>
            <a:r>
              <a:rPr lang="en-US" sz="1425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Sirt energiyasi — barcha sirt hodisalarining manbai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876300" y="5098161"/>
            <a:ext cx="10439095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95"/>
              </a:lnSpc>
              <a:buNone/>
            </a:pPr>
            <a:r>
              <a:rPr lang="en-US" sz="1425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Izotermalar (Lengmyur, Freyndlih, BET) adsorbsiyani miqdoriy tavsiflaydi</a:t>
            </a:r>
            <a:endParaRPr lang="en-US" sz="1425" dirty="0"/>
          </a:p>
        </p:txBody>
      </p:sp>
      <p:sp>
        <p:nvSpPr>
          <p:cNvPr id="7" name="Text 5"/>
          <p:cNvSpPr/>
          <p:nvPr/>
        </p:nvSpPr>
        <p:spPr>
          <a:xfrm>
            <a:off x="876300" y="5534406"/>
            <a:ext cx="10439095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95"/>
              </a:lnSpc>
              <a:buNone/>
            </a:pPr>
            <a:r>
              <a:rPr lang="en-US" sz="1425" dirty="0">
                <a:solidFill>
                  <a:srgbClr val="B9B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Adsorbsiya tibbiyot, sanoat va ekologiyada hal qiluvchi jarayon</a:t>
            </a:r>
            <a:endParaRPr lang="en-US" sz="1425" dirty="0"/>
          </a:p>
        </p:txBody>
      </p:sp>
      <p:sp>
        <p:nvSpPr>
          <p:cNvPr id="8" name="Text 6"/>
          <p:cNvSpPr/>
          <p:nvPr/>
        </p:nvSpPr>
        <p:spPr>
          <a:xfrm>
            <a:off x="876300" y="5909310"/>
            <a:ext cx="10439095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D82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Savollar uchun rahmat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2026-10-11T07:21:10Z</dcterms:created>
  <dcterms:modified xsi:type="dcterms:W3CDTF">2026-10-11T07:21:10Z</dcterms:modified>
</cp:coreProperties>
</file>