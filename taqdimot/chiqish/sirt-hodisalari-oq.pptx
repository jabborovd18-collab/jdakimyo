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MAʼRUZA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5550219" cy="265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38"/>
              </a:lnSpc>
              <a:buNone/>
            </a:pPr>
            <a:r>
              <a:rPr lang="en-US" sz="610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hodisalari va adsorbsiya</a:t>
            </a:r>
            <a:endParaRPr lang="en-US" sz="6105" dirty="0"/>
          </a:p>
        </p:txBody>
      </p:sp>
      <p:sp>
        <p:nvSpPr>
          <p:cNvPr id="4" name="Shape 2"/>
          <p:cNvSpPr/>
          <p:nvPr/>
        </p:nvSpPr>
        <p:spPr>
          <a:xfrm>
            <a:off x="876300" y="3820516"/>
            <a:ext cx="1234440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300" y="4113124"/>
            <a:ext cx="5550219" cy="700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41"/>
              </a:lnSpc>
              <a:buNone/>
            </a:pPr>
            <a:r>
              <a:rPr lang="en-US" sz="1815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hodisalari termodinamikasi, adsorbsiya izotermalari va amaliy tizimlar</a:t>
            </a:r>
            <a:endParaRPr lang="en-US" sz="1815" dirty="0"/>
          </a:p>
        </p:txBody>
      </p:sp>
      <p:sp>
        <p:nvSpPr>
          <p:cNvPr id="6" name="Shape 4"/>
          <p:cNvSpPr/>
          <p:nvPr/>
        </p:nvSpPr>
        <p:spPr>
          <a:xfrm>
            <a:off x="6682551" y="2261836"/>
            <a:ext cx="4632844" cy="2710214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/home/user/jdakimyo/taqdimot/chiqish/rasm-kichik/gen-sirt-tarangligi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14555" y="2293840"/>
            <a:ext cx="4568836" cy="26462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82551" y="5026914"/>
            <a:ext cx="4632844" cy="259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073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Suv sirtidagi parda: sirt tarangligi qoʼshimcha bosimni koʼtaradi</a:t>
            </a:r>
            <a:endParaRPr lang="en-US" sz="1073" dirty="0"/>
          </a:p>
        </p:txBody>
      </p:sp>
      <p:sp>
        <p:nvSpPr>
          <p:cNvPr id="9" name="Shape 6"/>
          <p:cNvSpPr/>
          <p:nvPr/>
        </p:nvSpPr>
        <p:spPr>
          <a:xfrm>
            <a:off x="876300" y="5429250"/>
            <a:ext cx="10439095" cy="0"/>
          </a:xfrm>
          <a:prstGeom prst="line">
            <a:avLst/>
          </a:prstGeom>
          <a:noFill/>
          <a:ln w="7620">
            <a:solidFill>
              <a:srgbClr val="D9D4C7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18115" y="5575554"/>
            <a:ext cx="1097280" cy="29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279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endParaRPr lang="en-US" sz="127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147904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MAVZU REJASI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662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12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Ilmiy programma</a:t>
            </a:r>
            <a:endParaRPr lang="en-US" sz="4125" dirty="0"/>
          </a:p>
        </p:txBody>
      </p:sp>
      <p:sp>
        <p:nvSpPr>
          <p:cNvPr id="4" name="Text 2"/>
          <p:cNvSpPr/>
          <p:nvPr/>
        </p:nvSpPr>
        <p:spPr>
          <a:xfrm>
            <a:off x="876300" y="1914525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68" dirty="0"/>
          </a:p>
        </p:txBody>
      </p:sp>
      <p:sp>
        <p:nvSpPr>
          <p:cNvPr id="5" name="Text 3"/>
          <p:cNvSpPr/>
          <p:nvPr/>
        </p:nvSpPr>
        <p:spPr>
          <a:xfrm>
            <a:off x="1278636" y="1914525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erkin energiyasi, sirt tarangligi va termodinamik asoslar (Gibbs tenglamasi)</a:t>
            </a:r>
            <a:endParaRPr lang="en-US" sz="1568" dirty="0"/>
          </a:p>
        </p:txBody>
      </p:sp>
      <p:sp>
        <p:nvSpPr>
          <p:cNvPr id="6" name="Text 4"/>
          <p:cNvSpPr/>
          <p:nvPr/>
        </p:nvSpPr>
        <p:spPr>
          <a:xfrm>
            <a:off x="876300" y="2638101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68" dirty="0"/>
          </a:p>
        </p:txBody>
      </p:sp>
      <p:sp>
        <p:nvSpPr>
          <p:cNvPr id="7" name="Text 5"/>
          <p:cNvSpPr/>
          <p:nvPr/>
        </p:nvSpPr>
        <p:spPr>
          <a:xfrm>
            <a:off x="1278636" y="2638101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tarangligiga taʼsir etuvchi omillar va Antonov qoidasi</a:t>
            </a:r>
            <a:endParaRPr lang="en-US" sz="1568" dirty="0"/>
          </a:p>
        </p:txBody>
      </p:sp>
      <p:sp>
        <p:nvSpPr>
          <p:cNvPr id="8" name="Text 6"/>
          <p:cNvSpPr/>
          <p:nvPr/>
        </p:nvSpPr>
        <p:spPr>
          <a:xfrm>
            <a:off x="876300" y="3361677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68" dirty="0"/>
          </a:p>
        </p:txBody>
      </p:sp>
      <p:sp>
        <p:nvSpPr>
          <p:cNvPr id="9" name="Text 7"/>
          <p:cNvSpPr/>
          <p:nvPr/>
        </p:nvSpPr>
        <p:spPr>
          <a:xfrm>
            <a:off x="1278636" y="3361677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Egri sirtlar termodinamikasi: Laplas va Kelvin (Tomson) tenglamalari</a:t>
            </a:r>
            <a:endParaRPr lang="en-US" sz="1568" dirty="0"/>
          </a:p>
        </p:txBody>
      </p:sp>
      <p:sp>
        <p:nvSpPr>
          <p:cNvPr id="10" name="Text 8"/>
          <p:cNvSpPr/>
          <p:nvPr/>
        </p:nvSpPr>
        <p:spPr>
          <a:xfrm>
            <a:off x="876300" y="4085253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68" dirty="0"/>
          </a:p>
        </p:txBody>
      </p:sp>
      <p:sp>
        <p:nvSpPr>
          <p:cNvPr id="11" name="Text 9"/>
          <p:cNvSpPr/>
          <p:nvPr/>
        </p:nvSpPr>
        <p:spPr>
          <a:xfrm>
            <a:off x="1278636" y="4085253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jarayonlari: fizikaviy adsorbsiya, xemosorbsiya va kapillyar kondensatlanish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315304" y="1914525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568" dirty="0"/>
          </a:p>
        </p:txBody>
      </p:sp>
      <p:sp>
        <p:nvSpPr>
          <p:cNvPr id="13" name="Text 11"/>
          <p:cNvSpPr/>
          <p:nvPr/>
        </p:nvSpPr>
        <p:spPr>
          <a:xfrm>
            <a:off x="6717640" y="1914525"/>
            <a:ext cx="4561180" cy="90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Sirt-aktiv (SAM), sirt-inert (SIM) va sirt-nofaol (SNM) moddalar. Traube-Dyuklo qoidasi</a:t>
            </a:r>
            <a:endParaRPr lang="en-US" sz="1568" dirty="0"/>
          </a:p>
        </p:txBody>
      </p:sp>
      <p:sp>
        <p:nvSpPr>
          <p:cNvPr id="14" name="Text 12"/>
          <p:cNvSpPr/>
          <p:nvPr/>
        </p:nvSpPr>
        <p:spPr>
          <a:xfrm>
            <a:off x="6315304" y="2920784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568" dirty="0"/>
          </a:p>
        </p:txBody>
      </p:sp>
      <p:sp>
        <p:nvSpPr>
          <p:cNvPr id="15" name="Text 13"/>
          <p:cNvSpPr/>
          <p:nvPr/>
        </p:nvSpPr>
        <p:spPr>
          <a:xfrm>
            <a:off x="6717640" y="2920784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 nazariyalari: Gibbs va Lengmyur izotermalari</a:t>
            </a:r>
            <a:endParaRPr lang="en-US" sz="1568" dirty="0"/>
          </a:p>
        </p:txBody>
      </p:sp>
      <p:sp>
        <p:nvSpPr>
          <p:cNvPr id="16" name="Text 14"/>
          <p:cNvSpPr/>
          <p:nvPr/>
        </p:nvSpPr>
        <p:spPr>
          <a:xfrm>
            <a:off x="6315304" y="3644360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568" dirty="0"/>
          </a:p>
        </p:txBody>
      </p:sp>
      <p:sp>
        <p:nvSpPr>
          <p:cNvPr id="17" name="Text 15"/>
          <p:cNvSpPr/>
          <p:nvPr/>
        </p:nvSpPr>
        <p:spPr>
          <a:xfrm>
            <a:off x="6717640" y="3644360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modellar: Freyndlih, Polyani va BET (Brunauer–Emmett–Teller)</a:t>
            </a:r>
            <a:endParaRPr lang="en-US" sz="1568" dirty="0"/>
          </a:p>
        </p:txBody>
      </p:sp>
      <p:sp>
        <p:nvSpPr>
          <p:cNvPr id="18" name="Text 16"/>
          <p:cNvSpPr/>
          <p:nvPr/>
        </p:nvSpPr>
        <p:spPr>
          <a:xfrm>
            <a:off x="6315304" y="4367936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568" dirty="0"/>
          </a:p>
        </p:txBody>
      </p:sp>
      <p:sp>
        <p:nvSpPr>
          <p:cNvPr id="19" name="Text 17"/>
          <p:cNvSpPr/>
          <p:nvPr/>
        </p:nvSpPr>
        <p:spPr>
          <a:xfrm>
            <a:off x="6717640" y="4367936"/>
            <a:ext cx="4561180" cy="90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adsorbentlar va eritmalardan adsorbsiya: Panet-Fayans, Rebinder, xromatografiya</a:t>
            </a:r>
            <a:endParaRPr lang="en-US" sz="1568" dirty="0"/>
          </a:p>
        </p:txBody>
      </p:sp>
      <p:sp>
        <p:nvSpPr>
          <p:cNvPr id="20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3" name="Text 21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6300" y="6267450"/>
            <a:ext cx="835128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83996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D8B2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8C1D2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747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208640"/>
            <a:ext cx="1005840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4537824"/>
            <a:ext cx="7894015" cy="723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energiyasi, sirt tarangligi, sirt-aktiv moddalar va egri sirtlar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1252691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1559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qatlamidagi ortiqcha erkin energiya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Molekulalararo oʼzaro taʼsir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Hajmdagi molekula (A) barcha yoʼnalishlarda teng kuchlar bilan tortiladi (ΣF = 0). Sirt qatlamidagi molekula (B) esa faqat suyuqlik ichiga tortiladi — uning kuch maydoni kompensatsiyalanmagan.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728009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700577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erkin energiyasi (Gs)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Molekulani hajmdan sirtga chiqarish uchun tortishish kuchlariga qarshi ish bajarilishi kerak. Bu ish sirtda ortiqcha erkin energiya koʼrinishida toʼplanadi.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5000396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72964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 (σ)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yuzasini 1 m² ga oshirish uchun sarflanadigan solishtirma erkin sirt energiyasi yoki sirtga urinma yoʼnalishda taʼsir etuvchi kuch [mN/m yoki J/m²].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erkin energiyasi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Termodinamikaning I va II qonuni birlashuvi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592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56371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tarangligining termodinamik taʼrifi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4330107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78268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4510272"/>
            <a:ext cx="4529194" cy="114592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1670255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19123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tarangligiga taʼsir etuvchi omillar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12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Modda tabiati va qutbliligi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Molekulalararo bogʼlanish qancha kuchli boʼlsa (vodorod bogʼlar, ionli bogʼlar), sirt tarangligi shuncha yuqori boʼladi: suvda σ = 72,8 mN/m, simobda σ = 475 mN/m.</a:t>
            </a:r>
            <a:endParaRPr lang="en-US" sz="1403" dirty="0"/>
          </a:p>
        </p:txBody>
      </p:sp>
      <p:sp>
        <p:nvSpPr>
          <p:cNvPr id="8" name="Shape 6"/>
          <p:cNvSpPr/>
          <p:nvPr/>
        </p:nvSpPr>
        <p:spPr>
          <a:xfrm>
            <a:off x="876300" y="3733248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705816"/>
            <a:ext cx="5352117" cy="112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Harorat taʼsiri (T)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Harorat ortishi bilan molekulalarning issiqlik harakati kuchayadi, molekulalararo tortishish zaiflashadi va sirt tarangligi chiziqli kamayadi. Kritik haroratda (Tk) σ = 0 boʼladi.</a:t>
            </a:r>
            <a:endParaRPr lang="en-US" sz="1403" dirty="0"/>
          </a:p>
        </p:txBody>
      </p:sp>
      <p:sp>
        <p:nvSpPr>
          <p:cNvPr id="10" name="Shape 8"/>
          <p:cNvSpPr/>
          <p:nvPr/>
        </p:nvSpPr>
        <p:spPr>
          <a:xfrm>
            <a:off x="876300" y="5010874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83442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Antonov qoidasi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Oʼzaro cheklangan eruvchan ikki suyuqlik chegarasidagi sirt tarangligi ularning toʼyingan faza sirt tarangliklari ayirmasiga teng.</a:t>
            </a:r>
            <a:endParaRPr lang="en-US" sz="1403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tarangligining haroratga bogʼliqligi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42689"/>
          </a:xfrm>
          <a:prstGeom prst="roundRect">
            <a:avLst>
              <a:gd name="adj" fmla="val 19919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57868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1099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Antonov qoidasi tenglamasi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08472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32888"/>
            <a:ext cx="4593202" cy="642689"/>
          </a:xfrm>
          <a:prstGeom prst="roundRect">
            <a:avLst>
              <a:gd name="adj" fmla="val 19919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64892"/>
            <a:ext cx="4529194" cy="57868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21881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va hajm molekulalariga taʼsir etuvchi kuchlar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195617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43778"/>
            <a:ext cx="4593202" cy="2439802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6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375782"/>
            <a:ext cx="4529194" cy="237579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2087819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936687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Sirt-aktiv moddalar va Traube-Dyuklo qoidasi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aktivligi (g)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Erigan moddaning sirt tarangligini pasaytirish qobiliyati. Chegarada g = −dσ/dC (C → 0 sharoitida) koʼrinishida aniqlanadi.</a:t>
            </a:r>
            <a:endParaRPr lang="en-US" sz="1485" dirty="0"/>
          </a:p>
        </p:txBody>
      </p:sp>
      <p:sp>
        <p:nvSpPr>
          <p:cNvPr id="8" name="Shape 6"/>
          <p:cNvSpPr/>
          <p:nvPr/>
        </p:nvSpPr>
        <p:spPr>
          <a:xfrm>
            <a:off x="876300" y="3455594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428162"/>
            <a:ext cx="5352117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Traube-Dyuklo qoidasi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gomologik qatordagi sirt-aktiv moddalarning (spirtlar, yogʼ kislotalari) uglevodorod zanjiri bitta −CH₂− guruhga uzayganda, ularning sirt aktivligi 3,0–3,5 baravar ortadi.</a:t>
            </a:r>
            <a:endParaRPr lang="en-US" sz="1485" dirty="0"/>
          </a:p>
        </p:txBody>
      </p:sp>
      <p:sp>
        <p:nvSpPr>
          <p:cNvPr id="10" name="Shape 8"/>
          <p:cNvSpPr/>
          <p:nvPr/>
        </p:nvSpPr>
        <p:spPr>
          <a:xfrm>
            <a:off x="876300" y="4738459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711027"/>
            <a:ext cx="5352117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Fizikaviy sababi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Uglevodorod radikali suv muhitidan sirt qatlamiga gidrofob kuchlar taʼsirida siqib chiqariladi — molekula sirtda «dumini koʼtarib» joylashadi.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Rebinder boʼyicha sirt aktivlik taʼrifi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600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32749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Traube-Dyuklo koeffitsiyenti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106485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5464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86651"/>
            <a:ext cx="4529194" cy="6004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6539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Spirtlar gomologik qatorida sirt tarangligi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239134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87296"/>
            <a:ext cx="4593202" cy="239628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419300"/>
            <a:ext cx="4529194" cy="233227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2505383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354251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Egri sirtlar: Laplas va Kelvin tenglamalari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Kapillyar bosim (Laplas)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Suyuqlik sirti egrilanganda (tomchi, pufakcha, kapillyar menisk) sirt taranglik kuchlari natijasida qoʼshimcha Laplas bosimi ΔP hosil boʼladi.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502609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475177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Botiq va qabariq menisklar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Qabariq sirtda (tomchi) ichki bosim ortadi (ΔP &gt; 0). Botiq sirtda (kapillyar) bosim pasayadi (ΔP &lt; 0) — bu kapillyar koʼtarilishga sabab boʼladi.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549597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522165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Kelvin (Tomson) tenglamasi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Kichik tomchilar ustidagi toʼyingan bugʼ bosimi (Pr) tekis sirt ustidagi bosimdan (P₀) yuqori boʼladi. Botiq kapillyarlarda esa bugʼ bosimi pasayadi — kapillyar kondensatlanish shu asosda kechadi.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Kapillyar koʼtarilish: botiq menisk va Laplas bosimi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2266046"/>
          </a:xfrm>
          <a:prstGeom prst="roundRect">
            <a:avLst>
              <a:gd name="adj" fmla="val 5649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chiqish/rasm-kichik/gen-kapillya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22020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353434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Laplas tenglamasi (sferik sirt)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3708084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3856245"/>
            <a:ext cx="4593202" cy="729567"/>
          </a:xfrm>
          <a:prstGeom prst="roundRect">
            <a:avLst>
              <a:gd name="adj" fmla="val 1754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1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3888249"/>
            <a:ext cx="4529194" cy="6655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732116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Kelvin (Tomson) tenglamasi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4905852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5054013"/>
            <a:ext cx="4593202" cy="729567"/>
          </a:xfrm>
          <a:prstGeom prst="roundRect">
            <a:avLst>
              <a:gd name="adj" fmla="val 1754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1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5086017"/>
            <a:ext cx="4529194" cy="66555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2922947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771815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D8B2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8C1D2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Jarayonlar tasnifi, miqdoriy koʼrsatkichlar va Gibbs tenglamasi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3340510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9378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370503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58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11"/>
              </a:lnSpc>
              <a:buNone/>
            </a:pPr>
            <a:r>
              <a:rPr lang="en-US" sz="363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hodisalarining mexanizmi</a:t>
            </a:r>
            <a:endParaRPr lang="en-US" sz="3630" dirty="0"/>
          </a:p>
        </p:txBody>
      </p:sp>
      <p:sp>
        <p:nvSpPr>
          <p:cNvPr id="4" name="Shape 2"/>
          <p:cNvSpPr/>
          <p:nvPr/>
        </p:nvSpPr>
        <p:spPr>
          <a:xfrm>
            <a:off x="876300" y="2132498"/>
            <a:ext cx="3333394" cy="3103388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9525">
            <a:solidFill>
              <a:srgbClr val="E2DE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044" y="2406818"/>
            <a:ext cx="402336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044" y="2589698"/>
            <a:ext cx="460400" cy="49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231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310" dirty="0"/>
          </a:p>
        </p:txBody>
      </p:sp>
      <p:sp>
        <p:nvSpPr>
          <p:cNvPr id="7" name="Text 5"/>
          <p:cNvSpPr/>
          <p:nvPr/>
        </p:nvSpPr>
        <p:spPr>
          <a:xfrm>
            <a:off x="1114044" y="3084617"/>
            <a:ext cx="2876194" cy="32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6"/>
              </a:lnSpc>
              <a:buNone/>
            </a:pPr>
            <a:r>
              <a:rPr lang="en-US" sz="173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(sirtqi)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114044" y="3487667"/>
            <a:ext cx="2876194" cy="165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Moddaning fazalar ajralish sirtida (qattiq/gaz, qattiq/suyuqlik) toʼplanishi. Sirtqi hodisa; tez muvozanatga erishadi; qaytar — desorbsiya kuzatiladi.</a:t>
            </a:r>
            <a:endParaRPr lang="en-US" sz="1403" dirty="0"/>
          </a:p>
        </p:txBody>
      </p:sp>
      <p:sp>
        <p:nvSpPr>
          <p:cNvPr id="9" name="Shape 7"/>
          <p:cNvSpPr/>
          <p:nvPr/>
        </p:nvSpPr>
        <p:spPr>
          <a:xfrm>
            <a:off x="4429150" y="2132498"/>
            <a:ext cx="3333394" cy="3103388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9525">
            <a:solidFill>
              <a:srgbClr val="E2DE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6894" y="2406818"/>
            <a:ext cx="402336" cy="0"/>
          </a:xfrm>
          <a:prstGeom prst="line">
            <a:avLst/>
          </a:prstGeom>
          <a:noFill/>
          <a:ln w="28575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6894" y="2589698"/>
            <a:ext cx="460400" cy="49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231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310" dirty="0"/>
          </a:p>
        </p:txBody>
      </p:sp>
      <p:sp>
        <p:nvSpPr>
          <p:cNvPr id="12" name="Text 10"/>
          <p:cNvSpPr/>
          <p:nvPr/>
        </p:nvSpPr>
        <p:spPr>
          <a:xfrm>
            <a:off x="4666894" y="3084617"/>
            <a:ext cx="2876194" cy="32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6"/>
              </a:lnSpc>
              <a:buNone/>
            </a:pPr>
            <a:r>
              <a:rPr lang="en-US" sz="173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Absorbsiya (hajmiy)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666894" y="3487667"/>
            <a:ext cx="2876194" cy="1390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Yutilayotgan moddaning ikkinchi faza (suyuqlik yoki qattiq jism) hajmi boʼylab tekis tarqalishi. Diffuziya bilan bogʼliq, sekin boradi.</a:t>
            </a:r>
            <a:endParaRPr lang="en-US" sz="1403" dirty="0"/>
          </a:p>
        </p:txBody>
      </p:sp>
      <p:sp>
        <p:nvSpPr>
          <p:cNvPr id="14" name="Shape 12"/>
          <p:cNvSpPr/>
          <p:nvPr/>
        </p:nvSpPr>
        <p:spPr>
          <a:xfrm>
            <a:off x="7982001" y="2132498"/>
            <a:ext cx="3333394" cy="3103388"/>
          </a:xfrm>
          <a:prstGeom prst="roundRect">
            <a:avLst>
              <a:gd name="adj" fmla="val 5598"/>
            </a:avLst>
          </a:prstGeom>
          <a:solidFill>
            <a:srgbClr val="FFFFFF"/>
          </a:solidFill>
          <a:ln w="9525">
            <a:solidFill>
              <a:srgbClr val="E2DE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9745" y="2406818"/>
            <a:ext cx="402336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9745" y="2589698"/>
            <a:ext cx="460400" cy="49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231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310" dirty="0"/>
          </a:p>
        </p:txBody>
      </p:sp>
      <p:sp>
        <p:nvSpPr>
          <p:cNvPr id="17" name="Text 15"/>
          <p:cNvSpPr/>
          <p:nvPr/>
        </p:nvSpPr>
        <p:spPr>
          <a:xfrm>
            <a:off x="8219745" y="3084617"/>
            <a:ext cx="2876194" cy="32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6"/>
              </a:lnSpc>
              <a:buNone/>
            </a:pPr>
            <a:r>
              <a:rPr lang="en-US" sz="173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Kapillyar kondensatlanish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8219745" y="3487667"/>
            <a:ext cx="2876194" cy="165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Gʼovak adsorbentlarda botiq menisklar hosil boʼlishi natijasida bugʼning P &lt; P₀ bosimda suyuqlikka aylanishi. Kelvin tenglamasi va histerezis sirtlari bilan tavsiflanadi.</a:t>
            </a:r>
            <a:endParaRPr lang="en-US" sz="1403" dirty="0"/>
          </a:p>
        </p:txBody>
      </p:sp>
      <p:sp>
        <p:nvSpPr>
          <p:cNvPr id="19" name="Shape 17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2" name="Text 20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300" y="6267450"/>
            <a:ext cx="3758074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6942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70503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Miqdoriy koʼrsatkichlar va absolyut adsorbsiya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249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tushunchalar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Adsorbent — sirtida adsorbsiya sodir boʼladigan qattiq yoki suyuq modda. Adsorbtiv — adsorbsiyalanuvchi modda. Adsorbat — sirtda ushlanib qolgan modda.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84326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15829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Absolyut adsorbsiya (a)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Adsorbentning birlik massasi (m) yoki birlik sirt yuzasida (S) toʼplangan adsorbatning mol miqdori.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32293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0486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ortiqcha adsorbsiyasi (G)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qatlamidagi modda miqdorining hajm konsentratsiyasiga nisbatan ortiqcha qismi [mol/m²].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Absolyut adsorbsiya (a)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ortiqcha adsorbsiyasi (G)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1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592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3" name="Text 1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90" dirty="0"/>
          </a:p>
        </p:txBody>
      </p:sp>
      <p:sp>
        <p:nvSpPr>
          <p:cNvPr id="24" name="Shape 2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76300" y="6267450"/>
            <a:ext cx="4175638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24506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70503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Gibbsning fundamental adsorbsiya tenglamasi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249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Tenglamaning mohiyati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tarangligining konsentratsiyaga qarab oʼzgarishi (dσ/dC) bilan sirtda modda toʼplanishi (G) oʼrtasidagi fundamental termodinamik bogʼliqlik.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84326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15829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Musbat adsorbsiya (G &gt; 0)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dσ/dC &lt; 0 boʼlsa (sirt-aktiv moddalar), G &gt; 0 — modda sirtda toʼplanadi va sirt tarangligini pasaytiradi.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32293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0486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Manfiy adsorbsiya (G &lt; 0)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dσ/dC &gt; 0 boʼlsa (sirt-inert moddalar), G &lt; 0 — modda hajmga oʼtadi, sirt qatlamida kamayadi.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tenglamasi (konsentratsiyali)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600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32749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tenglamasi (aktivlikli)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106485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5464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1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86651"/>
            <a:ext cx="4529194" cy="6004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6539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SAM, SIM va SNM moddalar uchun σ(C) egri chiziqlari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239134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87296"/>
            <a:ext cx="4593202" cy="239628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16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419300"/>
            <a:ext cx="4529194" cy="233227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4593202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42070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D8B2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8C1D2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tenglamasi, Lengmyur nazariyasi va izoterma sohalari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5010766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9634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002090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tenglamasi va molekula oʼlchamlari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tenglamasi (1908)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Sirt-aktiv moddalar konsentratsiyasi ortishi bilan sirt tarangligi pasayishini empirik ravishda ifodalaydi.</a:t>
            </a:r>
            <a:endParaRPr lang="en-US" sz="1485" dirty="0"/>
          </a:p>
        </p:txBody>
      </p:sp>
      <p:sp>
        <p:nvSpPr>
          <p:cNvPr id="8" name="Shape 6"/>
          <p:cNvSpPr/>
          <p:nvPr/>
        </p:nvSpPr>
        <p:spPr>
          <a:xfrm>
            <a:off x="876300" y="354989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522459"/>
            <a:ext cx="5352117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va Lengmyur bilan bogʼlanishi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konstantasi B = Gmax·RT ekanligi isbotlandi — bu Gibbs tenglamasidan Lengmyur izotermasiga oʼtish imkonini berdi.</a:t>
            </a:r>
            <a:endParaRPr lang="en-US" sz="1485" dirty="0"/>
          </a:p>
        </p:txBody>
      </p:sp>
      <p:sp>
        <p:nvSpPr>
          <p:cNvPr id="10" name="Shape 8"/>
          <p:cNvSpPr/>
          <p:nvPr/>
        </p:nvSpPr>
        <p:spPr>
          <a:xfrm>
            <a:off x="876300" y="4927054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899622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 parametrlari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Gmax qiymatidan molekulaning sirtda egallagan koʼndalang kesim yuzasi (S₀) va sirt qatlamining qalinligi (l) aniqlanadi.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empirik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Gibbs-Lengmyur birlashgan tenglamasi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6790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1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278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53227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 oʼlchamlari formulalari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4326963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75124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1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4507128"/>
            <a:ext cx="4529194" cy="114592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5428330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77198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002090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Lengmyurning monomolekulyar nazariyasi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postulatlari (1915)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Adsorbsiya adsorbent sirtidagi diskret faol markazlarda sodir boʼladi. 2. Har bir faol markaz faqat bitta adsorbat molekulasini tuta oladi (monoqavat). 3. Faol markazlar energetik jihatdan teng va bir-biriga taʼsir etmaydi. 4. Jarayon dinamik muvozanatda: adsorbsiya tezligi = desorbsiya tezligi.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4230929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4203497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Izoterma shakli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toʼyingan qiymatga intiladi: past konsentratsiyada keskin oʼsadi, yuqorisida esa gorizontalga yaqinlashadi.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5251856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5224424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toʼlish darajasi (θ)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 = G/Gmax — sirtning qancha qismi monoqavat bilan qoplanganini koʼrsatadi (0 ≤ θ ≤ 1).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adsorbsiya izotermasi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78528"/>
          </a:xfrm>
          <a:prstGeom prst="roundRect">
            <a:avLst>
              <a:gd name="adj" fmla="val 188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2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614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46829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toʼlish darajasi (θ)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120565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68726"/>
            <a:ext cx="4593202" cy="678528"/>
          </a:xfrm>
          <a:prstGeom prst="roundRect">
            <a:avLst>
              <a:gd name="adj" fmla="val 188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2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300730"/>
            <a:ext cx="4529194" cy="6145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9355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izotermasi grafigi va sohalari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267294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415455"/>
            <a:ext cx="4593202" cy="2368125"/>
          </a:xfrm>
          <a:prstGeom prst="roundRect">
            <a:avLst>
              <a:gd name="adj" fmla="val 5406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2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447459"/>
            <a:ext cx="4529194" cy="2304117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5845893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94761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002090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1344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izotermasining sohalari va linearizatsiyasi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620442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885618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858186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Genri sohasi (C → 0)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kam konsentratsiyada KC ≪ 1, shunda G = Gmax·K·C = KH·C. Adsorbsiya konsentratsiyaga toʼgʼri mutanosib.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930853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90342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Toʼyinish sohasi (C → ∞)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 konsentratsiyada KC ≫ 1, shunda G = Gmax. Adsorbent sirti toʼliq monoqavat bilan qoplanadi.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76089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48657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Linearizatsiya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Tajriba maʼlumotlaridan Gmax va K doimiylarini grafik usulda aniqlash uchun 1/G ga nisbatan 1/C grafigi chiziladi.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tenglamasining chiziqli shakli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2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Genri sohasi chegarasi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6163"/>
          </a:xfrm>
          <a:prstGeom prst="roundRect">
            <a:avLst>
              <a:gd name="adj" fmla="val 10613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2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215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526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Toʼyinish sohasi chegarasi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43263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744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25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4506501"/>
            <a:ext cx="4529194" cy="114592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6263457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12325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D8B2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8C1D2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830515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TOʼRTINCHI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 va adsorbentlar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Freyndlih, BET nazariyasi, gʼovaklik tasnifi va Rebinder qoidasi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6681021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9889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Freyndlihning empirik izotermasi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249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Tenglama (1909)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Gʼovak va energetik jihatdan bir jinsli boʼlmagan adsorbentlarda oʼrtacha konsentratsiyalar sohasida adsorbsiyani ifodalovchi empirik darajali tenglama.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84326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15829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Tenglama doimiylari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 — adsorbsion sigʼim koeffitsiyenti; 1/n — sirtning energetik bir jinsli emaslik koeffitsiyenti (0,1 &lt; 1/n &lt; 0,7).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32293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0486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Qoʼllanish chegarasi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kichik va juda yuqori konsentratsiyalarda (toʼyinishda) bajarilmaydi — bu uning asosiy cheklovi.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 darajali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2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600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32749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Logarifmik chiziqli shakli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106485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5464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2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86651"/>
            <a:ext cx="4529194" cy="6004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6539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 izotermasi (logarifmik koordinatalar)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239134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87296"/>
            <a:ext cx="4593202" cy="239628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28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419300"/>
            <a:ext cx="4529194" cy="233227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7098585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947453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48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polimolekulyar modeli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1760449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025625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1998193"/>
            <a:ext cx="5352117" cy="175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nazariyasi (1938)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Brunauer, Emmett va Teller taklif etgan model: 1. Adsorbsiya polimolekulyar (koʼp qatlamli) xarakterga ega. 2. Birinchi qatlam energiyasi (E₁) adsorbent bilan taʼsirga bogʼliq. 3. Ikkinchi va keyingi qatlamlar kondensatlanish issiqligiga (EL) teng deb qaraladi.</a:t>
            </a:r>
            <a:endParaRPr lang="en-US" sz="1485" dirty="0"/>
          </a:p>
        </p:txBody>
      </p:sp>
      <p:sp>
        <p:nvSpPr>
          <p:cNvPr id="8" name="Shape 6"/>
          <p:cNvSpPr/>
          <p:nvPr/>
        </p:nvSpPr>
        <p:spPr>
          <a:xfrm>
            <a:off x="876300" y="3923309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95877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S-simon izoterma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Past bosimda bir qatlam, oʼrta bosimda koʼp qatlam, yuqori bosimda kapillyar kondensatlanish — egri chiziq S shaklini oladi.</a:t>
            </a:r>
            <a:endParaRPr lang="en-US" sz="1485" dirty="0"/>
          </a:p>
        </p:txBody>
      </p:sp>
      <p:sp>
        <p:nvSpPr>
          <p:cNvPr id="10" name="Shape 8"/>
          <p:cNvSpPr/>
          <p:nvPr/>
        </p:nvSpPr>
        <p:spPr>
          <a:xfrm>
            <a:off x="876300" y="4972317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44885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ahamiyati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Kukun va gʼovak adsorbentlarning solishtirma sirt yuzasini (Ssol) aniqlashda standart xalqaro usul hisoblanadi.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chiziqli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910332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2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8463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178634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polimolekulyar izotermasi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352370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500531"/>
            <a:ext cx="4593202" cy="3283049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3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532535"/>
            <a:ext cx="4529194" cy="3219041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3" name="Text 1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990" dirty="0"/>
          </a:p>
        </p:txBody>
      </p:sp>
      <p:sp>
        <p:nvSpPr>
          <p:cNvPr id="24" name="Shape 2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76300" y="6267450"/>
            <a:ext cx="7516149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65017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adsorbentlar va gʼovaklik strukturasi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Gidrofil (qutbli) adsorbentlar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Silikagel SiO₂, alyumogel Al₂O₃, gil minerallari. Suv va qutbli moddalarni yaxshi adsorbsiyalaydi.</a:t>
            </a:r>
            <a:endParaRPr lang="en-US" sz="1403" dirty="0"/>
          </a:p>
        </p:txBody>
      </p:sp>
      <p:sp>
        <p:nvSpPr>
          <p:cNvPr id="8" name="Shape 6"/>
          <p:cNvSpPr/>
          <p:nvPr/>
        </p:nvSpPr>
        <p:spPr>
          <a:xfrm>
            <a:off x="876300" y="3427557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400125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Gidrofob (qutbsiz) adsorbentlar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Aktivlangan koʼmir, soot, grafit. Organik moddalarni suvli eritmalardan yaxshi tutadi.</a:t>
            </a:r>
            <a:endParaRPr lang="en-US" sz="1403" dirty="0"/>
          </a:p>
        </p:txBody>
      </p:sp>
      <p:sp>
        <p:nvSpPr>
          <p:cNvPr id="10" name="Shape 8"/>
          <p:cNvSpPr/>
          <p:nvPr/>
        </p:nvSpPr>
        <p:spPr>
          <a:xfrm>
            <a:off x="876300" y="4399493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372061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IUPAC boʼyicha gʼovaklar tasnifi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Mikrogʼovaklar r &lt; 2 nm; mezogʼovaklar 2 nm &lt; r &lt; 50 nm; makrogʼovaklar r &gt; 50 nm.</a:t>
            </a:r>
            <a:endParaRPr lang="en-US" sz="1403" dirty="0"/>
          </a:p>
        </p:txBody>
      </p:sp>
      <p:sp>
        <p:nvSpPr>
          <p:cNvPr id="12" name="Shape 10"/>
          <p:cNvSpPr/>
          <p:nvPr/>
        </p:nvSpPr>
        <p:spPr>
          <a:xfrm>
            <a:off x="876300" y="5371428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343996"/>
            <a:ext cx="5352117" cy="58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Rebinder qoidasi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faza chegaralarining qutbliliklari farqi kamayishi yoʼnalishida boradi.</a:t>
            </a:r>
            <a:endParaRPr lang="en-US" sz="1403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47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Gʼovak adsorbent kesimi: mikrokovaklar va tutilgan molekulalar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334167"/>
            <a:ext cx="4593202" cy="3011607"/>
          </a:xfrm>
          <a:prstGeom prst="roundRect">
            <a:avLst>
              <a:gd name="adj" fmla="val 4251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/home/user/jdakimyo/taqdimot/chiqish/rasm-kichik/gen-adsorben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366171"/>
            <a:ext cx="4529194" cy="294759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40481" y="449207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Rebinder qutblar tenglashtirish qoidasi</a:t>
            </a:r>
            <a:endParaRPr lang="en-US" sz="1114" dirty="0"/>
          </a:p>
        </p:txBody>
      </p:sp>
      <p:sp>
        <p:nvSpPr>
          <p:cNvPr id="19" name="Shape 16"/>
          <p:cNvSpPr/>
          <p:nvPr/>
        </p:nvSpPr>
        <p:spPr>
          <a:xfrm>
            <a:off x="6722193" y="4665814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2193" y="4813975"/>
            <a:ext cx="4593202" cy="969605"/>
          </a:xfrm>
          <a:prstGeom prst="roundRect">
            <a:avLst>
              <a:gd name="adj" fmla="val 13203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1" descr="/home/user/jdakimyo/taqdimot/kontent/rasmlar/image3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4845979"/>
            <a:ext cx="4529194" cy="905597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5" name="Text 21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990" dirty="0"/>
          </a:p>
        </p:txBody>
      </p:sp>
      <p:sp>
        <p:nvSpPr>
          <p:cNvPr id="26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6300" y="6267450"/>
            <a:ext cx="7933712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782580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D8B2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8C1D2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713357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BESHINCHI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Eritmalardan adsorbsiya va qoʼllanish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Ionli adsorbsiya, xromatografiya, tibbiyot va sanoat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8351276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0144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ERITMALARDAN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Ionli adsorbsiya va Panet-Fayans qoidasi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Ionli adsorbsiya xususiyatlari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adsorbent sirtida elektrod potensiali va elektr ikki qatlami (EDL) hosil boʼlishi bilan kechadigan tanlanma (selektiv) adsorbsiya.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360763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33331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Panet-Fayans selektivlik qoidasi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kristall adsorbent sirtiga birinchi navbatda uning kristall panjarasi tarkibiga kiruvchi yoki u bilan qiyin eriydigan birikma hosil qiluvchi ionlar adsorbsiyalanadi.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517365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489933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Liotrop (Hofmeyster) qatorlar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valentli ionlarning gidratlanish radiusi kamayishi bilan ularning adsorbsiyalanish qobiliyati ortadi.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5422506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395074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Ionitlar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Kationitlar (kation almashuvchi) va anionitlar (anion almashuvchi) — gʼovak polimer va minerallar.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Liotrop kationlar qatori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/home/user/jdakimyo/taqdimot/kontent/rasmlar/image3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Liotrop anionlar qatori</a:t>
            </a:r>
            <a:endParaRPr lang="en-US" sz="1114" dirty="0"/>
          </a:p>
        </p:txBody>
      </p:sp>
      <p:sp>
        <p:nvSpPr>
          <p:cNvPr id="19" name="Shape 16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2193" y="2800133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1" descr="/home/user/jdakimyo/taqdimot/kontent/rasmlar/image3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592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5" name="Text 21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990" dirty="0"/>
          </a:p>
        </p:txBody>
      </p:sp>
      <p:sp>
        <p:nvSpPr>
          <p:cNvPr id="26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6300" y="6267450"/>
            <a:ext cx="8768840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617708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1713357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XROMATOGRAFIYA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Xromatografik ajratish usullari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M.S. Tsvet kashfiyoti (1903)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Oʼsimlik pigmentlarini (xlorofill, karotin) boʼr ustunida (CaCO₃) adsorbsion ajratib, xromatografiya usuliga asos soldi.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360763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33331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Klassifikatsiya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Adsorbsion (Gmax va K farqi), taqsimlash (eruvchanlik farqi), ion almashinish va eksklyuzion (gel-filtratsiya) xromatografiyalari.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265905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238473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Zamonaviy usullar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 samarali suyuqlik (HPLC) va gaz xromatografiyasi — analitik kimyoning eng sezgir usullari.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4919586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4892154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Ustun mexanizmi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Harakatchan faza (eluyent) va qoʼzgʼalmas faza (adsorbent) oʼrtasida uzluksiz adsorbsiya-desorbsiya boradi: koeffitsiyenti kichik modda ustundan birinchi chiqadi.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Ajralish ustuni: komponentlar rangli zonalarga boʼlinadi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3758074"/>
          </a:xfrm>
          <a:prstGeom prst="roundRect">
            <a:avLst>
              <a:gd name="adj" fmla="val 3406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/home/user/jdakimyo/taqdimot/chiqish/rasm-kichik/gen-xromatografiy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369406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1" name="Text 18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990" dirty="0"/>
          </a:p>
        </p:txBody>
      </p:sp>
      <p:sp>
        <p:nvSpPr>
          <p:cNvPr id="22" name="Shape 19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6300" y="6267450"/>
            <a:ext cx="9186404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35272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TATBIQ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Adsorbsiyaning tibbiyotdagi roli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Entero- va gemosorbsiya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Oshqozon-ichak yoʼlidan va qondan toksinlar, zaharli moddalar, allergenlar hamda ogʼir metallarni ajratib olish.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423628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96196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Biologik membranalar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Hujayra membranasi lipid ikki qavat va oqsil qatlamlaridan tuzilgan: fermentativ va retseptor jarayonlari sirt hodisalariga asoslanadi.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391635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364203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Dori tashuvchilari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Preparatlarning soʼrilishini oshirish uchun ular mikrogʼovak tashuvchilarda immobilizatsiyalanadi.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510818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08074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Tibbiy sorbentlar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Aktivlangan koʼmir, smekta va politrepan, silikagelli enterosorbentlar (Polisorb), selektiv immunasorbentlar.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Enterosorbent: gʼovak yuza toksinlarni ushlab qoladi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3758074"/>
          </a:xfrm>
          <a:prstGeom prst="roundRect">
            <a:avLst>
              <a:gd name="adj" fmla="val 3406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/home/user/jdakimyo/taqdimot/chiqish/rasm-kichik/gen-tibbiyo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369406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1" name="Text 18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990" dirty="0"/>
          </a:p>
        </p:txBody>
      </p:sp>
      <p:sp>
        <p:nvSpPr>
          <p:cNvPr id="22" name="Shape 19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6300" y="6267450"/>
            <a:ext cx="9603968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452836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TATBIQ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Sanoat va ekologiyadagi amaliy roli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8C1D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Gazlarni tozalash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Chiqindi gazlarni H₂S, SO₂, CO₂ va zaharli moddalardan tozalash; sanoat protivogazlarida gazlarni tutib qolish.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423628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96196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Suvni tozalash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Ichimlik suvi va oqova suvlarni neft mahsulotlari, boʼyoqlar, fenollar hamda sirt-aktiv moddalardan tozalash.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391635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364203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Geterogen kataliz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Sanoat sintez reaksiyalarining 80% gacha qismi katalizator sirtidagi adsorbsiya orqali boradi.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5108181"/>
            <a:ext cx="68580" cy="68580"/>
          </a:xfrm>
          <a:prstGeom prst="diamond">
            <a:avLst/>
          </a:prstGeom>
          <a:solidFill>
            <a:srgbClr val="0F5C58"/>
          </a:solidFill>
          <a:ln w="12700">
            <a:solidFill>
              <a:srgbClr val="0F5C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08074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Sanoat texnologiyalari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Koks gazidan benzol va toluol ajratish, shakar va moylarni rangsizlantirish, molekulyar elaklar (seolitlar) bilan gazlarni quritish.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Adsorbsion tozalash minorasi: iflos gaz — toza gaz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8C1D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4661583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9525">
            <a:solidFill>
              <a:srgbClr val="8C1D2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/home/user/jdakimyo/taqdimot/chiqish/rasm-kichik/gen-sanoa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459757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8C1D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D9D4C7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1" name="Text 18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990" dirty="0"/>
          </a:p>
        </p:txBody>
      </p:sp>
      <p:sp>
        <p:nvSpPr>
          <p:cNvPr id="22" name="Shape 19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D9D4C7">
                <a:alpha val="5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6300" y="6267450"/>
            <a:ext cx="10021531" cy="0"/>
          </a:xfrm>
          <a:prstGeom prst="line">
            <a:avLst/>
          </a:prstGeom>
          <a:noFill/>
          <a:ln w="15240">
            <a:solidFill>
              <a:srgbClr val="8C1D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870399" y="6240018"/>
            <a:ext cx="54864" cy="54864"/>
          </a:xfrm>
          <a:prstGeom prst="ellipse">
            <a:avLst/>
          </a:prstGeom>
          <a:solidFill>
            <a:srgbClr val="8C1D2F"/>
          </a:solidFill>
          <a:ln w="12700">
            <a:solidFill>
              <a:srgbClr val="8C1D2F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2865120"/>
            <a:ext cx="776097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8C1D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3505200"/>
            <a:ext cx="10439095" cy="72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67"/>
              </a:lnSpc>
              <a:buNone/>
            </a:pPr>
            <a:r>
              <a:rPr lang="en-US" sz="4620" dirty="0">
                <a:solidFill>
                  <a:srgbClr val="1216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xulosalar</a:t>
            </a:r>
            <a:endParaRPr lang="en-US" sz="4620" dirty="0"/>
          </a:p>
        </p:txBody>
      </p:sp>
      <p:sp>
        <p:nvSpPr>
          <p:cNvPr id="4" name="Shape 2"/>
          <p:cNvSpPr/>
          <p:nvPr/>
        </p:nvSpPr>
        <p:spPr>
          <a:xfrm>
            <a:off x="5455768" y="4411828"/>
            <a:ext cx="1280160" cy="0"/>
          </a:xfrm>
          <a:prstGeom prst="line">
            <a:avLst/>
          </a:prstGeom>
          <a:noFill/>
          <a:ln w="28575">
            <a:solidFill>
              <a:srgbClr val="8C1D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300" y="4722724"/>
            <a:ext cx="10439095" cy="333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568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energiyasi — barcha sirt hodisalarining manbai</a:t>
            </a:r>
            <a:endParaRPr lang="en-US" sz="1568" dirty="0"/>
          </a:p>
        </p:txBody>
      </p:sp>
      <p:sp>
        <p:nvSpPr>
          <p:cNvPr id="6" name="Text 4"/>
          <p:cNvSpPr/>
          <p:nvPr/>
        </p:nvSpPr>
        <p:spPr>
          <a:xfrm>
            <a:off x="876300" y="5111153"/>
            <a:ext cx="10439095" cy="333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568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Izotermalar (Lengmyur, Freyndlih, BET) adsorbsiyani miqdoriy tavsiflaydi</a:t>
            </a:r>
            <a:endParaRPr lang="en-US" sz="1568" dirty="0"/>
          </a:p>
        </p:txBody>
      </p:sp>
      <p:sp>
        <p:nvSpPr>
          <p:cNvPr id="7" name="Text 5"/>
          <p:cNvSpPr/>
          <p:nvPr/>
        </p:nvSpPr>
        <p:spPr>
          <a:xfrm>
            <a:off x="876300" y="5499583"/>
            <a:ext cx="10439095" cy="333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568" dirty="0">
                <a:solidFill>
                  <a:srgbClr val="5A63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tibbiyot, sanoat va ekologiyada hal qiluvchi jarayon</a:t>
            </a:r>
            <a:endParaRPr lang="en-US" sz="1568" dirty="0"/>
          </a:p>
        </p:txBody>
      </p:sp>
      <p:sp>
        <p:nvSpPr>
          <p:cNvPr id="8" name="Text 6"/>
          <p:cNvSpPr/>
          <p:nvPr/>
        </p:nvSpPr>
        <p:spPr>
          <a:xfrm>
            <a:off x="876300" y="5909310"/>
            <a:ext cx="1043909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dirty="0">
                <a:solidFill>
                  <a:srgbClr val="8B93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uchun rahmat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2026-10-11T08:05:49Z</dcterms:created>
  <dcterms:modified xsi:type="dcterms:W3CDTF">2026-10-11T08:05:49Z</dcterms:modified>
</cp:coreProperties>
</file>