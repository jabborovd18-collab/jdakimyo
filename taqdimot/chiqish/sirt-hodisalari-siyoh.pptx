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257060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KOLLOID KIMYO · MAʼRUZA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9158935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216"/>
              </a:lnSpc>
              <a:buNone/>
            </a:pPr>
            <a:r>
              <a:rPr lang="en-US" sz="55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Sirt hodisalari va adsorbsiya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876300" y="2794254"/>
            <a:ext cx="12344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3086862"/>
            <a:ext cx="9158935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hodisalari termodinamikasi, adsorbsiya izotermalari va amaliy tizimlar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76300" y="5429250"/>
            <a:ext cx="10439095" cy="0"/>
          </a:xfrm>
          <a:prstGeom prst="line">
            <a:avLst/>
          </a:prstGeom>
          <a:noFill/>
          <a:ln w="7620">
            <a:solidFill>
              <a:srgbClr val="26304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8115" y="5575554"/>
            <a:ext cx="1097280" cy="27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63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137617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MAVZU REJASI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7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Ilmiy programma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876300" y="1859280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1278636" y="1859280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erkin energiyasi, sirt tarangligi va termodinamik asoslar (Gibbs tenglamasi)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76300" y="2556171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78636" y="2556171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tarangligiga taʼsir etuvchi omillar va Antonov qoidasi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76300" y="3253063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78636" y="3253063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Egri sirtlar termodinamikasi: Laplas va Kelvin (Tomson) tenglamalari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76300" y="3949954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278636" y="3949954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Sorbsiya jarayonlari: fizikaviy adsorbsiya, xemosorbsiya va kapillyar kondensatlanish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315304" y="1859280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717640" y="1859280"/>
            <a:ext cx="4561180" cy="82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Sirt-aktiv (SAM), sirt-inert (SIM) va sirt-nofaol (SNM) moddalar. Traube-Dyuklo qoidasi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315304" y="2813156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717640" y="2813156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Monomolekulyar adsorbsiya nazariyalari: Gibbs va Lengmyur izotermalari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315304" y="3510047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07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717640" y="3510047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Polimolekulyar modellar: Freyndlih, Polyani va BET (Brunauer–Emmett–Teller)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6315304" y="4206939"/>
            <a:ext cx="384048" cy="32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08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717640" y="4206939"/>
            <a:ext cx="4561180" cy="56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Qattiq adsorbentlar va eritmalardan adsorbsiya: Panet-Fayans, Rebinder, xromatografiya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3" name="Text 21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300" y="6267450"/>
            <a:ext cx="835128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83996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15000" dirty="0">
                <a:solidFill>
                  <a:srgbClr val="564C3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48475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BIRINCHI QISM</a:t>
            </a:r>
            <a:endParaRPr lang="en-US" sz="938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684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59"/>
              </a:lnSpc>
              <a:buNone/>
            </a:pPr>
            <a:r>
              <a:rPr lang="en-US" sz="43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Sirt termodinamikasi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76300" y="4145661"/>
            <a:ext cx="10058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4474845"/>
            <a:ext cx="7894015" cy="35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energiyasi, sirt tarangligi, sirt-aktiv moddalar va egri sirtlar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1252691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1559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24485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TERMODINAMIKASI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Sirt qatlamidagi ortiqcha erkin energiya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Molekulalararo oʼzaro taʼsir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Hajmdagi molekula (A) barcha yoʼnalishlarda teng kuchlar bilan tortiladi (ΣF = 0). Sirt qatlamidagi molekula (B) esa faqat suyuqlik ichiga tortiladi — uning kuch maydoni kompensatsiyalanmagan.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6300" y="3677793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650361"/>
            <a:ext cx="5352117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erkin energiyasi (Gs)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Molekulani hajmdan sirtga chiqarish uchun tortishish kuchlariga qarshi ish bajarilishi kerak. Bu ish sirtda ortiqcha erkin energiya koʼrinishida toʼplanadi.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6300" y="4978146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50714"/>
            <a:ext cx="5352117" cy="826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tarangligi (σ)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yuzasini 1 m² ga oshirish uchun sarflanadigan solishtirma erkin sirt energiyasi yoki sirtga urinma yoʼnalishda taʼsir etuvchi kuch [mN/m yoki J/m²].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erkin energiyasi tenglamasi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736092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23" y="2761488"/>
            <a:ext cx="3566743" cy="6263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589020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Termodinamikaning I va II qonuni birlashuvi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762756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899916"/>
            <a:ext cx="4593202" cy="736092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423" y="3954780"/>
            <a:ext cx="3566743" cy="6263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782312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tarangligining termodinamik taʼrifi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956048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5093208"/>
            <a:ext cx="4593202" cy="736092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423" y="5148072"/>
            <a:ext cx="3566743" cy="62636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1670255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19123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24485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TERMODINAMIKASI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Sirt tarangligiga taʼsir etuvchi omillar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Modda tabiati va qutbliligi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Molekulalararo bogʼlanish qancha kuchli boʼlsa (vodorod bogʼlar, ionli bogʼlar), sirt tarangligi shuncha yuqori boʼladi: suvda σ = 72,8 mN/m, simobda σ = 475 mN/m.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682556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655124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Harorat taʼsiri (T)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Harorat ortishi bilan molekulalarning issiqlik harakati kuchayadi, molekulalararo tortishish zaiflashadi va sirt tarangligi chiziqli kamayadi. Kritik haroratda (Tk) σ = 0 boʼladi.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987671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60239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Antonov qoidasi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Oʼzaro cheklangan eruvchan ikki suyuqlik chegarasidagi sirt tarangligi ularning toʼyingan faza sirt tarangliklari ayirmasiga teng.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tarangligining haroratga bogʼliqligi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09" y="2761488"/>
            <a:ext cx="1671770" cy="2935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256239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Antonov qoidasi tenglamasi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429975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567135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09" y="3621999"/>
            <a:ext cx="1671770" cy="2935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167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va hajm molekulalariga taʼsir etuvchi kuchlar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2904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27647"/>
            <a:ext cx="4593202" cy="1531067"/>
          </a:xfrm>
          <a:prstGeom prst="roundRect">
            <a:avLst>
              <a:gd name="adj" fmla="val 836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790" y="4482511"/>
            <a:ext cx="2132009" cy="142133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087819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936687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24485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TERMODINAMIKASI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Sirt-aktiv moddalar va Traube-Dyuklo qoidasi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aktivligi (g)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Erigan moddaning sirt tarangligini pasaytirish qobiliyati. Chegarada g = −dσ/dC (C → 0 sharoitida) koʼrinishida aniqlanadi.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411093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83661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Traube-Dyuklo qoidasi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xil gomologik qatordagi sirt-aktiv moddalarning (spirtlar, yogʼ kislotalari) uglevodorod zanjiri bitta −CH₂− guruhga uzayganda, ularning sirt aktivligi 3,0–3,5 baravar ortadi.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716209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688777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Fizikaviy sababi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Uglevodorod radikali suv muhitidan sirt qatlamiga gidrofob kuchlar taʼsirida siqib chiqariladi — molekula sirtda «dumini koʼtarib» joylashadi.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Rebinder boʼyicha sirt aktivlik taʼrifi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09" y="2761488"/>
            <a:ext cx="1671770" cy="2935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256239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Traube-Dyuklo koeffitsiyenti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429975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567135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09" y="3621999"/>
            <a:ext cx="1671770" cy="2935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167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Spirtlar gomologik qatorida sirt tarangligi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2904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27647"/>
            <a:ext cx="4593202" cy="1454514"/>
          </a:xfrm>
          <a:prstGeom prst="roundRect">
            <a:avLst>
              <a:gd name="adj" fmla="val 880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121" y="4482511"/>
            <a:ext cx="2123346" cy="134478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505383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354251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24485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TERMODINAMIKASI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Egri sirtlar: Laplas va Kelvin tenglamalari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826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Kapillyar bosim (Laplas)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Suyuqlik sirti egrilanganda (tomchi, pufakcha, kapillyar menisk) sirt taranglik kuchlari natijasida qoʼshimcha Laplas bosimi ΔP hosil boʼladi.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6300" y="342061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93186"/>
            <a:ext cx="5352117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Botiq va qabariq menisklar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Qabariq sirtda (tomchi) ichki bosim ortadi (ΔP &gt; 0). Botiq sirtda (kapillyar) bosim pasayadi (ΔP &lt; 0) — bu kapillyar koʼtarilishga sabab boʼladi.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6300" y="4720971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693539"/>
            <a:ext cx="5352117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Kelvin (Tomson) tenglamasi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Kichik tomchilar ustidagi toʼyingan bugʼ bosimi (Pr) tekis sirt ustidagi bosimdan (P₀) yuqori boʼladi. Botiq kapillyarlarda esa bugʼ bosimi pasayadi — kapillyar kondensatlanish shu asosda kechadi.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Laplas tenglamasi (sferik sirt)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09" y="2761488"/>
            <a:ext cx="3968371" cy="6968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6595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Kelvin (Tomson) tenglamasi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8332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970447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609" y="4025311"/>
            <a:ext cx="3968371" cy="6968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2922947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771815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15000" dirty="0">
                <a:solidFill>
                  <a:srgbClr val="564C3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48475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IKKINCHI QISM</a:t>
            </a:r>
            <a:endParaRPr lang="en-US" sz="938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59"/>
              </a:lnSpc>
              <a:buNone/>
            </a:pPr>
            <a:r>
              <a:rPr lang="en-US" sz="43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Sorbsiya va adsorbsiya asoslari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76300" y="4775454"/>
            <a:ext cx="10058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104638"/>
            <a:ext cx="7894015" cy="35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Jarayonlar tasnifi, miqdoriy koʼrsatkichlar va Gibbs tenglamasi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3340510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9378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343928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SORBSIYA VA ADSORBSIYA ASOSLARI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Sorbsiya hodisalarining mexanizmi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76300" y="2149688"/>
            <a:ext cx="3333394" cy="2932652"/>
          </a:xfrm>
          <a:prstGeom prst="roundRect">
            <a:avLst>
              <a:gd name="adj" fmla="val 5924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424008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606888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14044" y="3009224"/>
            <a:ext cx="2876194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Adsorbsiya (sirtqi)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14044" y="3387271"/>
            <a:ext cx="2876194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Moddaning fazalar ajralish sirtida (qattiq/gaz, qattiq/suyuqlik) toʼplanishi. Sirtqi hodisa; tez muvozanatga erishadi; qaytar — desorbsiya kuzatiladi.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429150" y="2149688"/>
            <a:ext cx="3333394" cy="2932652"/>
          </a:xfrm>
          <a:prstGeom prst="roundRect">
            <a:avLst>
              <a:gd name="adj" fmla="val 5924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6894" y="2424008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6894" y="2606888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6894" y="3009224"/>
            <a:ext cx="2876194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Absorbsiya (hajmiy)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4666894" y="3387271"/>
            <a:ext cx="2876194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Yutilayotgan moddaning ikkinchi faza (suyuqlik yoki qattiq jism) hajmi boʼylab tekis tarqalishi. Diffuziya bilan bogʼliq, sekin boradi.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982001" y="2149688"/>
            <a:ext cx="3333394" cy="2932652"/>
          </a:xfrm>
          <a:prstGeom prst="roundRect">
            <a:avLst>
              <a:gd name="adj" fmla="val 5924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9745" y="2424008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9745" y="2606888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19745" y="3009224"/>
            <a:ext cx="2876194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Kapillyar kondensatlanish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8219745" y="3387271"/>
            <a:ext cx="2876194" cy="151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Gʼovak adsorbentlarda botiq menisklar hosil boʼlishi natijasida bugʼning P &lt; P₀ bosimda suyuqlikka aylanishi. Kelvin tenglamasi va histerezis sirtlari bilan tavsiflanadi.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2" name="Text 20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6267450"/>
            <a:ext cx="3758074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6942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43928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SORBSIYA VA ADSORBSIYA ASOSLARI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Miqdoriy koʼrsatkichlar va absolyut adsorbsiya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Asosiy tushunchalar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Adsorbent — sirtida adsorbsiya sodir boʼladigan qattiq yoki suyuq modda. Adsorbtiv — adsorbsiyalanuvchi modda. Adsorbat — sirtda ushlanib qolgan modda.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75589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28466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Absolyut adsorbsiya (a)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Adsorbentning birlik massasi (m) yoki birlik sirt yuzasida (S) toʼplangan adsorbatning mol miqdori.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862894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35462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 ortiqcha adsorbsiyasi (G)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qatlamidagi modda miqdorining hajm konsentratsiyasiga nisbatan ortiqcha qismi [mol/m²].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Absolyut adsorbsiya (a)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09" y="2761488"/>
            <a:ext cx="3968371" cy="6968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6595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 ortiqcha adsorbsiyasi (G)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8332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970447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609" y="4025311"/>
            <a:ext cx="3968371" cy="6968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4175638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24506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43928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SORBSIYA VA ADSORBSIYA ASOSLARI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07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Gibbsning fundamental adsorbsiya tenglamasi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Tenglamaning mohiyati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tarangligining konsentratsiyaga qarab oʼzgarishi (dσ/dC) bilan sirtda modda toʼplanishi (G) oʼrtasidagi fundamental termodinamik bogʼliqlik.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75589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28466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Musbat adsorbsiya (G &gt; 0)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dσ/dC &lt; 0 boʼlsa (sirt-aktiv moddalar), G &gt; 0 — modda sirtda toʼplanadi va sirt tarangligini pasaytiradi.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862894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35462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Manfiy adsorbsiya (G &lt; 0)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dσ/dC &gt; 0 boʼlsa (sirt-inert moddalar), G &lt; 0 — modda hajmga oʼtadi, sirt qatlamida kamayadi.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 tenglamasi (konsentratsiyali)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09" y="2761488"/>
            <a:ext cx="1671770" cy="2935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256239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 tenglamasi (aktivlikli)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429975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567135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09" y="3621999"/>
            <a:ext cx="1671770" cy="2935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167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SAM, SIM va SNM moddalar uchun σ(C) egri chiziqlari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2904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27647"/>
            <a:ext cx="4593202" cy="1454514"/>
          </a:xfrm>
          <a:prstGeom prst="roundRect">
            <a:avLst>
              <a:gd name="adj" fmla="val 880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121" y="4482511"/>
            <a:ext cx="2123346" cy="134478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4593202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42070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15000" dirty="0">
                <a:solidFill>
                  <a:srgbClr val="564C3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48475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UCHINCHI QISM</a:t>
            </a:r>
            <a:endParaRPr lang="en-US" sz="938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684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59"/>
              </a:lnSpc>
              <a:buNone/>
            </a:pPr>
            <a:r>
              <a:rPr lang="en-US" sz="43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Monomolekulyar adsorbsiya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76300" y="4145661"/>
            <a:ext cx="10058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4474845"/>
            <a:ext cx="7894015" cy="35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Shishkovskiy tenglamasi, Lengmyur nazariyasi va izoterma sohalari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5010766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9634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8777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MONOMOLEKULYAR ADSORBSIYA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08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Shishkovskiy tenglamasi va molekula oʼlchamlari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Shishkovskiy tenglamasi (1908)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Sirt-aktiv moddalar konsentratsiyasi ortishi bilan sirt tarangligi pasayishini empirik ravishda ifodalaydi.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484436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57004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 va Lengmyur bilan bogʼlanishi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Shishkovskiy konstantasi B = Gmax·RT ekanligi isbotlandi — bu Gibbs tenglamasidan Lengmyur izotermasiga oʼtish imkonini berdi.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862894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35462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Molekula parametrlari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Gmax qiymatidan molekulaning sirtda egallagan koʼndalang kesim yuzasi (S₀) va sirt qatlamining qalinligi (l) aniqlanadi.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Shishkovskiy empirik tenglamasi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736730"/>
          </a:xfrm>
          <a:prstGeom prst="roundRect">
            <a:avLst>
              <a:gd name="adj" fmla="val 17376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606" y="2761488"/>
            <a:ext cx="3570377" cy="6270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58965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Gibbs-Lengmyur birlashgan tenglamasi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76339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900554"/>
            <a:ext cx="4593202" cy="734816"/>
          </a:xfrm>
          <a:prstGeom prst="roundRect">
            <a:avLst>
              <a:gd name="adj" fmla="val 17422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420" y="3955418"/>
            <a:ext cx="3568749" cy="6250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781674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Molekula oʼlchamlari formulalari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955410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5092570"/>
            <a:ext cx="4593202" cy="736730"/>
          </a:xfrm>
          <a:prstGeom prst="roundRect">
            <a:avLst>
              <a:gd name="adj" fmla="val 17376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606" y="5147434"/>
            <a:ext cx="3570377" cy="6270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5428330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77198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8777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MONOMOLEKULYAR ADSORBSIYA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09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Lengmyurning monomolekulyar nazariyasi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59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Lengmyur postulatlari (1915)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Adsorbsiya adsorbent sirtidagi diskret faol markazlarda sodir boʼladi. 2. Har bir faol markaz faqat bitta adsorbat molekulasini tuta oladi (monoqavat). 3. Faol markazlar energetik jihatdan teng va bir-biriga taʼsir etmaydi. 4. Jarayon dinamik muvozanatda: adsorbsiya tezligi = desorbsiya tezligi.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6300" y="4192143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4164711"/>
            <a:ext cx="5352117" cy="826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Izoterma shakli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Adsorbsiya toʼyingan qiymatga intiladi: past konsentratsiyada keskin oʼsadi, yuqorisida esa gorizontalga yaqinlashadi.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6300" y="5235321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5207889"/>
            <a:ext cx="5352117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toʼlish darajasi (θ)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 = G/Gmax — sirtning qancha qismi monoqavat bilan qoplanganini koʼrsatadi (0 ≤ θ ≤ 1).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Lengmyur adsorbsiya izotermasi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09" y="2761488"/>
            <a:ext cx="1671770" cy="2935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256239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Sirt toʼlish darajasi (θ)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429975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567135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09" y="3621999"/>
            <a:ext cx="1671770" cy="2935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167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Lengmyur izotermasi grafigi va sohalari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2904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27647"/>
            <a:ext cx="4593202" cy="1407594"/>
          </a:xfrm>
          <a:prstGeom prst="roundRect">
            <a:avLst>
              <a:gd name="adj" fmla="val 9095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009" y="4482511"/>
            <a:ext cx="2117571" cy="129786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14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5845893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94761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8777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MONOMOLEKULYAR ADSORBSIYA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122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Lengmyur izotermasining sohalari va linearizatsiyasi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503170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768346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740914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Genri sohasi (C → 0)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Juda kam konsentratsiyada KC ≪ 1, shunda G = Gmax·K·C = KH·C. Adsorbsiya konsentratsiyaga toʼgʼri mutanosib.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852672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25240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Toʼyinish sohasi (C → ∞)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Yuqori konsentratsiyada KC ≫ 1, shunda G = Gmax. Adsorbent sirti toʼliq monoqavat bilan qoplanadi.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93699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9566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Linearizatsiya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Tajriba maʼlumotlaridan Gmax va K doimiylarini grafik usulda aniqlash uchun 1/G ga nisbatan 1/C grafigi chiziladi.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786634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Lengmyur tenglamasining chiziqli shakli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960370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3097530"/>
            <a:ext cx="4593202" cy="606420"/>
          </a:xfrm>
          <a:prstGeom prst="roundRect">
            <a:avLst>
              <a:gd name="adj" fmla="val 21110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622" y="3152394"/>
            <a:ext cx="2828344" cy="4966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850254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Genri sohasi chegarasi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4023990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4161150"/>
            <a:ext cx="4593202" cy="60453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599" y="4216014"/>
            <a:ext cx="2826391" cy="4948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911984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Toʼyinish sohasi chegarasi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5085720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5222880"/>
            <a:ext cx="4593202" cy="606420"/>
          </a:xfrm>
          <a:prstGeom prst="roundRect">
            <a:avLst>
              <a:gd name="adj" fmla="val 21110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622" y="5277744"/>
            <a:ext cx="2828344" cy="4966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15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6263457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12325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15000" dirty="0">
                <a:solidFill>
                  <a:srgbClr val="564C3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70192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TOʼRTINCHI QISM</a:t>
            </a:r>
            <a:endParaRPr lang="en-US" sz="938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59"/>
              </a:lnSpc>
              <a:buNone/>
            </a:pPr>
            <a:r>
              <a:rPr lang="en-US" sz="43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Polimolekulyar modellar va adsorbentlar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76300" y="4775454"/>
            <a:ext cx="10058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104638"/>
            <a:ext cx="7894015" cy="35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Freyndlih, BET nazariyasi, gʼovaklik tasnifi va Rebinder qoidasi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6681021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9889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57060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POLIMOLEKULYAR MODELLAR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Freyndlihning empirik izotermasi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Tenglama (1909)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Gʼovak va energetik jihatdan bir jinsli boʼlmagan adsorbentlarda oʼrtacha konsentratsiyalar sohasida adsorbsiyani ifodalovchi empirik darajali tenglama.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75589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28466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Tenglama doimiylari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 — adsorbsion sigʼim koeffitsiyenti; 1/n — sirtning energetik bir jinsli emaslik koeffitsiyenti (0,1 &lt; 1/n &lt; 0,7).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862894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35462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Qoʼllanish chegarasi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Juda kichik va juda yuqori konsentratsiyalarda (toʼyinishda) bajarilmaydi — bu uning asosiy cheklovi.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Freyndlih darajali tenglamasi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706624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09" y="2761488"/>
            <a:ext cx="1671770" cy="29358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256239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Logarifmik chiziqli shakli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429975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567135"/>
            <a:ext cx="4593202" cy="403311"/>
          </a:xfrm>
          <a:prstGeom prst="roundRect">
            <a:avLst>
              <a:gd name="adj" fmla="val 3174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909" y="3621999"/>
            <a:ext cx="1671770" cy="29358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167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Freyndlih izotermasi (logarifmik koordinatalar)</a:t>
            </a:r>
            <a:endParaRPr lang="en-US" sz="1013" dirty="0"/>
          </a:p>
        </p:txBody>
      </p:sp>
      <p:sp>
        <p:nvSpPr>
          <p:cNvPr id="21" name="Shape 17"/>
          <p:cNvSpPr/>
          <p:nvPr/>
        </p:nvSpPr>
        <p:spPr>
          <a:xfrm>
            <a:off x="6722193" y="42904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27647"/>
            <a:ext cx="4593202" cy="1454514"/>
          </a:xfrm>
          <a:prstGeom prst="roundRect">
            <a:avLst>
              <a:gd name="adj" fmla="val 880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2" descr="/home/user/jdakimyo/taqdimot/kontent/rasmlar/image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121" y="4482511"/>
            <a:ext cx="2123346" cy="134478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17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7098585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47453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57060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POLIMOLEKULYAR MODELLAR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BET polimolekulyar modeli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1721358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1986534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1959102"/>
            <a:ext cx="5352117" cy="168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BET nazariyasi (1938)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Brunauer, Emmett va Teller taklif etgan model: 1. Adsorbsiya polimolekulyar (koʼp qatlamli) xarakterga ega. 2. Birinchi qatlam energiyasi (E₁) adsorbent bilan taʼsirga bogʼliq. 3. Ikkinchi va keyingi qatlamlar kondensatlanish issiqligiga (EL) teng deb qaraladi.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874389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46957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S-simon izoterma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bosimda bir qatlam, oʼrta bosimda koʼp qatlam, yuqori bosimda kapillyar kondensatlanish — egri chiziq S shaklini oladi.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947857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20425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Amaliy ahamiyati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Kukun va gʼovak adsorbentlarning solishtirma sirt yuzasini (Ssol) aniqlashda standart xalqaro usul hisoblanadi.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740481" y="2004822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BET chiziqli tenglamasi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22193" y="2178558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2315718"/>
            <a:ext cx="4593202" cy="663504"/>
          </a:xfrm>
          <a:prstGeom prst="roundRect">
            <a:avLst>
              <a:gd name="adj" fmla="val 19294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user/jdakimyo/taqdimot/kontent/rasmlar/image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095" y="2370582"/>
            <a:ext cx="3153398" cy="5537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125526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BET polimolekulyar izotermasi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6722193" y="3299262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436422"/>
            <a:ext cx="4593202" cy="2392878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/home/user/jdakimyo/taqdimot/kontent/rasmlar/image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07" y="3491286"/>
            <a:ext cx="3604974" cy="228315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18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7516149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65017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57060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POLIMOLEKULYAR MODELLAR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Qattiq adsorbentlar va gʼovaklik strukturasi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Gidrofil (qutbli) adsorbentlar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Silikagel SiO₂, alyumogel Al₂O₃, gil minerallari. Suv va qutbli moddalarni yaxshi adsorbsiyalaydi.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369993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42561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Gidrofob (qutbsiz) adsorbentlar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Aktivlangan koʼmir, soot, grafit. Organik moddalarni suvli eritmalardan yaxshi tutadi.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362545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35113"/>
            <a:ext cx="5352117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IUPAC boʼyicha gʼovaklar tasnifi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Mikrogʼovaklar r &lt; 2 nm; mezogʼovaklar 2 nm &lt; r &lt; 50 nm; makrogʼovaklar r &gt; 50 nm.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876300" y="5355098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27666"/>
            <a:ext cx="5352117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Rebinder qoidasi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Adsorbsiya faza chegaralarining qutbliliklari farqi kamayishi yoʼnalishida boradi.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Rebinder qutblar tenglashtirish qoidasi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2706624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0" descr="/home/user/jdakimyo/taqdimot/kontent/rasmlar/image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09" y="2761488"/>
            <a:ext cx="3968371" cy="69689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1" name="Text 18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19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6300" y="6267450"/>
            <a:ext cx="7933712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82580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15000" dirty="0">
                <a:solidFill>
                  <a:srgbClr val="564C3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334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BESHINCHI QISM</a:t>
            </a:r>
            <a:endParaRPr lang="en-US" sz="938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59"/>
              </a:lnSpc>
              <a:buNone/>
            </a:pPr>
            <a:r>
              <a:rPr lang="en-US" sz="435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Eritmalardan adsorbsiya va qoʼllanish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76300" y="4775454"/>
            <a:ext cx="100584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104638"/>
            <a:ext cx="7894015" cy="358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Ionli adsorbsiya, xromatografiya, tibbiyot va sanoat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8351276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0144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570607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ERITMALARDAN ADSORBSIYA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E9C46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Ionli adsorbsiya va Panet-Fayans qoidasi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" y="2112264"/>
            <a:ext cx="914400" cy="0"/>
          </a:xfrm>
          <a:prstGeom prst="line">
            <a:avLst/>
          </a:prstGeom>
          <a:noFill/>
          <a:ln w="24765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377440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350008"/>
            <a:ext cx="5352117" cy="826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Ionli adsorbsiya xususiyatlari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Qattiq adsorbent sirtida elektrod potensiali va elektr ikki qatlami (EDL) hosil boʼlishi bilan kechadigan tanlanma (selektiv) adsorbsiya.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6300" y="3302127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274695"/>
            <a:ext cx="5352117" cy="108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Panet-Fayans selektivlik qoidasi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Qattiq kristall adsorbent sirtiga birinchi navbatda uning kristall panjarasi tarkibiga kiruvchi yoki u bilan qiyin eriydigan birikma hosil qiluvchi ionlar adsorbsiyalanadi.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6300" y="4483989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456557"/>
            <a:ext cx="5352117" cy="826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Liotrop (Hofmeyster) qatorlar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xil valentli ionlarning gidratlanish radiusi kamayishi bilan ularning adsorbsiyalanish qobiliyati ortadi.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6300" y="5408676"/>
            <a:ext cx="68580" cy="68580"/>
          </a:xfrm>
          <a:prstGeom prst="diamond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81244"/>
            <a:ext cx="5352117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Ionitlar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4F6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Kationitlar (kation almashuvchi) va anionitlar (anion almashuvchi) — gʼovak polimer va minerallar.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40481" y="2395728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Liotrop kationlar qatori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6722193" y="2569464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2706624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0" descr="/home/user/jdakimyo/taqdimot/kontent/rasmlar/image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609" y="2761488"/>
            <a:ext cx="3968371" cy="69689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40481" y="3659551"/>
            <a:ext cx="4547482" cy="247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4F6F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Liotrop anionlar qatori</a:t>
            </a:r>
            <a:endParaRPr lang="en-US" sz="1013" dirty="0"/>
          </a:p>
        </p:txBody>
      </p:sp>
      <p:sp>
        <p:nvSpPr>
          <p:cNvPr id="19" name="Shape 16"/>
          <p:cNvSpPr/>
          <p:nvPr/>
        </p:nvSpPr>
        <p:spPr>
          <a:xfrm>
            <a:off x="6722193" y="3833287"/>
            <a:ext cx="201168" cy="0"/>
          </a:xfrm>
          <a:prstGeom prst="line">
            <a:avLst/>
          </a:prstGeom>
          <a:noFill/>
          <a:ln w="20955">
            <a:solidFill>
              <a:srgbClr val="E9C4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2193" y="3970447"/>
            <a:ext cx="4593202" cy="806623"/>
          </a:xfrm>
          <a:prstGeom prst="roundRect">
            <a:avLst>
              <a:gd name="adj" fmla="val 15871"/>
            </a:avLst>
          </a:prstGeom>
          <a:solidFill>
            <a:srgbClr val="FFFFFF"/>
          </a:solidFill>
          <a:ln w="9525">
            <a:solidFill>
              <a:srgbClr val="2A355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pic>
        <p:nvPicPr>
          <p:cNvPr id="21" name="Image 1" descr="/home/user/jdakimyo/taqdimot/kontent/rasmlar/image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609" y="4025311"/>
            <a:ext cx="3968371" cy="6968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5" name="Text 21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21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6300" y="6267450"/>
            <a:ext cx="8768840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617708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159334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XROMATOGRAFIYA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Xromatografik ajratish usullari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76300" y="1931089"/>
            <a:ext cx="2445182" cy="3661315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205409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388289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14044" y="2790625"/>
            <a:ext cx="1987982" cy="55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Tsvet kashfiyoti (1903)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14044" y="3418703"/>
            <a:ext cx="1987982" cy="175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M.S. Tsvet osimlik pigmentlarini (xlorofill, karotin) boʼr ustunida (CaCO₃) adsorbsion ajratib, xromatografiya usuliga asos soldi.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540938" y="1931089"/>
            <a:ext cx="2445182" cy="3661315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8682" y="2205409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8682" y="2388289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78682" y="2790625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Klassifikatsiya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3778682" y="3168672"/>
            <a:ext cx="1987982" cy="175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Adsorbsion (Gmax va K farqi), taqsimlash (eruvchanlik farqi), ion almashinish va eksklyuzion (gel-filtratsiya) xromatografiyalari.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205576" y="1931089"/>
            <a:ext cx="2445182" cy="3661315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3320" y="2205409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3320" y="2388289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3320" y="2790625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HPLC va GC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443320" y="3168672"/>
            <a:ext cx="1987982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Yuqori samarali suyuqlik va gaz xromatografiyasi — analitik kimyoning eng sezgir usullari.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8870213" y="1931089"/>
            <a:ext cx="2445182" cy="3661315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07957" y="2205409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957" y="2388289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07957" y="2790625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Ustun mexanizmi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107957" y="3168672"/>
            <a:ext cx="1987982" cy="2240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Harakatchan faza (eluyent) va qoʼzgʼalmas faza (adsorbent) oʼrtasida uzluksiz adsorbsiya-desorbsiya boradi. Koeffitsiyenti kichik modda ustundan birinchi chiqadi.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6300" y="6267450"/>
            <a:ext cx="9186404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35272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94183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AMALIYOT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Adsorbsiyaning tibbiyotdagi roli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76300" y="1928946"/>
            <a:ext cx="2445182" cy="3668459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203266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386146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14044" y="2788482"/>
            <a:ext cx="1987982" cy="55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Entero- va gemosorbsiya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14044" y="3416560"/>
            <a:ext cx="1987982" cy="151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Oshqozon-ichak yoʼlidan va qondan toksinlar, zaharli moddalar, allergenlar hamda ogʼir metallarni ajratib olish.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540938" y="1928946"/>
            <a:ext cx="2445182" cy="3668459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8682" y="2203266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8682" y="2386146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78682" y="2788482"/>
            <a:ext cx="1987982" cy="55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Biologik membranalar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3778682" y="3416560"/>
            <a:ext cx="1987982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Hujayra membranasi lipid ikki qavat va oqsil qatlamlaridan tuzilgan; fermentativ va retseptor jarayonlari sirt hodisalariga asoslanadi.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205576" y="1928946"/>
            <a:ext cx="2445182" cy="3668459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3320" y="2203266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3320" y="2386146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3320" y="2788482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Dori tashuvchilari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443320" y="3166529"/>
            <a:ext cx="1987982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Preparatlarning soʼrilishini oshirish uchun ular mikrogʼovak tashuvchilarda immobilizatsiyalanadi.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8870213" y="1928946"/>
            <a:ext cx="2445182" cy="3668459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07957" y="2203266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957" y="2386146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07957" y="2788482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Sorbentlar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107957" y="3166529"/>
            <a:ext cx="1987982" cy="151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Aktivlangan koʼmir, smekta va politrepan, silikagelli enterosorbentlar (Polisorb), selektiv immunasorbentlar.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6300" y="6267450"/>
            <a:ext cx="9603968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2836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94183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AMALIYOT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Sanoat va ekologiyadagi amaliy roli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76300" y="2076821"/>
            <a:ext cx="2445182" cy="3175540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351141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534021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14044" y="2936357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Gazlarni tozalash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14044" y="3314405"/>
            <a:ext cx="1987982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Chiqindi gazlarni H₂S, SO₂, CO₂ va zaharli moddalardan tozalash; sanoat protivogazlarida gazlarni tutib qolish.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540938" y="2076821"/>
            <a:ext cx="2445182" cy="3175540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8682" y="2351141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8682" y="2534021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78682" y="2936357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Suvni tozalash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3778682" y="3314405"/>
            <a:ext cx="1987982" cy="151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Ichimlik suvi va oqova suvlarni neft mahsulotlari, boʼyoqlar, fenollar hamda sirt-aktiv moddalardan tozalash.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205576" y="2076821"/>
            <a:ext cx="2445182" cy="3175540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3320" y="2351141"/>
            <a:ext cx="402336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3320" y="2534021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3320" y="2936357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Geterogen kataliz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443320" y="3314405"/>
            <a:ext cx="1987982" cy="126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Sanoat sintez reaksiyalarining 80% gacha qismi katalizator sirtidagi adsorbsiya orqali boradi.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8870213" y="2076821"/>
            <a:ext cx="2445182" cy="3175540"/>
          </a:xfrm>
          <a:prstGeom prst="roundRect">
            <a:avLst>
              <a:gd name="adj" fmla="val 7105"/>
            </a:avLst>
          </a:prstGeom>
          <a:solidFill>
            <a:srgbClr val="161E33"/>
          </a:solidFill>
          <a:ln w="9525">
            <a:solidFill>
              <a:srgbClr val="2A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07957" y="2351141"/>
            <a:ext cx="402336" cy="0"/>
          </a:xfrm>
          <a:prstGeom prst="line">
            <a:avLst/>
          </a:prstGeom>
          <a:noFill/>
          <a:ln w="2857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957" y="2534021"/>
            <a:ext cx="425196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E9C46A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07957" y="2936357"/>
            <a:ext cx="1987982" cy="30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F4F6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Texnologiyalar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107957" y="3314405"/>
            <a:ext cx="1987982" cy="175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Koks gazidan benzol va toluol ajratish, shakar va moylarni rangsizlantirish, molekulyar elaklar (seolitlar) bilan gazlarni quritish.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26304A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300" y="6233160"/>
            <a:ext cx="8610295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spc="105" kern="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KOLLOID KIMYO · SIRT HODISALARI VA ADSORBSIYA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10675315" y="6233160"/>
            <a:ext cx="6400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79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26304A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6300" y="6267450"/>
            <a:ext cx="10021531" cy="0"/>
          </a:xfrm>
          <a:prstGeom prst="line">
            <a:avLst/>
          </a:prstGeom>
          <a:noFill/>
          <a:ln w="1524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0399" y="6240018"/>
            <a:ext cx="54864" cy="5486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2865120"/>
            <a:ext cx="724662" cy="23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spc="180" kern="0" dirty="0">
                <a:solidFill>
                  <a:srgbClr val="E9C4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XULOSA</a:t>
            </a:r>
            <a:endParaRPr lang="en-US" sz="938" dirty="0"/>
          </a:p>
        </p:txBody>
      </p:sp>
      <p:sp>
        <p:nvSpPr>
          <p:cNvPr id="3" name="Text 1"/>
          <p:cNvSpPr/>
          <p:nvPr/>
        </p:nvSpPr>
        <p:spPr>
          <a:xfrm>
            <a:off x="876300" y="3505200"/>
            <a:ext cx="1043909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dirty="0">
                <a:solidFill>
                  <a:srgbClr val="F4F6FB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Asosiy xulosalar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55768" y="4351020"/>
            <a:ext cx="1280160" cy="0"/>
          </a:xfrm>
          <a:prstGeom prst="line">
            <a:avLst/>
          </a:prstGeom>
          <a:noFill/>
          <a:ln w="28575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4661916"/>
            <a:ext cx="10439095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Sirt energiyasi — barcha sirt hodisalarining manbai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876300" y="5098161"/>
            <a:ext cx="10439095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Izotermalar (Lengmyur, Freyndlih, BET) adsorbsiyani miqdoriy tavsiflaydi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76300" y="5534406"/>
            <a:ext cx="10439095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9A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Adsorbsiya tibbiyot, sanoat va ekologiyada hal qiluvchi jarayon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76300" y="5909310"/>
            <a:ext cx="10439095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Savollar uchun rahmat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2026-10-11T07:22:05Z</dcterms:created>
  <dcterms:modified xsi:type="dcterms:W3CDTF">2026-10-11T07:22:05Z</dcterms:modified>
</cp:coreProperties>
</file>