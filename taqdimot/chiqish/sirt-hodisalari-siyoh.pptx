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MAʼRUZA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5550219" cy="2659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838"/>
              </a:lnSpc>
              <a:buNone/>
            </a:pPr>
            <a:r>
              <a:rPr lang="en-US" sz="610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hodisalari va adsorbsiya</a:t>
            </a:r>
            <a:endParaRPr lang="en-US" sz="6105" dirty="0"/>
          </a:p>
        </p:txBody>
      </p:sp>
      <p:sp>
        <p:nvSpPr>
          <p:cNvPr id="4" name="Shape 2"/>
          <p:cNvSpPr/>
          <p:nvPr/>
        </p:nvSpPr>
        <p:spPr>
          <a:xfrm>
            <a:off x="876300" y="3820516"/>
            <a:ext cx="123444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6300" y="4113124"/>
            <a:ext cx="5550219" cy="7002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41"/>
              </a:lnSpc>
              <a:buNone/>
            </a:pPr>
            <a:r>
              <a:rPr lang="en-US" sz="1815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hodisalari termodinamikasi, adsorbsiya izotermalari va amaliy tizimlar</a:t>
            </a:r>
            <a:endParaRPr lang="en-US" sz="1815" dirty="0"/>
          </a:p>
        </p:txBody>
      </p:sp>
      <p:sp>
        <p:nvSpPr>
          <p:cNvPr id="6" name="Shape 4"/>
          <p:cNvSpPr/>
          <p:nvPr/>
        </p:nvSpPr>
        <p:spPr>
          <a:xfrm>
            <a:off x="6682551" y="2261836"/>
            <a:ext cx="4632844" cy="2710214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9525">
            <a:solidFill>
              <a:srgbClr val="2A355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682551" y="5026914"/>
            <a:ext cx="4632844" cy="259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073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Suv sirtidagi parda: sirt tarangligi qoʼshimcha bosimni koʼtaradi</a:t>
            </a:r>
            <a:endParaRPr lang="en-US" sz="1073" dirty="0"/>
          </a:p>
        </p:txBody>
      </p:sp>
      <p:sp>
        <p:nvSpPr>
          <p:cNvPr id="8" name="Shape 6"/>
          <p:cNvSpPr/>
          <p:nvPr/>
        </p:nvSpPr>
        <p:spPr>
          <a:xfrm>
            <a:off x="876300" y="5429250"/>
            <a:ext cx="10439095" cy="0"/>
          </a:xfrm>
          <a:prstGeom prst="line">
            <a:avLst/>
          </a:prstGeom>
          <a:noFill/>
          <a:ln w="7620">
            <a:solidFill>
              <a:srgbClr val="26304A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18115" y="5575554"/>
            <a:ext cx="1097280" cy="29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8"/>
              </a:lnSpc>
              <a:buNone/>
            </a:pPr>
            <a:r>
              <a:rPr lang="en-US" sz="1279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2026</a:t>
            </a:r>
            <a:endParaRPr lang="en-US" sz="1279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147904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MAVZU REJASI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412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Ilmiy programma</a:t>
            </a:r>
            <a:endParaRPr lang="en-US" sz="4125" dirty="0"/>
          </a:p>
        </p:txBody>
      </p:sp>
      <p:sp>
        <p:nvSpPr>
          <p:cNvPr id="4" name="Text 2"/>
          <p:cNvSpPr/>
          <p:nvPr/>
        </p:nvSpPr>
        <p:spPr>
          <a:xfrm>
            <a:off x="876300" y="1914525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1568" dirty="0"/>
          </a:p>
        </p:txBody>
      </p:sp>
      <p:sp>
        <p:nvSpPr>
          <p:cNvPr id="5" name="Text 3"/>
          <p:cNvSpPr/>
          <p:nvPr/>
        </p:nvSpPr>
        <p:spPr>
          <a:xfrm>
            <a:off x="1278636" y="1914525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erkin energiyasi, sirt tarangligi va termodinamik asoslar (Gibbs tenglamasi)</a:t>
            </a:r>
            <a:endParaRPr lang="en-US" sz="1568" dirty="0"/>
          </a:p>
        </p:txBody>
      </p:sp>
      <p:sp>
        <p:nvSpPr>
          <p:cNvPr id="6" name="Text 4"/>
          <p:cNvSpPr/>
          <p:nvPr/>
        </p:nvSpPr>
        <p:spPr>
          <a:xfrm>
            <a:off x="876300" y="2638101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1568" dirty="0"/>
          </a:p>
        </p:txBody>
      </p:sp>
      <p:sp>
        <p:nvSpPr>
          <p:cNvPr id="7" name="Text 5"/>
          <p:cNvSpPr/>
          <p:nvPr/>
        </p:nvSpPr>
        <p:spPr>
          <a:xfrm>
            <a:off x="1278636" y="2638101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tarangligiga taʼsir etuvchi omillar va Antonov qoidasi</a:t>
            </a:r>
            <a:endParaRPr lang="en-US" sz="1568" dirty="0"/>
          </a:p>
        </p:txBody>
      </p:sp>
      <p:sp>
        <p:nvSpPr>
          <p:cNvPr id="8" name="Text 6"/>
          <p:cNvSpPr/>
          <p:nvPr/>
        </p:nvSpPr>
        <p:spPr>
          <a:xfrm>
            <a:off x="876300" y="3361677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568" dirty="0"/>
          </a:p>
        </p:txBody>
      </p:sp>
      <p:sp>
        <p:nvSpPr>
          <p:cNvPr id="9" name="Text 7"/>
          <p:cNvSpPr/>
          <p:nvPr/>
        </p:nvSpPr>
        <p:spPr>
          <a:xfrm>
            <a:off x="1278636" y="3361677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Egri sirtlar termodinamikasi: Laplas va Kelvin (Tomson) tenglamalari</a:t>
            </a:r>
            <a:endParaRPr lang="en-US" sz="1568" dirty="0"/>
          </a:p>
        </p:txBody>
      </p:sp>
      <p:sp>
        <p:nvSpPr>
          <p:cNvPr id="10" name="Text 8"/>
          <p:cNvSpPr/>
          <p:nvPr/>
        </p:nvSpPr>
        <p:spPr>
          <a:xfrm>
            <a:off x="876300" y="4085253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1568" dirty="0"/>
          </a:p>
        </p:txBody>
      </p:sp>
      <p:sp>
        <p:nvSpPr>
          <p:cNvPr id="11" name="Text 9"/>
          <p:cNvSpPr/>
          <p:nvPr/>
        </p:nvSpPr>
        <p:spPr>
          <a:xfrm>
            <a:off x="1278636" y="4085253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jarayonlari: fizikaviy adsorbsiya, xemosorbsiya va kapillyar kondensatlanish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315304" y="1914525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1568" dirty="0"/>
          </a:p>
        </p:txBody>
      </p:sp>
      <p:sp>
        <p:nvSpPr>
          <p:cNvPr id="13" name="Text 11"/>
          <p:cNvSpPr/>
          <p:nvPr/>
        </p:nvSpPr>
        <p:spPr>
          <a:xfrm>
            <a:off x="6717640" y="1914525"/>
            <a:ext cx="4561180" cy="90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Sirt-aktiv (SAM), sirt-inert (SIM) va sirt-nofaol (SNM) moddalar. Traube-Dyuklo qoidasi</a:t>
            </a:r>
            <a:endParaRPr lang="en-US" sz="1568" dirty="0"/>
          </a:p>
        </p:txBody>
      </p:sp>
      <p:sp>
        <p:nvSpPr>
          <p:cNvPr id="14" name="Text 12"/>
          <p:cNvSpPr/>
          <p:nvPr/>
        </p:nvSpPr>
        <p:spPr>
          <a:xfrm>
            <a:off x="6315304" y="2920784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1568" dirty="0"/>
          </a:p>
        </p:txBody>
      </p:sp>
      <p:sp>
        <p:nvSpPr>
          <p:cNvPr id="15" name="Text 13"/>
          <p:cNvSpPr/>
          <p:nvPr/>
        </p:nvSpPr>
        <p:spPr>
          <a:xfrm>
            <a:off x="6717640" y="2920784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 nazariyalari: Gibbs va Lengmyur izotermalari</a:t>
            </a:r>
            <a:endParaRPr lang="en-US" sz="1568" dirty="0"/>
          </a:p>
        </p:txBody>
      </p:sp>
      <p:sp>
        <p:nvSpPr>
          <p:cNvPr id="16" name="Text 14"/>
          <p:cNvSpPr/>
          <p:nvPr/>
        </p:nvSpPr>
        <p:spPr>
          <a:xfrm>
            <a:off x="6315304" y="3644360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1568" dirty="0"/>
          </a:p>
        </p:txBody>
      </p:sp>
      <p:sp>
        <p:nvSpPr>
          <p:cNvPr id="17" name="Text 15"/>
          <p:cNvSpPr/>
          <p:nvPr/>
        </p:nvSpPr>
        <p:spPr>
          <a:xfrm>
            <a:off x="6717640" y="3644360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modellar: Freyndlih, Polyani va BET (Brunauer–Emmett–Teller)</a:t>
            </a:r>
            <a:endParaRPr lang="en-US" sz="1568" dirty="0"/>
          </a:p>
        </p:txBody>
      </p:sp>
      <p:sp>
        <p:nvSpPr>
          <p:cNvPr id="18" name="Text 16"/>
          <p:cNvSpPr/>
          <p:nvPr/>
        </p:nvSpPr>
        <p:spPr>
          <a:xfrm>
            <a:off x="6315304" y="4367936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1568" dirty="0"/>
          </a:p>
        </p:txBody>
      </p:sp>
      <p:sp>
        <p:nvSpPr>
          <p:cNvPr id="19" name="Text 17"/>
          <p:cNvSpPr/>
          <p:nvPr/>
        </p:nvSpPr>
        <p:spPr>
          <a:xfrm>
            <a:off x="6717640" y="4367936"/>
            <a:ext cx="4561180" cy="90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adsorbentlar va eritmalardan adsorbsiya: Panet-Fayans, Rebinder, xromatografiya</a:t>
            </a:r>
            <a:endParaRPr lang="en-US" sz="1568" dirty="0"/>
          </a:p>
        </p:txBody>
      </p:sp>
      <p:sp>
        <p:nvSpPr>
          <p:cNvPr id="20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3" name="Text 21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90" dirty="0"/>
          </a:p>
        </p:txBody>
      </p:sp>
      <p:sp>
        <p:nvSpPr>
          <p:cNvPr id="24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6300" y="6267450"/>
            <a:ext cx="835128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83996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564C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E9C46A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747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208640"/>
            <a:ext cx="100584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4537824"/>
            <a:ext cx="7894015" cy="723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energiyasi, sirt tarangligi, sirt-aktiv moddalar va egri sirtlar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1252691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01559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qatlamidagi ortiqcha erkin energiya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Molekulalararo oʼzaro taʼsir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Hajmdagi molekula (A) barcha yoʼnalishlarda teng kuchlar bilan tortiladi (ΣF = 0). Sirt qatlamidagi molekula (B) esa faqat suyuqlik ichiga tortiladi — uning kuch maydoni kompensatsiyalanmagan.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728009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00577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erkin energiyasi (Gs)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Molekulani hajmdan sirtga chiqarish uchun tortishish kuchlariga qarshi ish bajarilishi kerak. Bu ish sirtda ortiqcha erkin energiya koʼrinishida toʼplanadi.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5000396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72964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 (σ)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yuzasini 1 m² ga oshirish uchun sarflanadigan solishtirma erkin sirt energiyasi yoki sirtga urinma yoʼnalishda taʼsir etuvchi kuch [mN/m yoki J/m²].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erkin energiyasi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Termodinamikaning I va II qonuni birlashuvi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592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56371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tarangligining termodinamik taʼrifi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330107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78268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3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510272"/>
            <a:ext cx="4529194" cy="114592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1670255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519123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tarangligiga taʼsir etuvchi omillar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1235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Modda tabiati va qutbliligi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Molekulalararo bogʼlanish qancha kuchli boʼlsa (vodorod bogʼlar, ionli bogʼlar), sirt tarangligi shuncha yuqori boʼladi: suvda σ = 72,8 mN/m, simobda σ = 475 mN/m.</a:t>
            </a:r>
            <a:endParaRPr lang="en-US" sz="1403" dirty="0"/>
          </a:p>
        </p:txBody>
      </p:sp>
      <p:sp>
        <p:nvSpPr>
          <p:cNvPr id="8" name="Shape 6"/>
          <p:cNvSpPr/>
          <p:nvPr/>
        </p:nvSpPr>
        <p:spPr>
          <a:xfrm>
            <a:off x="876300" y="3733248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05816"/>
            <a:ext cx="5352117" cy="11235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Harorat taʼsiri (T)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Harorat ortishi bilan molekulalarning issiqlik harakati kuchayadi, molekulalararo tortishish zaiflashadi va sirt tarangligi chiziqli kamayadi. Kritik haroratda (Tk) σ = 0 boʼladi.</a:t>
            </a:r>
            <a:endParaRPr lang="en-US" sz="1403" dirty="0"/>
          </a:p>
        </p:txBody>
      </p:sp>
      <p:sp>
        <p:nvSpPr>
          <p:cNvPr id="10" name="Shape 8"/>
          <p:cNvSpPr/>
          <p:nvPr/>
        </p:nvSpPr>
        <p:spPr>
          <a:xfrm>
            <a:off x="876300" y="5010874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83442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Antonov qoidasi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Oʼzaro cheklangan eruvchan ikki suyuqlik chegarasidagi sirt tarangligi ularning toʼyingan faza sirt tarangliklari ayirmasiga teng.</a:t>
            </a:r>
            <a:endParaRPr lang="en-US" sz="1403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tarangligining haroratga bogʼliqligi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42689"/>
          </a:xfrm>
          <a:prstGeom prst="roundRect">
            <a:avLst>
              <a:gd name="adj" fmla="val 19919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578681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1099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Antonov qoidasi tenglamasi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08472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32888"/>
            <a:ext cx="4593202" cy="642689"/>
          </a:xfrm>
          <a:prstGeom prst="roundRect">
            <a:avLst>
              <a:gd name="adj" fmla="val 19919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5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64892"/>
            <a:ext cx="4529194" cy="578681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21881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va hajm molekulalariga taʼsir etuvchi kuchlar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195617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43778"/>
            <a:ext cx="4593202" cy="2439802"/>
          </a:xfrm>
          <a:prstGeom prst="roundRect">
            <a:avLst>
              <a:gd name="adj" fmla="val 524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6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375782"/>
            <a:ext cx="4529194" cy="237579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087819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936687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Sirt-aktiv moddalar va Traube-Dyuklo qoidasi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aktivligi (g)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Erigan moddaning sirt tarangligini pasaytirish qobiliyati. Chegarada g = −dσ/dC (C → 0 sharoitida) koʼrinishida aniqlanadi.</a:t>
            </a:r>
            <a:endParaRPr lang="en-US" sz="1485" dirty="0"/>
          </a:p>
        </p:txBody>
      </p:sp>
      <p:sp>
        <p:nvSpPr>
          <p:cNvPr id="8" name="Shape 6"/>
          <p:cNvSpPr/>
          <p:nvPr/>
        </p:nvSpPr>
        <p:spPr>
          <a:xfrm>
            <a:off x="876300" y="3455594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28162"/>
            <a:ext cx="5352117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Traube-Dyuklo qoidasi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 xil gomologik qatordagi sirt-aktiv moddalarning (spirtlar, yogʼ kislotalari) uglevodorod zanjiri bitta −CH₂− guruhga uzayganda, ularning sirt aktivligi 3,0–3,5 baravar ortadi.</a:t>
            </a:r>
            <a:endParaRPr lang="en-US" sz="1485" dirty="0"/>
          </a:p>
        </p:txBody>
      </p:sp>
      <p:sp>
        <p:nvSpPr>
          <p:cNvPr id="10" name="Shape 8"/>
          <p:cNvSpPr/>
          <p:nvPr/>
        </p:nvSpPr>
        <p:spPr>
          <a:xfrm>
            <a:off x="876300" y="4738459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711027"/>
            <a:ext cx="5352117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Fizikaviy sababi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Uglevodorod radikali suv muhitidan sirt qatlamiga gidrofob kuchlar taʼsirida siqib chiqariladi — molekula sirtda «dumini koʼtarib» joylashadi.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Rebinder boʼyicha sirt aktivlik taʼrifi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7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004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3274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Traube-Dyuklo koeffitsiyenti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06485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5464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8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86651"/>
            <a:ext cx="4529194" cy="6004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6539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Spirtlar gomologik qatorida sirt tarangligi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39134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87296"/>
            <a:ext cx="4593202" cy="2396284"/>
          </a:xfrm>
          <a:prstGeom prst="roundRect">
            <a:avLst>
              <a:gd name="adj" fmla="val 5342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9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19300"/>
            <a:ext cx="4529194" cy="233227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505383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3354251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Egri sirtlar: Laplas va Kelvin tenglamalari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bosim (Laplas)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Suyuqlik sirti egrilanganda (tomchi, pufakcha, kapillyar menisk) sirt taranglik kuchlari natijasida qoʼshimcha Laplas bosimi ΔP hosil boʼladi.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502609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75177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Botiq va qabariq menisklar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Qabariq sirtda (tomchi) ichki bosim ortadi (ΔP &gt; 0). Botiq sirtda (kapillyar) bosim pasayadi (ΔP &lt; 0) — bu kapillyar koʼtarilishga sabab boʼladi.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549597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522165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Kelvin (Tomson) tenglamasi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Kichik tomchilar ustidagi toʼyingan bugʼ bosimi (Pr) tekis sirt ustidagi bosimdan (P₀) yuqori boʼladi. Botiq kapillyarlarda esa bugʼ bosimi pasayadi — kapillyar kondensatlanish shu asosda kechadi.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koʼtarilish: botiq menisk va Laplas bosimi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5195"/>
          </a:xfrm>
          <a:prstGeom prst="roundRect">
            <a:avLst>
              <a:gd name="adj" fmla="val 10622"/>
            </a:avLst>
          </a:prstGeom>
          <a:solidFill>
            <a:srgbClr val="FFFFFF"/>
          </a:solidFill>
          <a:ln w="9525">
            <a:solidFill>
              <a:srgbClr val="2A355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40481" y="2473496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koʼtarilish va menisk</a:t>
            </a:r>
            <a:endParaRPr lang="en-US" sz="1114" dirty="0"/>
          </a:p>
        </p:txBody>
      </p:sp>
      <p:sp>
        <p:nvSpPr>
          <p:cNvPr id="16" name="Shape 14"/>
          <p:cNvSpPr/>
          <p:nvPr/>
        </p:nvSpPr>
        <p:spPr>
          <a:xfrm>
            <a:off x="6722193" y="2647232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2193" y="2795394"/>
            <a:ext cx="4593202" cy="1205195"/>
          </a:xfrm>
          <a:prstGeom prst="roundRect">
            <a:avLst>
              <a:gd name="adj" fmla="val 10622"/>
            </a:avLst>
          </a:prstGeom>
          <a:solidFill>
            <a:srgbClr val="FFFFFF"/>
          </a:solidFill>
          <a:ln w="9525">
            <a:solidFill>
              <a:srgbClr val="2A355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40481" y="4146893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Laplas tenglamasi (sferik sirt)</a:t>
            </a:r>
            <a:endParaRPr lang="en-US" sz="1114" dirty="0"/>
          </a:p>
        </p:txBody>
      </p:sp>
      <p:sp>
        <p:nvSpPr>
          <p:cNvPr id="19" name="Shape 17"/>
          <p:cNvSpPr/>
          <p:nvPr/>
        </p:nvSpPr>
        <p:spPr>
          <a:xfrm>
            <a:off x="6722193" y="4320629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22193" y="4468790"/>
            <a:ext cx="4593202" cy="423294"/>
          </a:xfrm>
          <a:prstGeom prst="roundRect">
            <a:avLst>
              <a:gd name="adj" fmla="val 30243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1" name="Image 0" descr="/home/user/jdakimyo/taqdimot/kontent/rasmlar/image1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4500794"/>
            <a:ext cx="4529194" cy="35928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740481" y="503838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Kelvin (Tomson) tenglamasi</a:t>
            </a:r>
            <a:endParaRPr lang="en-US" sz="1114" dirty="0"/>
          </a:p>
        </p:txBody>
      </p:sp>
      <p:sp>
        <p:nvSpPr>
          <p:cNvPr id="23" name="Shape 20"/>
          <p:cNvSpPr/>
          <p:nvPr/>
        </p:nvSpPr>
        <p:spPr>
          <a:xfrm>
            <a:off x="6722193" y="5212124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22193" y="5360286"/>
            <a:ext cx="4593202" cy="423294"/>
          </a:xfrm>
          <a:prstGeom prst="roundRect">
            <a:avLst>
              <a:gd name="adj" fmla="val 30243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5" name="Image 1" descr="/home/user/jdakimyo/taqdimot/kontent/rasmlar/image1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5392290"/>
            <a:ext cx="4529194" cy="359286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9" name="Text 25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90" dirty="0"/>
          </a:p>
        </p:txBody>
      </p:sp>
      <p:sp>
        <p:nvSpPr>
          <p:cNvPr id="30" name="Shape 26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76300" y="6267450"/>
            <a:ext cx="2922947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3771815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564C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E9C46A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IKKINCHI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Jarayonlar tasnifi, miqdoriy koʼrsatkichlar va Gibbs tenglamasi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3340510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9378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370503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589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211"/>
              </a:lnSpc>
              <a:buNone/>
            </a:pPr>
            <a:r>
              <a:rPr lang="en-US" sz="363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hodisalarining mexanizmi</a:t>
            </a:r>
            <a:endParaRPr lang="en-US" sz="3630" dirty="0"/>
          </a:p>
        </p:txBody>
      </p:sp>
      <p:sp>
        <p:nvSpPr>
          <p:cNvPr id="4" name="Shape 2"/>
          <p:cNvSpPr/>
          <p:nvPr/>
        </p:nvSpPr>
        <p:spPr>
          <a:xfrm>
            <a:off x="876300" y="2132498"/>
            <a:ext cx="3333394" cy="3103388"/>
          </a:xfrm>
          <a:prstGeom prst="roundRect">
            <a:avLst>
              <a:gd name="adj" fmla="val 5598"/>
            </a:avLst>
          </a:prstGeom>
          <a:solidFill>
            <a:srgbClr val="161E33"/>
          </a:solidFill>
          <a:ln w="9525">
            <a:solidFill>
              <a:srgbClr val="2A35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4044" y="2406818"/>
            <a:ext cx="402336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044" y="2589698"/>
            <a:ext cx="460400" cy="49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231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310" dirty="0"/>
          </a:p>
        </p:txBody>
      </p:sp>
      <p:sp>
        <p:nvSpPr>
          <p:cNvPr id="7" name="Text 5"/>
          <p:cNvSpPr/>
          <p:nvPr/>
        </p:nvSpPr>
        <p:spPr>
          <a:xfrm>
            <a:off x="1114044" y="3084617"/>
            <a:ext cx="2876194" cy="329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73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(sirtqi)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1114044" y="3487667"/>
            <a:ext cx="2876194" cy="165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Moddaning fazalar ajralish sirtida (qattiq/gaz, qattiq/suyuqlik) toʼplanishi. Sirtqi hodisa; tez muvozanatga erishadi; qaytar — desorbsiya kuzatiladi.</a:t>
            </a:r>
            <a:endParaRPr lang="en-US" sz="1403" dirty="0"/>
          </a:p>
        </p:txBody>
      </p:sp>
      <p:sp>
        <p:nvSpPr>
          <p:cNvPr id="9" name="Shape 7"/>
          <p:cNvSpPr/>
          <p:nvPr/>
        </p:nvSpPr>
        <p:spPr>
          <a:xfrm>
            <a:off x="4429150" y="2132498"/>
            <a:ext cx="3333394" cy="3103388"/>
          </a:xfrm>
          <a:prstGeom prst="roundRect">
            <a:avLst>
              <a:gd name="adj" fmla="val 5598"/>
            </a:avLst>
          </a:prstGeom>
          <a:solidFill>
            <a:srgbClr val="161E33"/>
          </a:solidFill>
          <a:ln w="9525">
            <a:solidFill>
              <a:srgbClr val="2A35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6894" y="2406818"/>
            <a:ext cx="402336" cy="0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6894" y="2589698"/>
            <a:ext cx="460400" cy="49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231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310" dirty="0"/>
          </a:p>
        </p:txBody>
      </p:sp>
      <p:sp>
        <p:nvSpPr>
          <p:cNvPr id="12" name="Text 10"/>
          <p:cNvSpPr/>
          <p:nvPr/>
        </p:nvSpPr>
        <p:spPr>
          <a:xfrm>
            <a:off x="4666894" y="3084617"/>
            <a:ext cx="2876194" cy="329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73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Absorbsiya (hajmiy)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4666894" y="3487667"/>
            <a:ext cx="2876194" cy="1390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Yutilayotgan moddaning ikkinchi faza (suyuqlik yoki qattiq jism) hajmi boʼylab tekis tarqalishi. Diffuziya bilan bogʼliq, sekin boradi.</a:t>
            </a:r>
            <a:endParaRPr lang="en-US" sz="1403" dirty="0"/>
          </a:p>
        </p:txBody>
      </p:sp>
      <p:sp>
        <p:nvSpPr>
          <p:cNvPr id="14" name="Shape 12"/>
          <p:cNvSpPr/>
          <p:nvPr/>
        </p:nvSpPr>
        <p:spPr>
          <a:xfrm>
            <a:off x="7982001" y="2132498"/>
            <a:ext cx="3333394" cy="3103388"/>
          </a:xfrm>
          <a:prstGeom prst="roundRect">
            <a:avLst>
              <a:gd name="adj" fmla="val 5598"/>
            </a:avLst>
          </a:prstGeom>
          <a:solidFill>
            <a:srgbClr val="161E33"/>
          </a:solidFill>
          <a:ln w="9525">
            <a:solidFill>
              <a:srgbClr val="2A35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9745" y="2406818"/>
            <a:ext cx="402336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9745" y="2589698"/>
            <a:ext cx="460400" cy="49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231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310" dirty="0"/>
          </a:p>
        </p:txBody>
      </p:sp>
      <p:sp>
        <p:nvSpPr>
          <p:cNvPr id="17" name="Text 15"/>
          <p:cNvSpPr/>
          <p:nvPr/>
        </p:nvSpPr>
        <p:spPr>
          <a:xfrm>
            <a:off x="8219745" y="3084617"/>
            <a:ext cx="2876194" cy="329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73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kondensatlanish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8219745" y="3487667"/>
            <a:ext cx="2876194" cy="165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Gʼovak adsorbentlarda botiq menisklar hosil boʼlishi natijasida bugʼning P &lt; P₀ bosimda suyuqlikka aylanishi. Kelvin tenglamasi va histerezis sirtlari bilan tavsiflanadi.</a:t>
            </a:r>
            <a:endParaRPr lang="en-US" sz="1403" dirty="0"/>
          </a:p>
        </p:txBody>
      </p:sp>
      <p:sp>
        <p:nvSpPr>
          <p:cNvPr id="19" name="Shape 17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2" name="Text 20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90" dirty="0"/>
          </a:p>
        </p:txBody>
      </p:sp>
      <p:sp>
        <p:nvSpPr>
          <p:cNvPr id="23" name="Shape 21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6300" y="6267450"/>
            <a:ext cx="3758074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06942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70503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Miqdoriy koʼrsatkichlar va absolyut adsorbsiya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249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Asosiy tushunchalar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Adsorbent — sirtida adsorbsiya sodir boʼladigan qattiq yoki suyuq modda. Adsorbtiv — adsorbsiyalanuvchi modda. Adsorbat — sirtda ushlanib qolgan modda.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84326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15829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Absolyut adsorbsiya (a)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Adsorbentning birlik massasi (m) yoki birlik sirt yuzasida (S) toʼplangan adsorbatning mol miqdori.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3229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486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ortiqcha adsorbsiyasi (G)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qatlamidagi modda miqdorining hajm konsentratsiyasiga nisbatan ortiqcha qismi [mol/m²].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Absolyut adsorbsiya (a)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ortiqcha adsorbsiyasi (G)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592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9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4175638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024506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70503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Gibbsning fundamental adsorbsiya tenglamasi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249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Tenglamaning mohiyati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tarangligining konsentratsiyaga qarab oʼzgarishi (dσ/dC) bilan sirtda modda toʼplanishi (G) oʼrtasidagi fundamental termodinamik bogʼliqlik.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84326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15829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Musbat adsorbsiya (G &gt; 0)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dσ/dC &lt; 0 boʼlsa (sirt-aktiv moddalar), G &gt; 0 — modda sirtda toʼplanadi va sirt tarangligini pasaytiradi.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3229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486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Manfiy adsorbsiya (G &lt; 0)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dσ/dC &gt; 0 boʼlsa (sirt-inert moddalar), G &lt; 0 — modda hajmga oʼtadi, sirt qatlamida kamayadi.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tenglamasi (konsentratsiyali)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004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3274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tenglamasi (aktivlikli)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06485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5464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5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86651"/>
            <a:ext cx="4529194" cy="6004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6539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SAM, SIM va SNM moddalar uchun σ(C) egri chiziqlari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39134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87296"/>
            <a:ext cx="4593202" cy="2396284"/>
          </a:xfrm>
          <a:prstGeom prst="roundRect">
            <a:avLst>
              <a:gd name="adj" fmla="val 5342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16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19300"/>
            <a:ext cx="4529194" cy="233227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4593202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442070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564C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E9C46A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UCHINCHI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tenglamasi, Lengmyur nazariyasi va izoterma sohalari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5010766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59634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002090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tenglamasi va molekula oʼlchamlari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tenglamasi (1908)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Sirt-aktiv moddalar konsentratsiyasi ortishi bilan sirt tarangligi pasayishini empirik ravishda ifodalaydi.</a:t>
            </a:r>
            <a:endParaRPr lang="en-US" sz="1485" dirty="0"/>
          </a:p>
        </p:txBody>
      </p:sp>
      <p:sp>
        <p:nvSpPr>
          <p:cNvPr id="8" name="Shape 6"/>
          <p:cNvSpPr/>
          <p:nvPr/>
        </p:nvSpPr>
        <p:spPr>
          <a:xfrm>
            <a:off x="876300" y="354989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522459"/>
            <a:ext cx="5352117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va Lengmyur bilan bogʼlanishi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konstantasi B = Gmax·RT ekanligi isbotlandi — bu Gibbs tenglamasidan Lengmyur izotermasiga oʼtish imkonini berdi.</a:t>
            </a:r>
            <a:endParaRPr lang="en-US" sz="1485" dirty="0"/>
          </a:p>
        </p:txBody>
      </p:sp>
      <p:sp>
        <p:nvSpPr>
          <p:cNvPr id="10" name="Shape 8"/>
          <p:cNvSpPr/>
          <p:nvPr/>
        </p:nvSpPr>
        <p:spPr>
          <a:xfrm>
            <a:off x="876300" y="4927054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899622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 parametrlari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Gmax qiymatidan molekulaning sirtda egallagan koʼndalang kesim yuzasi (S₀) va sirt qatlamining qalinligi (l) aniqlanadi.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empirik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7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Gibbs-Lengmyur birlashgan tenglamasi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6790"/>
          </a:xfrm>
          <a:prstGeom prst="roundRect">
            <a:avLst>
              <a:gd name="adj" fmla="val 10608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8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278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53227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 oʼlchamlari formulalari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326963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75124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19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507128"/>
            <a:ext cx="4529194" cy="114592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5428330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277198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002090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Lengmyurning monomolekulyar nazariyasi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postulatlari (1915)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Adsorbsiya adsorbent sirtidagi diskret faol markazlarda sodir boʼladi. 2. Har bir faol markaz faqat bitta adsorbat molekulasini tuta oladi (monoqavat). 3. Faol markazlar energetik jihatdan teng va bir-biriga taʼsir etmaydi. 4. Jarayon dinamik muvozanatda: adsorbsiya tezligi = desorbsiya tezligi.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4230929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4203497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Izoterma shakli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toʼyingan qiymatga intiladi: past konsentratsiyada keskin oʼsadi, yuqorisida esa gorizontalga yaqinlashadi.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5251856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5224424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toʼlish darajasi (θ)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 = G/Gmax — sirtning qancha qismi monoqavat bilan qoplanganini koʼrsatadi (0 ≤ θ ≤ 1).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Monoqavat: sirt-aktiv molekulalar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112259"/>
          </a:xfrm>
          <a:prstGeom prst="roundRect">
            <a:avLst>
              <a:gd name="adj" fmla="val 11510"/>
            </a:avLst>
          </a:prstGeom>
          <a:solidFill>
            <a:srgbClr val="FFFFFF"/>
          </a:solidFill>
          <a:ln w="9525">
            <a:solidFill>
              <a:srgbClr val="2A355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40481" y="238056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adsorbsiya izotermasi</a:t>
            </a:r>
            <a:endParaRPr lang="en-US" sz="1114" dirty="0"/>
          </a:p>
        </p:txBody>
      </p:sp>
      <p:sp>
        <p:nvSpPr>
          <p:cNvPr id="16" name="Shape 14"/>
          <p:cNvSpPr/>
          <p:nvPr/>
        </p:nvSpPr>
        <p:spPr>
          <a:xfrm>
            <a:off x="6722193" y="255429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2193" y="2702458"/>
            <a:ext cx="4593202" cy="390653"/>
          </a:xfrm>
          <a:prstGeom prst="roundRect">
            <a:avLst>
              <a:gd name="adj" fmla="val 3277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8" name="Image 0" descr="/home/user/jdakimyo/taqdimot/kontent/rasmlar/image2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2734462"/>
            <a:ext cx="4529194" cy="326645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740481" y="3239414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toʼlish darajasi (θ)</a:t>
            </a:r>
            <a:endParaRPr lang="en-US" sz="1114" dirty="0"/>
          </a:p>
        </p:txBody>
      </p:sp>
      <p:sp>
        <p:nvSpPr>
          <p:cNvPr id="20" name="Shape 17"/>
          <p:cNvSpPr/>
          <p:nvPr/>
        </p:nvSpPr>
        <p:spPr>
          <a:xfrm>
            <a:off x="6722193" y="3413150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22193" y="3561312"/>
            <a:ext cx="4593202" cy="390653"/>
          </a:xfrm>
          <a:prstGeom prst="roundRect">
            <a:avLst>
              <a:gd name="adj" fmla="val 3277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2" name="Image 1" descr="/home/user/jdakimyo/taqdimot/kontent/rasmlar/image2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3593316"/>
            <a:ext cx="4529194" cy="326645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740481" y="409826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izotermasi grafigi va sohalari</a:t>
            </a:r>
            <a:endParaRPr lang="en-US" sz="1114" dirty="0"/>
          </a:p>
        </p:txBody>
      </p:sp>
      <p:sp>
        <p:nvSpPr>
          <p:cNvPr id="24" name="Shape 20"/>
          <p:cNvSpPr/>
          <p:nvPr/>
        </p:nvSpPr>
        <p:spPr>
          <a:xfrm>
            <a:off x="6722193" y="4272004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722193" y="4420166"/>
            <a:ext cx="4593202" cy="1363414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6" name="Image 2" descr="/home/user/jdakimyo/taqdimot/kontent/rasmlar/image22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452170"/>
            <a:ext cx="4529194" cy="1299406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30" name="Text 25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990" dirty="0"/>
          </a:p>
        </p:txBody>
      </p:sp>
      <p:sp>
        <p:nvSpPr>
          <p:cNvPr id="31" name="Shape 26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876300" y="6267450"/>
            <a:ext cx="5845893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694761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002090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1344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izotermasining sohalari va linearizatsiyasi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620442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885618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858186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Genri sohasi (C → 0)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Juda kam konsentratsiyada KC ≪ 1, shunda G = Gmax·K·C = KH·C. Adsorbsiya konsentratsiyaga toʼgʼri mutanosib.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93085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90342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Toʼyinish sohasi (C → ∞)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Yuqori konsentratsiyada KC ≫ 1, shunda G = Gmax. Adsorbent sirti toʼliq monoqavat bilan qoplanadi.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76089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48657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Linearizatsiya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Tajriba maʼlumotlaridan Gmax va K doimiylarini grafik usulda aniqlash uchun 1/G ga nisbatan 1/C grafigi chiziladi.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tenglamasining chiziqli shakli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3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Genri sohasi chegarasi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6163"/>
          </a:xfrm>
          <a:prstGeom prst="roundRect">
            <a:avLst>
              <a:gd name="adj" fmla="val 10613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4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215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526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Toʼyinish sohasi chegarasi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3263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744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25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506501"/>
            <a:ext cx="4529194" cy="114592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6263457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112325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564C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E9C46A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830515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TOʼRTINCHI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 va adsorbentlar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Freyndlih, BET nazariyasi, gʼovaklik tasnifi va Rebinder qoidasi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6681021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29889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Freyndlihning empirik izotermasi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249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Tenglama (1909)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Gʼovak va energetik jihatdan bir jinsli boʼlmagan adsorbentlarda oʼrtacha konsentratsiyalar sohasida adsorbsiyani ifodalovchi empirik darajali tenglama.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84326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15829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Tenglama doimiylari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 — adsorbsion sigʼim koeffitsiyenti; 1/n — sirtning energetik bir jinsli emaslik koeffitsiyenti (0,1 &lt; 1/n &lt; 0,7).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3229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486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Qoʼllanish chegarasi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Juda kichik va juda yuqori konsentratsiyalarda (toʼyinishda) bajarilmaydi — bu uning asosiy cheklovi.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 darajali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004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3274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Logarifmik chiziqli shakli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06485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5464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7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86651"/>
            <a:ext cx="4529194" cy="6004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6539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 izotermasi (logarifmik koordinatalar)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39134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87296"/>
            <a:ext cx="4593202" cy="2396284"/>
          </a:xfrm>
          <a:prstGeom prst="roundRect">
            <a:avLst>
              <a:gd name="adj" fmla="val 5342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28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19300"/>
            <a:ext cx="4529194" cy="233227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7098585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947453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484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polimolekulyar modeli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1760449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025625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1998193"/>
            <a:ext cx="5352117" cy="17522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nazariyasi (1938)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Brunauer, Emmett va Teller taklif etgan model: 1. Adsorbsiya polimolekulyar (koʼp qatlamli) xarakterga ega. 2. Birinchi qatlam energiyasi (E₁) adsorbent bilan taʼsirga bogʼliq. 3. Ikkinchi va keyingi qatlamlar kondensatlanish issiqligiga (EL) teng deb qaraladi.</a:t>
            </a:r>
            <a:endParaRPr lang="en-US" sz="1485" dirty="0"/>
          </a:p>
        </p:txBody>
      </p:sp>
      <p:sp>
        <p:nvSpPr>
          <p:cNvPr id="8" name="Shape 6"/>
          <p:cNvSpPr/>
          <p:nvPr/>
        </p:nvSpPr>
        <p:spPr>
          <a:xfrm>
            <a:off x="876300" y="3923309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95877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S-simon izoterma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Past bosimda bir qatlam, oʼrta bosimda koʼp qatlam, yuqori bosimda kapillyar kondensatlanish — egri chiziq S shaklini oladi.</a:t>
            </a:r>
            <a:endParaRPr lang="en-US" sz="1485" dirty="0"/>
          </a:p>
        </p:txBody>
      </p:sp>
      <p:sp>
        <p:nvSpPr>
          <p:cNvPr id="10" name="Shape 8"/>
          <p:cNvSpPr/>
          <p:nvPr/>
        </p:nvSpPr>
        <p:spPr>
          <a:xfrm>
            <a:off x="876300" y="4972317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44885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Amaliy ahamiyati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Kukun va gʼovak adsorbentlarning solishtirma sirt yuzasini (Ssol) aniqlashda standart xalqaro usul hisoblanadi.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chiziqli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910332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9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84632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178634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polimolekulyar izotermasi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352370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500531"/>
            <a:ext cx="4593202" cy="3283049"/>
          </a:xfrm>
          <a:prstGeom prst="roundRect">
            <a:avLst>
              <a:gd name="adj" fmla="val 3899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30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532535"/>
            <a:ext cx="4529194" cy="3219041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99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7516149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65017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adsorbentlar va gʼovaklik strukturasi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Gidrofil (qutbli) adsorbentlar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Silikagel SiO₂, alyumogel Al₂O₃, gil minerallari. Suv va qutbli moddalarni yaxshi adsorbsiyalaydi.</a:t>
            </a:r>
            <a:endParaRPr lang="en-US" sz="1403" dirty="0"/>
          </a:p>
        </p:txBody>
      </p:sp>
      <p:sp>
        <p:nvSpPr>
          <p:cNvPr id="8" name="Shape 6"/>
          <p:cNvSpPr/>
          <p:nvPr/>
        </p:nvSpPr>
        <p:spPr>
          <a:xfrm>
            <a:off x="876300" y="3427557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00125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Gidrofob (qutbsiz) adsorbentlar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Aktivlangan koʼmir, soot, grafit. Organik moddalarni suvli eritmalardan yaxshi tutadi.</a:t>
            </a:r>
            <a:endParaRPr lang="en-US" sz="1403" dirty="0"/>
          </a:p>
        </p:txBody>
      </p:sp>
      <p:sp>
        <p:nvSpPr>
          <p:cNvPr id="10" name="Shape 8"/>
          <p:cNvSpPr/>
          <p:nvPr/>
        </p:nvSpPr>
        <p:spPr>
          <a:xfrm>
            <a:off x="876300" y="439949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72061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IUPAC boʼyicha gʼovaklar tasnifi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Mikrogʼovaklar r &lt; 2 nm; mezogʼovaklar 2 nm &lt; r &lt; 50 nm; makrogʼovaklar r &gt; 50 nm.</a:t>
            </a:r>
            <a:endParaRPr lang="en-US" sz="1403" dirty="0"/>
          </a:p>
        </p:txBody>
      </p:sp>
      <p:sp>
        <p:nvSpPr>
          <p:cNvPr id="12" name="Shape 10"/>
          <p:cNvSpPr/>
          <p:nvPr/>
        </p:nvSpPr>
        <p:spPr>
          <a:xfrm>
            <a:off x="876300" y="5371428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343996"/>
            <a:ext cx="5352117" cy="5892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Rebinder qoidasi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faza chegaralarining qutbliliklari farqi kamayishi yoʼnalishida boradi.</a:t>
            </a:r>
            <a:endParaRPr lang="en-US" sz="1403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479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Gʼovak adsorbent kesimi: mikrokovaklar va tutilgan molekulalar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334167"/>
            <a:ext cx="4593202" cy="2946373"/>
          </a:xfrm>
          <a:prstGeom prst="roundRect">
            <a:avLst>
              <a:gd name="adj" fmla="val 4345"/>
            </a:avLst>
          </a:prstGeom>
          <a:solidFill>
            <a:srgbClr val="FFFFFF"/>
          </a:solidFill>
          <a:ln w="9525">
            <a:solidFill>
              <a:srgbClr val="2A355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40481" y="4426844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Rebinder qutblar tenglashtirish qoidasi</a:t>
            </a:r>
            <a:endParaRPr lang="en-US" sz="1114" dirty="0"/>
          </a:p>
        </p:txBody>
      </p:sp>
      <p:sp>
        <p:nvSpPr>
          <p:cNvPr id="18" name="Shape 16"/>
          <p:cNvSpPr/>
          <p:nvPr/>
        </p:nvSpPr>
        <p:spPr>
          <a:xfrm>
            <a:off x="6722193" y="4600580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22193" y="4748741"/>
            <a:ext cx="4593202" cy="1034839"/>
          </a:xfrm>
          <a:prstGeom prst="roundRect">
            <a:avLst>
              <a:gd name="adj" fmla="val 12371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0" name="Image 0" descr="/home/user/jdakimyo/taqdimot/kontent/rasmlar/image3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4780745"/>
            <a:ext cx="4529194" cy="97083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4" name="Text 21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990" dirty="0"/>
          </a:p>
        </p:txBody>
      </p:sp>
      <p:sp>
        <p:nvSpPr>
          <p:cNvPr id="25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76300" y="6267450"/>
            <a:ext cx="7933712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782580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564C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E9C46A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713357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BESHINCHI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Eritmalardan adsorbsiya va qoʼllanish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Ionli adsorbsiya, xromatografiya, tibbiyot va sanoat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8351276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00144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ERITMALARDAN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Ionli adsorbsiya va Panet-Fayans qoidasi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Ionli adsorbsiya xususiyatlari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adsorbent sirtida elektrod potensiali va elektr ikki qatlami (EDL) hosil boʼlishi bilan kechadigan tanlanma (selektiv) adsorbsiya.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36076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33331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Panet-Fayans selektivlik qoidasi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kristall adsorbent sirtiga birinchi navbatda uning kristall panjarasi tarkibiga kiruvchi yoki u bilan qiyin eriydigan birikma hosil qiluvchi ionlar adsorbsiyalanadi.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517365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489933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Liotrop (Hofmeyster) qatorlar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 xil valentli ionlarning gidratlanish radiusi kamayishi bilan ularning adsorbsiyalanish qobiliyati ortadi.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5422506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395074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Ionitlar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Kationitlar (kation almashuvchi) va anionitlar (anion almashuvchi) — gʼovak polimer va minerallar.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Liotrop kationlar qatori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7" name="Image 0" descr="/home/user/jdakimyo/taqdimot/kontent/rasmlar/image3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Liotrop anionlar qatori</a:t>
            </a:r>
            <a:endParaRPr lang="en-US" sz="1114" dirty="0"/>
          </a:p>
        </p:txBody>
      </p:sp>
      <p:sp>
        <p:nvSpPr>
          <p:cNvPr id="19" name="Shape 16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22193" y="2800133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1" name="Image 1" descr="/home/user/jdakimyo/taqdimot/kontent/rasmlar/image3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5926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5" name="Text 21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990" dirty="0"/>
          </a:p>
        </p:txBody>
      </p:sp>
      <p:sp>
        <p:nvSpPr>
          <p:cNvPr id="26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6300" y="6267450"/>
            <a:ext cx="8768840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9617708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1713357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XROMATOGRAFIYA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Xromatografik ajratish usullari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M.S. Tsvet kashfiyoti (1903)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Oʼsimlik pigmentlarini (xlorofill, karotin) boʼr ustunida (CaCO₃) adsorbsion ajratib, xromatografiya usuliga asos soldi.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36076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33331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Klassifikatsiya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Adsorbsion (Gmax va K farqi), taqsimlash (eruvchanlik farqi), ion almashinish va eksklyuzion (gel-filtratsiya) xromatografiyalari.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265905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238473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Zamonaviy usullar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Yuqori samarali suyuqlik (HPLC) va gaz xromatografiyasi — analitik kimyoning eng sezgir usullari.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4919586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4892154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Ustun mexanizmi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Harakatchan faza (eluyent) va qoʼzgʼalmas faza (adsorbent) oʼrtasida uzluksiz adsorbsiya-desorbsiya boradi: koeffitsiyenti kichik modda ustundan birinchi chiqadi.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Ajralish ustuni: komponentlar rangli zonalarga boʼlinadi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3444901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9525">
            <a:solidFill>
              <a:srgbClr val="2A355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0" name="Text 18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990" dirty="0"/>
          </a:p>
        </p:txBody>
      </p:sp>
      <p:sp>
        <p:nvSpPr>
          <p:cNvPr id="21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6300" y="6267450"/>
            <a:ext cx="9186404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35272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AMALIY TATBIQ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Adsorbsiyaning tibbiyotdagi roli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Entero- va gemosorbsiya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Oshqozon-ichak yoʼlidan va qondan toksinlar, zaharli moddalar, allergenlar hamda ogʼir metallarni ajratib olish.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423628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96196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Biologik membranalar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Hujayra membranasi lipid ikki qavat va oqsil qatlamlaridan tuzilgan: fermentativ va retseptor jarayonlari sirt hodisalariga asoslanadi.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391635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64203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Dori tashuvchilari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Preparatlarning soʼrilishini oshirish uchun ular mikrogʼovak tashuvchilarda immobilizatsiyalanadi.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510818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08074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Tibbiy sorbentlar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Aktivlangan koʼmir, smekta va politrepan, silikagelli enterosorbentlar (Polisorb), selektiv immunasorbentlar.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Enterosorbent: gʼovak yuza toksinlarni ushlab qoladi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3444901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9525">
            <a:solidFill>
              <a:srgbClr val="2A355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0" name="Text 18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990" dirty="0"/>
          </a:p>
        </p:txBody>
      </p:sp>
      <p:sp>
        <p:nvSpPr>
          <p:cNvPr id="21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6300" y="6267450"/>
            <a:ext cx="9603968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52836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AMALIY TATBIQ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Sanoat va ekologiyadagi amaliy roli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Gazlarni tozalash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Chiqindi gazlarni H₂S, SO₂, CO₂ va zaharli moddalardan tozalash; sanoat protivogazlarida gazlarni tutib qolish.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423628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96196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Suvni tozalash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Ichimlik suvi va oqova suvlarni neft mahsulotlari, boʼyoqlar, fenollar hamda sirt-aktiv moddalardan tozalash.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391635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64203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Geterogen kataliz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Sanoat sintez reaksiyalarining 80% gacha qismi katalizator sirtidagi adsorbsiya orqali boradi.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510818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08074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Sanoat texnologiyalari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Koks gazidan benzol va toluol ajratish, shakar va moylarni rangsizlantirish, molekulyar elaklar (seolitlar) bilan gazlarni quritish.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Adsorbsion tozalash minorasi: iflos gaz — toza gaz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3444901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9525">
            <a:solidFill>
              <a:srgbClr val="2A355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0" name="Text 18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</a:t>
            </a:r>
            <a:endParaRPr lang="en-US" sz="990" dirty="0"/>
          </a:p>
        </p:txBody>
      </p:sp>
      <p:sp>
        <p:nvSpPr>
          <p:cNvPr id="21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6300" y="6267450"/>
            <a:ext cx="10021531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870399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2865120"/>
            <a:ext cx="776097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XULOSA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3505200"/>
            <a:ext cx="10439095" cy="7237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67"/>
              </a:lnSpc>
              <a:buNone/>
            </a:pPr>
            <a:r>
              <a:rPr lang="en-US" sz="46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Asosiy xulosalar</a:t>
            </a:r>
            <a:endParaRPr lang="en-US" sz="4620" dirty="0"/>
          </a:p>
        </p:txBody>
      </p:sp>
      <p:sp>
        <p:nvSpPr>
          <p:cNvPr id="4" name="Shape 2"/>
          <p:cNvSpPr/>
          <p:nvPr/>
        </p:nvSpPr>
        <p:spPr>
          <a:xfrm>
            <a:off x="5455768" y="4411828"/>
            <a:ext cx="128016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6300" y="4722724"/>
            <a:ext cx="10439095" cy="333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5"/>
              </a:lnSpc>
              <a:buNone/>
            </a:pPr>
            <a:r>
              <a:rPr lang="en-US" sz="1568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energiyasi — barcha sirt hodisalarining manbai</a:t>
            </a:r>
            <a:endParaRPr lang="en-US" sz="1568" dirty="0"/>
          </a:p>
        </p:txBody>
      </p:sp>
      <p:sp>
        <p:nvSpPr>
          <p:cNvPr id="6" name="Text 4"/>
          <p:cNvSpPr/>
          <p:nvPr/>
        </p:nvSpPr>
        <p:spPr>
          <a:xfrm>
            <a:off x="876300" y="5111153"/>
            <a:ext cx="10439095" cy="333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5"/>
              </a:lnSpc>
              <a:buNone/>
            </a:pPr>
            <a:r>
              <a:rPr lang="en-US" sz="1568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Izotermalar (Lengmyur, Freyndlih, BET) adsorbsiyani miqdoriy tavsiflaydi</a:t>
            </a:r>
            <a:endParaRPr lang="en-US" sz="1568" dirty="0"/>
          </a:p>
        </p:txBody>
      </p:sp>
      <p:sp>
        <p:nvSpPr>
          <p:cNvPr id="7" name="Text 5"/>
          <p:cNvSpPr/>
          <p:nvPr/>
        </p:nvSpPr>
        <p:spPr>
          <a:xfrm>
            <a:off x="876300" y="5499583"/>
            <a:ext cx="10439095" cy="333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5"/>
              </a:lnSpc>
              <a:buNone/>
            </a:pPr>
            <a:r>
              <a:rPr lang="en-US" sz="1568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tibbiyot, sanoat va ekologiyada hal qiluvchi jarayon</a:t>
            </a:r>
            <a:endParaRPr lang="en-US" sz="1568" dirty="0"/>
          </a:p>
        </p:txBody>
      </p:sp>
      <p:sp>
        <p:nvSpPr>
          <p:cNvPr id="8" name="Text 6"/>
          <p:cNvSpPr/>
          <p:nvPr/>
        </p:nvSpPr>
        <p:spPr>
          <a:xfrm>
            <a:off x="876300" y="5909310"/>
            <a:ext cx="10439095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48"/>
              </a:lnSpc>
              <a:buNone/>
            </a:pPr>
            <a:r>
              <a:rPr lang="en-US" sz="132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Savollar uchun rahmat</a:t>
            </a:r>
            <a:endParaRPr lang="en-US" sz="13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2026-10-11T09:15:21Z</dcterms:created>
  <dcterms:modified xsi:type="dcterms:W3CDTF">2026-10-11T09:15:21Z</dcterms:modified>
</cp:coreProperties>
</file>