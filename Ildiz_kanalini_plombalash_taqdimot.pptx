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C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452360" y="822960"/>
            <a:ext cx="3657600" cy="5212080"/>
          </a:xfrm>
          <a:prstGeom prst="roundRect">
            <a:avLst/>
          </a:prstGeom>
          <a:solidFill>
            <a:srgbClr val="103D66"/>
          </a:solidFill>
          <a:ln w="25400">
            <a:solidFill>
              <a:srgbClr val="00B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49640" y="1371600"/>
            <a:ext cx="1463040" cy="146304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400">
                <a:solidFill>
                  <a:srgbClr val="FFFFFF"/>
                </a:solidFill>
                <a:latin typeface="Calibri"/>
              </a:rPr>
              <a:t>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063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ENDODONTIYA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34747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9E4DD"/>
                </a:solidFill>
                <a:latin typeface="Calibri"/>
              </a:defRPr>
            </a:pPr>
            <a:r>
              <a:t>3D obturatsiya</a:t>
            </a:r>
            <a:br/>
            <a:r>
              <a:t>Germetiklik • Bioaktivlik</a:t>
            </a:r>
            <a:br/>
            <a:r>
              <a:t>Zamonaviy sealerlar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FA6"/>
                </a:solidFill>
                <a:latin typeface="Calibri"/>
              </a:defRPr>
            </a:pPr>
            <a:r>
              <a:t>TERAPEVTIK STOMATOLOGIYA  •  ENDODONTIYA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6949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 Light"/>
              </a:defRPr>
            </a:pPr>
            <a:r>
              <a:t>Ildiz kanalini plombalashda qo'llaniladigan qotmaydigan va qotadigan malhamlar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11880"/>
            <a:ext cx="1280160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88620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9E4DD"/>
                </a:solidFill>
                <a:latin typeface="Calibri"/>
              </a:defRPr>
            </a:pPr>
            <a:r>
              <a:t>Materiallar  •  Sealerlar  •  Obturatsiya usullari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46320"/>
            <a:ext cx="1600200" cy="502920"/>
          </a:xfrm>
          <a:prstGeom prst="roundRect">
            <a:avLst/>
          </a:prstGeom>
          <a:solidFill>
            <a:srgbClr val="103D66"/>
          </a:solidFill>
          <a:ln w="15875">
            <a:solidFill>
              <a:srgbClr val="00B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19 slayd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4846320"/>
            <a:ext cx="1600200" cy="502920"/>
          </a:xfrm>
          <a:prstGeom prst="roundRect">
            <a:avLst/>
          </a:prstGeom>
          <a:solidFill>
            <a:srgbClr val="103D66"/>
          </a:solidFill>
          <a:ln w="15875">
            <a:solidFill>
              <a:srgbClr val="00B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Ilmiy taqdimot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4846320"/>
            <a:ext cx="1600200" cy="502920"/>
          </a:xfrm>
          <a:prstGeom prst="roundRect">
            <a:avLst/>
          </a:prstGeom>
          <a:solidFill>
            <a:srgbClr val="103D66"/>
          </a:solidFill>
          <a:ln w="15875">
            <a:solidFill>
              <a:srgbClr val="00B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D80"/>
                </a:solidFill>
                <a:latin typeface="Calibri"/>
              </a:defRPr>
            </a:pPr>
            <a:r>
              <a:t>Qotmaydigan pastalar  →  Qotadigan sealerlar  →  Gutta-percha  →  Sovuq va issiq usullar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E93A8"/>
                </a:solidFill>
                <a:latin typeface="Calibri"/>
              </a:defRPr>
            </a:pPr>
            <a:r>
              <a:t>ESE 2023 • Grossman • Schilder • Ingle — zamonaviy endodontik protokollar asosida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TARKIB  •  TAQDIMOT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Taqdimot rejasi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2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283336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0992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9E8A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A2B3C"/>
                </a:solidFill>
                <a:latin typeface="Calibri"/>
              </a:defRPr>
            </a:pPr>
            <a:r>
              <a:t>Dolzarblik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0116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muammo qo'yilishi va statistika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3180" y="1638300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5080" y="1600200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0992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9E8A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A2B3C"/>
                </a:solidFill>
                <a:latin typeface="Calibri"/>
              </a:defRPr>
            </a:pPr>
            <a:r>
              <a:t>Kanal anatomiyasi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0116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obturatsiya maqsadlari va triada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1020" y="2625852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587752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697480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9E8A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67919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A2B3C"/>
                </a:solidFill>
                <a:latin typeface="Calibri"/>
              </a:defRPr>
            </a:pPr>
            <a:r>
              <a:t>Ideal material talablari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99923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Grossman mezonlari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93180" y="2625852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55080" y="2587752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697480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9E8A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67919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A2B3C"/>
                </a:solidFill>
                <a:latin typeface="Calibri"/>
              </a:defRPr>
            </a:pPr>
            <a:r>
              <a:t>Materiallar tasnifi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99923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umumiy sxema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1020" y="3613404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3575304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85032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9E8A"/>
                </a:solidFill>
                <a:latin typeface="Calibri"/>
              </a:defRPr>
            </a:pPr>
            <a:r>
              <a:t>05–06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66674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A2B3C"/>
                </a:solidFill>
                <a:latin typeface="Calibri"/>
              </a:defRPr>
            </a:pPr>
            <a:r>
              <a:t>Qotmaydigan malhamlar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398678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tushuncha, vakillar, tarkib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93180" y="3613404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55080" y="3575304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685032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9E8A"/>
                </a:solidFill>
                <a:latin typeface="Calibri"/>
              </a:defRPr>
            </a:pPr>
            <a:r>
              <a:t>07–09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66674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A2B3C"/>
                </a:solidFill>
                <a:latin typeface="Calibri"/>
              </a:defRPr>
            </a:pPr>
            <a:r>
              <a:t>Qotadigan malhamlar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98678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ZOE, rezин, GIC, biokeramika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1020" y="4600956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4562856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672584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9E8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465429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A2B3C"/>
                </a:solidFill>
                <a:latin typeface="Calibri"/>
              </a:defRPr>
            </a:pPr>
            <a:r>
              <a:t>Qattiq o'zaklar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3040" y="4974336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gutta-percha — oltin standart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93180" y="4600956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55080" y="4562856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4672584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9E8A"/>
                </a:solidFill>
                <a:latin typeface="Calibri"/>
              </a:defRPr>
            </a:pPr>
            <a:r>
              <a:t>11–13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465429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A2B3C"/>
                </a:solidFill>
                <a:latin typeface="Calibri"/>
              </a:defRPr>
            </a:pPr>
            <a:r>
              <a:t>Plombalash usullari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4974336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sovuq va issiq texnikalar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1020" y="5588508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550408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5660136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9E8A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63040" y="564184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A2B3C"/>
                </a:solidFill>
                <a:latin typeface="Calibri"/>
              </a:defRPr>
            </a:pPr>
            <a:r>
              <a:t>Zamonaviy yondashuvlar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596188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mikroskop, mashinali obturatsiya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93180" y="5588508"/>
            <a:ext cx="5486400" cy="868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355080" y="5550408"/>
            <a:ext cx="54864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5660136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9E8A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564184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A2B3C"/>
                </a:solidFill>
                <a:latin typeface="Calibri"/>
              </a:defRPr>
            </a:pPr>
            <a:r>
              <a:t>Qiyosiy tahlil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0" y="596188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klinik tanlov algoritmi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01  •  MUAMMO QO'YILISHI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Dolzarbligi: nega obturatsiya sifati hal qiluvchi?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3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925004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704088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70408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8308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Endodontik davolash ommaviyligi: </a:t>
            </a:r>
            <a:r>
              <a:rPr sz="1150">
                <a:solidFill>
                  <a:srgbClr val="1A2B3C"/>
                </a:solidFill>
                <a:latin typeface="Calibri"/>
              </a:rPr>
              <a:t>katta yoshli aholining 40–60% ida kamida bitta kanal davolangan tish mavjud (ESE, 2023).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Apikal periodontit saqlanib qolmoqda: </a:t>
            </a:r>
            <a:r>
              <a:rPr sz="1150">
                <a:solidFill>
                  <a:srgbClr val="1A2B3C"/>
                </a:solidFill>
                <a:latin typeface="Calibri"/>
              </a:rPr>
              <a:t>davolangan tishlarning 30–50% ida periapikal o'choq radiologik kuzatiladi.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Omadsizlikning 60% sababi — </a:t>
            </a:r>
            <a:r>
              <a:rPr sz="1150">
                <a:solidFill>
                  <a:srgbClr val="1A2B3C"/>
                </a:solidFill>
                <a:latin typeface="Calibri"/>
              </a:rPr>
              <a:t>germetik bo'lmagan obturatsiya: mikrosızıntı → reinfeksiya → qayta davolash (Ingle, 2008).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Kanal biotasi murakkab: </a:t>
            </a:r>
            <a:r>
              <a:rPr sz="1150">
                <a:solidFill>
                  <a:srgbClr val="1A2B3C"/>
                </a:solidFill>
                <a:latin typeface="Calibri"/>
              </a:rPr>
              <a:t>300+ bakterial shtamm, E. faecalis dentin naychalarida 1000 mkm gacha kiradi.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Sifatli 3D obturatsiya muvaffaqiyati — </a:t>
            </a:r>
            <a:r>
              <a:rPr sz="1150">
                <a:solidFill>
                  <a:srgbClr val="1A2B3C"/>
                </a:solidFill>
                <a:latin typeface="Calibri"/>
              </a:rPr>
              <a:t>92–97%: zich apikal to'siq + koronal germetiklik uzoq muddatli natijani belgilaydi.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1940" y="1638300"/>
            <a:ext cx="3794760" cy="1371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63840" y="1600200"/>
            <a:ext cx="3794760" cy="137160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691640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FA6"/>
                </a:solidFill>
                <a:latin typeface="Calibri"/>
              </a:defRPr>
            </a:pPr>
            <a:r>
              <a:t>92–97%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28600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FFFFFF"/>
                </a:solidFill>
                <a:latin typeface="Calibri"/>
              </a:defRPr>
            </a:pPr>
            <a:r>
              <a:t>sifatli obturatsiya</a:t>
            </a:r>
            <a:br/>
            <a:r>
              <a:t>muvaffaqiyati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1940" y="3211068"/>
            <a:ext cx="3794760" cy="1371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863840" y="3172968"/>
            <a:ext cx="3794760" cy="137160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3264408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FA6"/>
                </a:solidFill>
                <a:latin typeface="Calibri"/>
              </a:defRPr>
            </a:pPr>
            <a:r>
              <a:t>~60%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858768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FFFFFF"/>
                </a:solidFill>
                <a:latin typeface="Calibri"/>
              </a:defRPr>
            </a:pPr>
            <a:r>
              <a:t>omadsizlik sababi —</a:t>
            </a:r>
            <a:br/>
            <a:r>
              <a:t>germetiksizlik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1940" y="4783836"/>
            <a:ext cx="3794760" cy="1371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863840" y="4745736"/>
            <a:ext cx="3794760" cy="137160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4837176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FA6"/>
                </a:solidFill>
                <a:latin typeface="Calibri"/>
              </a:defRPr>
            </a:pPr>
            <a:r>
              <a:t>0,5–1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5431536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FFFFFF"/>
                </a:solidFill>
                <a:latin typeface="Calibri"/>
              </a:defRPr>
            </a:pPr>
            <a:r>
              <a:t>apikal konstriksiyagacha</a:t>
            </a:r>
            <a:br/>
            <a:r>
              <a:t>ishchi uzunlik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02  •  NAZARIY 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Kanal tizimi anatomiyasi va obturatsiya maqsadlari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4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2566672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557784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5577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2C4A"/>
                </a:solidFill>
                <a:latin typeface="Calibri"/>
              </a:defRPr>
            </a:pPr>
            <a:r>
              <a:t>Kanal tizimi — murakkab 3D labirint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94560"/>
            <a:ext cx="49377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●  </a:t>
            </a:r>
            <a:r>
              <a:rPr sz="1100" b="1">
                <a:solidFill>
                  <a:srgbClr val="1A2B3C"/>
                </a:solidFill>
                <a:latin typeface="Calibri"/>
              </a:rPr>
              <a:t>Lateral va aksessor kanallar </a:t>
            </a:r>
            <a:r>
              <a:rPr sz="1100">
                <a:solidFill>
                  <a:srgbClr val="1A2B3C"/>
                </a:solidFill>
                <a:latin typeface="Calibri"/>
              </a:rPr>
              <a:t>— 30–40% ildizlarda mavjud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●  </a:t>
            </a:r>
            <a:r>
              <a:rPr sz="1100" b="1">
                <a:solidFill>
                  <a:srgbClr val="1A2B3C"/>
                </a:solidFill>
                <a:latin typeface="Calibri"/>
              </a:rPr>
              <a:t>Isthmus, anastomozlar, </a:t>
            </a:r>
            <a:r>
              <a:rPr sz="1100">
                <a:solidFill>
                  <a:srgbClr val="1A2B3C"/>
                </a:solidFill>
                <a:latin typeface="Calibri"/>
              </a:rPr>
              <a:t>apikal delta va bifurkatsiyalar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●  </a:t>
            </a:r>
            <a:r>
              <a:rPr sz="1100" b="1">
                <a:solidFill>
                  <a:srgbClr val="1A2B3C"/>
                </a:solidFill>
                <a:latin typeface="Calibri"/>
              </a:rPr>
              <a:t>Oval / C-shakl kesim </a:t>
            </a:r>
            <a:r>
              <a:rPr sz="1100">
                <a:solidFill>
                  <a:srgbClr val="1A2B3C"/>
                </a:solidFill>
                <a:latin typeface="Calibri"/>
              </a:rPr>
              <a:t>— yumaloq shtift bilan to'lmaydi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●  </a:t>
            </a:r>
            <a:r>
              <a:rPr sz="1100" b="1">
                <a:solidFill>
                  <a:srgbClr val="1A2B3C"/>
                </a:solidFill>
                <a:latin typeface="Calibri"/>
              </a:rPr>
              <a:t>MB2 kanal </a:t>
            </a:r>
            <a:r>
              <a:rPr sz="1100">
                <a:solidFill>
                  <a:srgbClr val="1A2B3C"/>
                </a:solidFill>
                <a:latin typeface="Calibri"/>
              </a:rPr>
              <a:t>— yuqori jag' 1-molyarida 60–90% uchraydi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●  </a:t>
            </a:r>
            <a:r>
              <a:rPr sz="1100" b="1">
                <a:solidFill>
                  <a:srgbClr val="1A2B3C"/>
                </a:solidFill>
                <a:latin typeface="Calibri"/>
              </a:rPr>
              <a:t>Dentin naychalari </a:t>
            </a:r>
            <a:r>
              <a:rPr sz="1100">
                <a:solidFill>
                  <a:srgbClr val="1A2B3C"/>
                </a:solidFill>
                <a:latin typeface="Calibri"/>
              </a:rPr>
              <a:t>— 1 mm² da 20 000–40 000 ta kanalcha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93180" y="1638300"/>
            <a:ext cx="530352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1600200"/>
            <a:ext cx="5303520" cy="452628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A6"/>
                </a:solidFill>
                <a:latin typeface="Calibri"/>
              </a:defRPr>
            </a:pPr>
            <a:r>
              <a:t>Obturatsiya maqsadlari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0" y="2286000"/>
            <a:ext cx="411480" cy="41148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30428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FFFFFF"/>
                </a:solidFill>
                <a:latin typeface="Calibri"/>
              </a:defRPr>
            </a:pPr>
            <a:r>
              <a:t>Mikroorganizmlar yo'lini to'liq berkitish</a:t>
            </a:r>
          </a:p>
        </p:txBody>
      </p:sp>
      <p:sp>
        <p:nvSpPr>
          <p:cNvPr id="19" name="Oval 18"/>
          <p:cNvSpPr/>
          <p:nvPr/>
        </p:nvSpPr>
        <p:spPr>
          <a:xfrm>
            <a:off x="6675120" y="2971800"/>
            <a:ext cx="411480" cy="41148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9008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FFFFFF"/>
                </a:solidFill>
                <a:latin typeface="Calibri"/>
              </a:defRPr>
            </a:pPr>
            <a:r>
              <a:t>To'qima suyuqligi oqimini to'xtatish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0" y="3657600"/>
            <a:ext cx="411480" cy="41148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67588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FFFFFF"/>
                </a:solidFill>
                <a:latin typeface="Calibri"/>
              </a:defRPr>
            </a:pPr>
            <a:r>
              <a:t>Reinfeksiya va mikrosızıntını oldini olish</a:t>
            </a:r>
          </a:p>
        </p:txBody>
      </p:sp>
      <p:sp>
        <p:nvSpPr>
          <p:cNvPr id="23" name="Oval 22"/>
          <p:cNvSpPr/>
          <p:nvPr/>
        </p:nvSpPr>
        <p:spPr>
          <a:xfrm>
            <a:off x="6675120" y="4343400"/>
            <a:ext cx="411480" cy="41148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36168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FFFFFF"/>
                </a:solidFill>
                <a:latin typeface="Calibri"/>
              </a:defRPr>
            </a:pPr>
            <a:r>
              <a:t>Mustahkam apikal to'siq yaratish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2578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00BFA6"/>
                </a:solidFill>
                <a:latin typeface="Calibri"/>
              </a:defRPr>
            </a:pPr>
            <a:r>
              <a:t>Endodontik triada:  biomekanik tayyorlash  →  dezinfeksiya  →  obturatsiya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03  •  IDEAL MATERIAL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Ideal kanal to'ldiruvchi material: Grossman talablari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5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3208340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600200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99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◈  Oson kiritiladi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kanalga kiritish va zichlash qulay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0059" y="1638300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1959" y="160020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59" y="1600200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17099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◈  Ajoyib germetiklik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lateral + apikal mikrosızıntı yo'q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9100" y="1638300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01000" y="160020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1600200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7099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◈  O'lcham barqaror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qisqarmaydi, kengaymaydi, erimaydi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1020" y="3119628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081528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081528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1912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◈  Rentgenkontrastli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584448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rentgenda aniq ko'rinadi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0059" y="3119628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51959" y="3081528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51959" y="3081528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59" y="31912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◈  Bakteriostatik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59" y="3584448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steril, antiseptik xususiyatli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39100" y="3119628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01000" y="3081528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3081528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31912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◈  Biomoslashuvchan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584448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qotgach toksik emas, tirnashsiz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1020" y="4600956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4562856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562856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467258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◈  Bo'yoq bermaydi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065776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toj estetikasi buzilmaydi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90059" y="4600956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51959" y="4562856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51959" y="4562856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80559" y="467258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◈  Qayta olinadi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59" y="5065776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retreatmentda oson chiqariladi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39100" y="4600956"/>
            <a:ext cx="3520440" cy="13258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001000" y="4562856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01000" y="4562856"/>
            <a:ext cx="88900" cy="132588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467258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◈  Namda ishlaydi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5065776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nam kanal muhitiga chidamli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3504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5A6D80"/>
                </a:solidFill>
                <a:latin typeface="Calibri"/>
              </a:defRPr>
            </a:pPr>
            <a:r>
              <a:t>Grossman L.I. (1974) 11 talabi — qisqartirilgan zamonaviy talqin: ideal material hali yaratilmagan, tanlov klinik vaziyatga ko'ra!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04  •  TASNIF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Ildiz kanali materiallari tasnifi — umumiy sxema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6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3850008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356616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35661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783080"/>
            <a:ext cx="3291840" cy="960120"/>
          </a:xfrm>
          <a:prstGeom prst="round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4708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A. QOTMAYDIGAN</a:t>
            </a:r>
            <a:br/>
            <a:r>
              <a:t>(ma'lum muddatli)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88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009E8A"/>
                </a:solidFill>
                <a:latin typeface="Calibri"/>
              </a:defRPr>
            </a:pPr>
            <a:r>
              <a:t>Davolovchi pastalar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Ca(OH)₂ pastalari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Yodoformli pastalar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Antibiotik + kortikosteroid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7–30 kun → almashtiriladi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5780" y="1638300"/>
            <a:ext cx="356616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1600200"/>
            <a:ext cx="35661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34840" y="1783080"/>
            <a:ext cx="3291840" cy="960120"/>
          </a:xfrm>
          <a:prstGeom prst="round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84708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B. QOTADIGAN</a:t>
            </a:r>
            <a:br/>
            <a:r>
              <a:t>(sealerlar)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788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0B2C4A"/>
                </a:solidFill>
                <a:latin typeface="Calibri"/>
              </a:defRPr>
            </a:pPr>
            <a:r>
              <a:t>Doimiy germetik qatlam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20040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B2C4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Sink-oksid evgenolli (ZOE)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B2C4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Epoksi-rezin (AH Plus)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B2C4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Shisha ionomer / Silikon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B2C4A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Biokeramik (yangi avlod)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540" y="1638300"/>
            <a:ext cx="356616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92440" y="1600200"/>
            <a:ext cx="35661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0" y="1783080"/>
            <a:ext cx="3291840" cy="96012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184708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C. QATTIQ O'ZAK</a:t>
            </a:r>
            <a:br/>
            <a:r>
              <a:t>(core)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788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1E88E5"/>
                </a:solidFill>
                <a:latin typeface="Calibri"/>
              </a:defRPr>
            </a:pPr>
            <a:r>
              <a:t>Hajm to'ldiruvchi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200400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Gutta-percha (asosiy)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Resilon / sintetik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MTA apikal plug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✓  </a:t>
            </a:r>
            <a:r>
              <a:rPr sz="1150">
                <a:solidFill>
                  <a:srgbClr val="1A2B3C"/>
                </a:solidFill>
                <a:latin typeface="Calibri"/>
              </a:rPr>
              <a:t>Shtiftlar (tarixiy)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3504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0B2C4A"/>
                </a:solidFill>
                <a:latin typeface="Calibri"/>
              </a:defRPr>
            </a:pPr>
            <a:r>
              <a:t>Klinik formula:  Qotmaydigan (davolash)  →  Qattiq o'zak + Qotadigan sealer (doimiy obturatsiya)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05  •  QOTMAYDIGAN MALHAMLAR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Qotmaydigan malhamlar: tushuncha va qo'llash falsafasi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7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4491677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11201400" cy="11430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11201400" cy="114300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37360"/>
            <a:ext cx="10607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FFFFFF"/>
                </a:solidFill>
                <a:latin typeface="Calibri"/>
              </a:defRPr>
            </a:pPr>
            <a:r>
              <a:t>Ta'rif:  kanal ichida qotmaydigan, vaqtinchalik davolovchi maqsadda 7–30 kun turadigan, so'ng albatta almashtiriladigan dori pastasi.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1020" y="3009900"/>
            <a:ext cx="3611880" cy="3154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971800"/>
            <a:ext cx="36118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337560" cy="502920"/>
          </a:xfrm>
          <a:prstGeom prst="round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VAZIFALARI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8620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Antiseptik ta'sir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Yallig'lanishni kamaytirish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Ekssudatsiyani to'xtatish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Apeksifikatsiyani stimullash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1500" y="3009900"/>
            <a:ext cx="3611880" cy="3154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43400" y="2971800"/>
            <a:ext cx="36118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3154680"/>
            <a:ext cx="3337560" cy="50292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2004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KO'RSATMALAR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88620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O'tkir / kronik periodontit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Gangrenoz / xom pulpit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Yiringli ekssudat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Bolalarda apeksifikatsiya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1980" y="3009900"/>
            <a:ext cx="3611880" cy="31546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83880" y="2971800"/>
            <a:ext cx="36118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21040" y="3154680"/>
            <a:ext cx="3337560" cy="502920"/>
          </a:xfrm>
          <a:prstGeom prst="round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2004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CHEKLOVLAR  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88620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Doimiy plomba EMAS!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Eriydi va so'riladi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Germetiklik bermaydi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▸  </a:t>
            </a:r>
            <a:r>
              <a:rPr sz="1150">
                <a:solidFill>
                  <a:srgbClr val="1A2B3C"/>
                </a:solidFill>
                <a:latin typeface="Calibri"/>
              </a:rPr>
              <a:t>Vaqtida almashtirish shart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35040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A6D80"/>
                </a:solidFill>
                <a:latin typeface="Calibri"/>
              </a:defRPr>
            </a:pPr>
            <a:r>
              <a:t>Qo'llash:  Lentulo / kanal to'ldirgich bilan kiritiladi → vaqtinchalik plomba ostida saqlanadi → keyingi tashrifda yuvib chiqariladi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06  •  QOTMAYDIGAN MALHAMLAR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Qotmaydigan pastalar: tarkibi va klinik vakillari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8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5133345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54480"/>
          <a:ext cx="113842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651760"/>
                <a:gridCol w="3017520"/>
                <a:gridCol w="3246120"/>
              </a:tblGrid>
              <a:tr h="89611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Guruh / Nomi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Asosiy tarkib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Ta'sir mexanizmi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Klinik qo'llanilishi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Ca(OH)₂ pastalari
Calcipaste, Metapaste,
UltraCal XS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Kalsiy gidroksid +
BaSO₄ (kontrast)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pH ≈ 12,5 — kuchli ishqoriy;
antibakterial, dentin
ko'prigi hosil qiladi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Pulpit, periodontit,
apeksifikatsiya —
eng keng qo'llaniladi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Yodoformli pastalar
Metapex, Vitapex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Ca(OH)₂ + yodoform +
silikon moyi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Uzoq antiseptik ta'sir;
rezorbsiyalanadi,
to'qimani tirnantirmaydi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Infeksiyalangan kanal,
bolalar endodontiyasi,
sut tishlari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Antibiotik +
kortikosteroid
Ledermix, Septomixine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Demeklosiklin +
triamcinolon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Og'riqsizlantiruvchi +
yallig'lanishga qarshi;
mikrobga qarshi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O'tkir og'riq, travma,
ichki rezorbsiya,
qayta davolash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Boshqalar (cheklangan)
CHX-gel, formokrezol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Xlorheksidin /
formalin-krezol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Antiseptik, mumiyalovchi
(tarixiy ahamiyat)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Toksiklik sababli
kam qo'llaniladi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07  •  QOTADIGAN MALHAMLAR (SEALERLAR)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Qotadigan malhamlar (sealerlar): vazifasi va avlodlari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9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5775013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722376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72237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2C4A"/>
                </a:solidFill>
                <a:latin typeface="Calibri"/>
              </a:defRPr>
            </a:pPr>
            <a:r>
              <a:t>Sealer — germetiklik kafolati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94560"/>
            <a:ext cx="6583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Ta'rif: </a:t>
            </a:r>
            <a:r>
              <a:rPr sz="1150">
                <a:solidFill>
                  <a:srgbClr val="1A2B3C"/>
                </a:solidFill>
                <a:latin typeface="Calibri"/>
              </a:rPr>
              <a:t>gutta-percha (o'zak) bilan kanal devori orasidagi mikrobo'shliqni to'ldirib, qotib germetik qatlam hosil qiluvchi material.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Funksiyalari: </a:t>
            </a:r>
            <a:r>
              <a:rPr sz="1150">
                <a:solidFill>
                  <a:srgbClr val="1A2B3C"/>
                </a:solidFill>
                <a:latin typeface="Calibri"/>
              </a:rPr>
              <a:t>mikrosızıntını yo'qotish, lateral kanallarni to'ldirish, o'zakni dentinga sementlash.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Ideal qatlam qalinligi — </a:t>
            </a:r>
            <a:r>
              <a:rPr sz="1150">
                <a:solidFill>
                  <a:srgbClr val="1A2B3C"/>
                </a:solidFill>
                <a:latin typeface="Calibri"/>
              </a:rPr>
              <a:t>25–50 mkm: qancha yupqa bo'lsa, qisqarish va erish xavfi shuncha kam.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Tanlov mezonlari: </a:t>
            </a:r>
            <a:r>
              <a:rPr sz="1150">
                <a:solidFill>
                  <a:srgbClr val="1A2B3C"/>
                </a:solidFill>
                <a:latin typeface="Calibri"/>
              </a:rPr>
              <a:t>biokompatibilik, qisqarish darajasi, eruvchanlik, rentgenkontrast, retreatment imkoniyati.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9100" y="1638300"/>
            <a:ext cx="365760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01000" y="1600200"/>
            <a:ext cx="3657600" cy="452628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A6"/>
                </a:solidFill>
                <a:latin typeface="Calibri"/>
              </a:defRPr>
            </a:pPr>
            <a:r>
              <a:t>Sealerlar avlodlari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0" y="2286000"/>
            <a:ext cx="457200" cy="45720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286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ZOE asoslilar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5786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EB8D0"/>
                </a:solidFill>
                <a:latin typeface="Calibri"/>
              </a:defRPr>
            </a:pPr>
            <a:r>
              <a:t>Endomethasone, Tubli-Seal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0" y="3200400"/>
            <a:ext cx="457200" cy="45720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32004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Ca(OH)₂ + GIC + silikon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34930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EB8D0"/>
                </a:solidFill>
                <a:latin typeface="Calibri"/>
              </a:defRPr>
            </a:pPr>
            <a:r>
              <a:t>Sealapex, Ketac Endo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0" y="4114800"/>
            <a:ext cx="457200" cy="45720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41148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Epoksi-rezin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44074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EB8D0"/>
                </a:solidFill>
                <a:latin typeface="Calibri"/>
              </a:defRPr>
            </a:pPr>
            <a:r>
              <a:t>AH Plus — oltin standart</a:t>
            </a:r>
          </a:p>
        </p:txBody>
      </p:sp>
      <p:sp>
        <p:nvSpPr>
          <p:cNvPr id="26" name="Oval 25"/>
          <p:cNvSpPr/>
          <p:nvPr/>
        </p:nvSpPr>
        <p:spPr>
          <a:xfrm>
            <a:off x="8229600" y="5029200"/>
            <a:ext cx="457200" cy="457200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50292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Biokeramik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53218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EB8D0"/>
                </a:solidFill>
                <a:latin typeface="Calibri"/>
              </a:defRPr>
            </a:pPr>
            <a:r>
              <a:t>BioRoot RCS, TotalFill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08  •  QOTADIGAN MALHAMLAR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ZOE va kalsiy gidroksidli sealerlar (I–II avlod)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10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6416681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557784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5577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783080"/>
            <a:ext cx="5303520" cy="548640"/>
          </a:xfrm>
          <a:prstGeom prst="roundRect">
            <a:avLst/>
          </a:prstGeom>
          <a:solidFill>
            <a:srgbClr val="C98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28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Calibri"/>
              </a:defRPr>
            </a:pPr>
            <a:r>
              <a:t>Sink-oksid evgenolli (ZOE) sealerlar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23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5A6D80"/>
                </a:solidFill>
                <a:latin typeface="Calibri"/>
              </a:defRPr>
            </a:pPr>
            <a:r>
              <a:t>Endomethasone N  •  Tubli-Seal  •  Pulp Canal Sealer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3464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C98A12"/>
                </a:solidFill>
                <a:latin typeface="Calibri"/>
              </a:rPr>
              <a:t>+  </a:t>
            </a:r>
            <a:r>
              <a:rPr sz="1100" b="1">
                <a:solidFill>
                  <a:srgbClr val="1A2B3C"/>
                </a:solidFill>
                <a:latin typeface="Calibri"/>
              </a:rPr>
              <a:t>Afzallik: </a:t>
            </a:r>
            <a:r>
              <a:rPr sz="1100">
                <a:solidFill>
                  <a:srgbClr val="1A2B3C"/>
                </a:solidFill>
                <a:latin typeface="Calibri"/>
              </a:rPr>
              <a:t>arzon, uzoq klinik tajriba, yaxshi plastiklik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C98A12"/>
                </a:solidFill>
                <a:latin typeface="Calibri"/>
              </a:rPr>
              <a:t>+  </a:t>
            </a:r>
            <a:r>
              <a:rPr sz="1100" b="1">
                <a:solidFill>
                  <a:srgbClr val="1A2B3C"/>
                </a:solidFill>
                <a:latin typeface="Calibri"/>
              </a:rPr>
              <a:t>Afzallik: </a:t>
            </a:r>
            <a:r>
              <a:rPr sz="1100">
                <a:solidFill>
                  <a:srgbClr val="1A2B3C"/>
                </a:solidFill>
                <a:latin typeface="Calibri"/>
              </a:rPr>
              <a:t>rentgenkontrast yuqori, oson chiqariladi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C98A12"/>
                </a:solidFill>
                <a:latin typeface="Calibri"/>
              </a:rPr>
              <a:t>−  </a:t>
            </a:r>
            <a:r>
              <a:rPr sz="1100" b="1">
                <a:solidFill>
                  <a:srgbClr val="1A2B3C"/>
                </a:solidFill>
                <a:latin typeface="Calibri"/>
              </a:rPr>
              <a:t>Kamchilik: </a:t>
            </a:r>
            <a:r>
              <a:rPr sz="1100">
                <a:solidFill>
                  <a:srgbClr val="1A2B3C"/>
                </a:solidFill>
                <a:latin typeface="Calibri"/>
              </a:rPr>
              <a:t>qisqaradi va eriydi → germetiklik kamayadi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C98A12"/>
                </a:solidFill>
                <a:latin typeface="Calibri"/>
              </a:rPr>
              <a:t>−  </a:t>
            </a:r>
            <a:r>
              <a:rPr sz="1100" b="1">
                <a:solidFill>
                  <a:srgbClr val="1A2B3C"/>
                </a:solidFill>
                <a:latin typeface="Calibri"/>
              </a:rPr>
              <a:t>Kamchilik: </a:t>
            </a:r>
            <a:r>
              <a:rPr sz="1100">
                <a:solidFill>
                  <a:srgbClr val="1A2B3C"/>
                </a:solidFill>
                <a:latin typeface="Calibri"/>
              </a:rPr>
              <a:t>evgenol allergiyasi, tishni bo'yashi mumkin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93180" y="1638300"/>
            <a:ext cx="530352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1600200"/>
            <a:ext cx="53035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1783080"/>
            <a:ext cx="5029200" cy="548640"/>
          </a:xfrm>
          <a:prstGeom prst="round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Calibri"/>
              </a:defRPr>
            </a:pPr>
            <a:r>
              <a:t>Kalsiy gidroksidli sealerlar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4231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5A6D80"/>
                </a:solidFill>
                <a:latin typeface="Calibri"/>
              </a:defRPr>
            </a:pPr>
            <a:r>
              <a:t>Sealapex  •  Apexit Plus  •  Calcibiotic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83464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+  </a:t>
            </a:r>
            <a:r>
              <a:rPr sz="1100" b="1">
                <a:solidFill>
                  <a:srgbClr val="1A2B3C"/>
                </a:solidFill>
                <a:latin typeface="Calibri"/>
              </a:rPr>
              <a:t>Afzallik: </a:t>
            </a:r>
            <a:r>
              <a:rPr sz="1100">
                <a:solidFill>
                  <a:srgbClr val="1A2B3C"/>
                </a:solidFill>
                <a:latin typeface="Calibri"/>
              </a:rPr>
              <a:t>pH ishqoriy, biokompatibil, apeksifikatsiyani rag'batlantiradi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+  </a:t>
            </a:r>
            <a:r>
              <a:rPr sz="1100" b="1">
                <a:solidFill>
                  <a:srgbClr val="1A2B3C"/>
                </a:solidFill>
                <a:latin typeface="Calibri"/>
              </a:rPr>
              <a:t>Afzallik: </a:t>
            </a:r>
            <a:r>
              <a:rPr sz="1100">
                <a:solidFill>
                  <a:srgbClr val="1A2B3C"/>
                </a:solidFill>
                <a:latin typeface="Calibri"/>
              </a:rPr>
              <a:t>periapikal to'qimaga ijobiy ta'sir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−  </a:t>
            </a:r>
            <a:r>
              <a:rPr sz="1100" b="1">
                <a:solidFill>
                  <a:srgbClr val="1A2B3C"/>
                </a:solidFill>
                <a:latin typeface="Calibri"/>
              </a:rPr>
              <a:t>Kamchilik: </a:t>
            </a:r>
            <a:r>
              <a:rPr sz="1100">
                <a:solidFill>
                  <a:srgbClr val="1A2B3C"/>
                </a:solidFill>
                <a:latin typeface="Calibri"/>
              </a:rPr>
              <a:t>yuqori eruvchanlik — uzoq muddatda bo'shliq hosil bo'ladi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−  </a:t>
            </a:r>
            <a:r>
              <a:rPr sz="1100" b="1">
                <a:solidFill>
                  <a:srgbClr val="1A2B3C"/>
                </a:solidFill>
                <a:latin typeface="Calibri"/>
              </a:rPr>
              <a:t>Kamchilik: </a:t>
            </a:r>
            <a:r>
              <a:rPr sz="1100">
                <a:solidFill>
                  <a:srgbClr val="1A2B3C"/>
                </a:solidFill>
                <a:latin typeface="Calibri"/>
              </a:rPr>
              <a:t>mexanik mustahkamlik past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09  •  QOTADIGAN MALHAMLAR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Epoksi-rezin, shisha ionomer va silikon sealerlar (II–III avlod)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11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7058349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457200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4572000" cy="452628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FA6"/>
                </a:solidFill>
                <a:latin typeface="Calibri"/>
              </a:defRPr>
            </a:pPr>
            <a:r>
              <a:t>★  AH Plus — oltin standart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Tarkib: </a:t>
            </a:r>
            <a:r>
              <a:rPr sz="1050">
                <a:solidFill>
                  <a:srgbClr val="FFFFFF"/>
                </a:solidFill>
                <a:latin typeface="Calibri"/>
              </a:rPr>
              <a:t>bisfenol-A epoksi + aminlar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Qotish: </a:t>
            </a:r>
            <a:r>
              <a:rPr sz="1050">
                <a:solidFill>
                  <a:srgbClr val="FFFFFF"/>
                </a:solidFill>
                <a:latin typeface="Calibri"/>
              </a:rPr>
              <a:t>~8 soat; qisqarish &lt;1%; eruvchanlik &lt;3%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+: </a:t>
            </a:r>
            <a:r>
              <a:rPr sz="1050">
                <a:solidFill>
                  <a:srgbClr val="FFFFFF"/>
                </a:solidFill>
                <a:latin typeface="Calibri"/>
              </a:rPr>
              <a:t>a'lo adgeziya, o'lcham barqarorligi, yuqori kontrast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−: </a:t>
            </a:r>
            <a:r>
              <a:rPr sz="1050">
                <a:solidFill>
                  <a:srgbClr val="FFFFFF"/>
                </a:solidFill>
                <a:latin typeface="Calibri"/>
              </a:rPr>
              <a:t>retreatment qiyin; qotmasdan oldin sitotoksik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87340" y="1638300"/>
            <a:ext cx="324612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49240" y="1600200"/>
            <a:ext cx="32461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1737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Shisha ionomer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A6D80"/>
                </a:solidFill>
                <a:latin typeface="Calibri"/>
              </a:defRPr>
            </a:pPr>
            <a:r>
              <a:t>Ketac Endo • Endion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468880"/>
            <a:ext cx="2743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+  </a:t>
            </a:r>
            <a:r>
              <a:rPr sz="1050">
                <a:solidFill>
                  <a:srgbClr val="1A2B3C"/>
                </a:solidFill>
                <a:latin typeface="Calibri"/>
              </a:rPr>
              <a:t>Dentinga kimyoviy bog'lanadi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+  </a:t>
            </a:r>
            <a:r>
              <a:rPr sz="1050">
                <a:solidFill>
                  <a:srgbClr val="1A2B3C"/>
                </a:solidFill>
                <a:latin typeface="Calibri"/>
              </a:rPr>
              <a:t>Ftor ajratadi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−  </a:t>
            </a:r>
            <a:r>
              <a:rPr sz="1050">
                <a:solidFill>
                  <a:srgbClr val="1A2B3C"/>
                </a:solidFill>
                <a:latin typeface="Calibri"/>
              </a:rPr>
              <a:t>Mo'rt, namga sezgir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−  </a:t>
            </a:r>
            <a:r>
              <a:rPr sz="1050">
                <a:solidFill>
                  <a:srgbClr val="1A2B3C"/>
                </a:solidFill>
                <a:latin typeface="Calibri"/>
              </a:rPr>
              <a:t>Qayta davolash juda qiyin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7780" y="1638300"/>
            <a:ext cx="283464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69680" y="160020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Silikon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103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5A6D80"/>
                </a:solidFill>
                <a:latin typeface="Calibri"/>
              </a:defRPr>
            </a:pPr>
            <a:r>
              <a:t>RoekoSeal • GuttaFlow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468880"/>
            <a:ext cx="2331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+  </a:t>
            </a:r>
            <a:r>
              <a:rPr sz="1050">
                <a:solidFill>
                  <a:srgbClr val="1A2B3C"/>
                </a:solidFill>
                <a:latin typeface="Calibri"/>
              </a:rPr>
              <a:t>Kengayadi (+0,2%)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+  </a:t>
            </a:r>
            <a:r>
              <a:rPr sz="1050">
                <a:solidFill>
                  <a:srgbClr val="1A2B3C"/>
                </a:solidFill>
                <a:latin typeface="Calibri"/>
              </a:rPr>
              <a:t>Zo'r oqimtarlik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−  </a:t>
            </a:r>
            <a:r>
              <a:rPr sz="1050">
                <a:solidFill>
                  <a:srgbClr val="1A2B3C"/>
                </a:solidFill>
                <a:latin typeface="Calibri"/>
              </a:rPr>
              <a:t>Mustahkamlik past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9E8A"/>
                </a:solidFill>
                <a:latin typeface="Calibri"/>
              </a:rPr>
              <a:t>−  </a:t>
            </a:r>
            <a:r>
              <a:rPr sz="1050">
                <a:solidFill>
                  <a:srgbClr val="1A2B3C"/>
                </a:solidFill>
                <a:latin typeface="Calibri"/>
              </a:rPr>
              <a:t>Narxi yuqori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10  •  YANGI AVLOD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Biokeramik sealerlar (IV avlod) — bioaktiv inqilob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12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7700017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694944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69494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2C4A"/>
                </a:solidFill>
                <a:latin typeface="Calibri"/>
              </a:defRPr>
            </a:pPr>
            <a:r>
              <a:t>Tarkib va mexanizm:  trikalsiy silikat (MTA asosli) + kalsiy fosfat + sirkoniy oksid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40280"/>
            <a:ext cx="6309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①  </a:t>
            </a:r>
            <a:r>
              <a:rPr sz="1150" b="1">
                <a:solidFill>
                  <a:srgbClr val="1A2B3C"/>
                </a:solidFill>
                <a:latin typeface="Calibri"/>
              </a:rPr>
              <a:t>Gidratatsiya: </a:t>
            </a:r>
            <a:r>
              <a:rPr sz="1150">
                <a:solidFill>
                  <a:srgbClr val="1A2B3C"/>
                </a:solidFill>
                <a:latin typeface="Calibri"/>
              </a:rPr>
              <a:t>kanal namligida qotadi — namlik endi muammo emas, afzallik!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②  </a:t>
            </a:r>
            <a:r>
              <a:rPr sz="1150" b="1">
                <a:solidFill>
                  <a:srgbClr val="1A2B3C"/>
                </a:solidFill>
                <a:latin typeface="Calibri"/>
              </a:rPr>
              <a:t>Bioaktivlik: </a:t>
            </a:r>
            <a:r>
              <a:rPr sz="1150">
                <a:solidFill>
                  <a:srgbClr val="1A2B3C"/>
                </a:solidFill>
                <a:latin typeface="Calibri"/>
              </a:rPr>
              <a:t>gidroksiapatit hosil qilib dentinga kimyoviy bog'lanadi (monoblok).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③  </a:t>
            </a:r>
            <a:r>
              <a:rPr sz="1150" b="1">
                <a:solidFill>
                  <a:srgbClr val="1A2B3C"/>
                </a:solidFill>
                <a:latin typeface="Calibri"/>
              </a:rPr>
              <a:t>pH &gt; 12: </a:t>
            </a:r>
            <a:r>
              <a:rPr sz="1150">
                <a:solidFill>
                  <a:srgbClr val="1A2B3C"/>
                </a:solidFill>
                <a:latin typeface="Calibri"/>
              </a:rPr>
              <a:t>antibakterial muhit; kengayish ~0,1%; eruvchanlik &lt;3%.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④  </a:t>
            </a:r>
            <a:r>
              <a:rPr sz="1150" b="1">
                <a:solidFill>
                  <a:srgbClr val="1A2B3C"/>
                </a:solidFill>
                <a:latin typeface="Calibri"/>
              </a:rPr>
              <a:t>Vakillar: </a:t>
            </a:r>
            <a:r>
              <a:rPr sz="1150">
                <a:solidFill>
                  <a:srgbClr val="1A2B3C"/>
                </a:solidFill>
                <a:latin typeface="Calibri"/>
              </a:rPr>
              <a:t>BioRoot RCS • TotalFill BC Sealer • EndoSequence BC • MTA Fillapex.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64779" y="1638300"/>
            <a:ext cx="393192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600200"/>
            <a:ext cx="3931920" cy="452628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7373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FA6"/>
                </a:solidFill>
                <a:latin typeface="Calibri"/>
              </a:defRPr>
            </a:pPr>
            <a:r>
              <a:t>Afzallik / cheklov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Sitotoksik emas, gidrofil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Single-cone bilan ideal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Perforatsiya va apeks yopishda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✕  </a:t>
            </a:r>
            <a:r>
              <a:rPr sz="1050">
                <a:solidFill>
                  <a:srgbClr val="FFFFFF"/>
                </a:solidFill>
                <a:latin typeface="Calibri"/>
              </a:rPr>
              <a:t>Juda qattiq qotadi — retreatment qiyin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✕  </a:t>
            </a:r>
            <a:r>
              <a:rPr sz="1050">
                <a:solidFill>
                  <a:srgbClr val="FFFFFF"/>
                </a:solidFill>
                <a:latin typeface="Calibri"/>
              </a:rPr>
              <a:t>Qimmat, ish vaqti qisqa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11  •  QATTIQ O'ZAKLAR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Qattiq obturatsiya materiallari: gutta-percha va boshqalar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13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8341686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731520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73152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0B2C4A"/>
                </a:solidFill>
                <a:latin typeface="Calibri"/>
              </a:defRPr>
            </a:pPr>
            <a:r>
              <a:t>Gutta-percha — trans-1,4-poliizopren (asosiy o'zak materiali)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94560"/>
            <a:ext cx="6675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Tarkib: </a:t>
            </a:r>
            <a:r>
              <a:rPr sz="1150">
                <a:solidFill>
                  <a:srgbClr val="1A2B3C"/>
                </a:solidFill>
                <a:latin typeface="Calibri"/>
              </a:rPr>
              <a:t>~20% gutta-percha + 60–75% ZnO + mumlar + BaSO₄ (rentgenkontrast).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Fazalar: </a:t>
            </a:r>
            <a:r>
              <a:rPr sz="1150">
                <a:solidFill>
                  <a:srgbClr val="1A2B3C"/>
                </a:solidFill>
                <a:latin typeface="Calibri"/>
              </a:rPr>
              <a:t>β-faza (klinik standart) → qizdirilganda α-faza (yopishqoq, 60°C da yumshaydi).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Standart: </a:t>
            </a:r>
            <a:r>
              <a:rPr sz="1150">
                <a:solidFill>
                  <a:srgbClr val="1A2B3C"/>
                </a:solidFill>
                <a:latin typeface="Calibri"/>
              </a:rPr>
              <a:t>ISO 15–80 o'lcham; 02 / 04 / 06 konussimonlik; master + accessory shtiftlar.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009E8A"/>
                </a:solidFill>
                <a:latin typeface="Calibri"/>
              </a:rPr>
              <a:t>▸  </a:t>
            </a:r>
            <a:r>
              <a:rPr sz="1150" b="1">
                <a:solidFill>
                  <a:srgbClr val="1A2B3C"/>
                </a:solidFill>
                <a:latin typeface="Calibri"/>
              </a:rPr>
              <a:t>+: </a:t>
            </a:r>
            <a:r>
              <a:rPr sz="1150">
                <a:solidFill>
                  <a:srgbClr val="1A2B3C"/>
                </a:solidFill>
                <a:latin typeface="Calibri"/>
              </a:rPr>
              <a:t>biokompatibil, kontrast, arzon, oson chiqariladi;  −: yolg'iz germetik emas — sealer shart!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0540" y="1638300"/>
            <a:ext cx="356616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92440" y="1600200"/>
            <a:ext cx="3566160" cy="452628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7373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FA6"/>
                </a:solidFill>
                <a:latin typeface="Calibri"/>
              </a:defRPr>
            </a:pPr>
            <a:r>
              <a:t>Boshqa o'zaklar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9456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Resilon: </a:t>
            </a:r>
            <a:r>
              <a:rPr sz="1050">
                <a:solidFill>
                  <a:srgbClr val="FFFFFF"/>
                </a:solidFill>
                <a:latin typeface="Calibri"/>
              </a:rPr>
              <a:t>adheziv monoblok g'oyasi, lekin gidroliz muammosi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MTA plug: </a:t>
            </a:r>
            <a:r>
              <a:rPr sz="1050">
                <a:solidFill>
                  <a:srgbClr val="FFFFFF"/>
                </a:solidFill>
                <a:latin typeface="Calibri"/>
              </a:rPr>
              <a:t>ochiq apeksda 3–5 mm apikal to'siq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Kumush shtiftlar: </a:t>
            </a:r>
            <a:r>
              <a:rPr sz="1050">
                <a:solidFill>
                  <a:srgbClr val="FFFFFF"/>
                </a:solidFill>
                <a:latin typeface="Calibri"/>
              </a:rPr>
              <a:t>tarixiy — korroziya sababli tark etilgan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050" b="1">
                <a:solidFill>
                  <a:srgbClr val="00BFA6"/>
                </a:solidFill>
                <a:latin typeface="Calibri"/>
              </a:rPr>
              <a:t>●  </a:t>
            </a:r>
            <a:r>
              <a:rPr sz="1050" b="1">
                <a:solidFill>
                  <a:srgbClr val="FFFFFF"/>
                </a:solidFill>
                <a:latin typeface="Calibri"/>
              </a:rPr>
              <a:t>Titan shtiftlar: </a:t>
            </a:r>
            <a:r>
              <a:rPr sz="1050">
                <a:solidFill>
                  <a:srgbClr val="FFFFFF"/>
                </a:solidFill>
                <a:latin typeface="Calibri"/>
              </a:rPr>
              <a:t>cheklangan ko'rsatma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12  •  OLTIN STANDART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Gutta-percha + sealer: nega aynan kombinatsiya?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14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8983354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11201400" cy="105156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11201400" cy="105156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83080"/>
            <a:ext cx="10744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BFA6"/>
                </a:solidFill>
                <a:latin typeface="Calibri"/>
              </a:defRPr>
            </a:pPr>
            <a:r>
              <a:t>GUTTA-PERCHA (hajm to'ldiruvchi o'zak)   +   SEALER (mikrotirqish germetigi)   =   3D OBTURATSIYA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1020" y="2918460"/>
            <a:ext cx="3611880" cy="22860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3611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3611880" cy="914400"/>
          </a:xfrm>
          <a:prstGeom prst="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4436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Maksimal o'zak</a:t>
            </a:r>
            <a:br/>
            <a:r>
              <a:t>Minimal sealer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3154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1A2B3C"/>
                </a:solidFill>
                <a:latin typeface="Calibri"/>
              </a:defRPr>
            </a:pPr>
            <a:r>
              <a:t>Sealer qatlami qanchalik yupqa (25–50 mkm) bo'lsa — qisqarish va erish shuncha kam, germetiklik shuncha yuqori.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1500" y="2918460"/>
            <a:ext cx="3611880" cy="22860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43400" y="2880360"/>
            <a:ext cx="3611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2880360"/>
            <a:ext cx="3611880" cy="914400"/>
          </a:xfrm>
          <a:prstGeom prst="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294436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Faqat pasta: 70–75%</a:t>
            </a:r>
            <a:br/>
            <a:r>
              <a:t>Kombinatsiya: 92–97%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931920"/>
            <a:ext cx="3154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1A2B3C"/>
                </a:solidFill>
                <a:latin typeface="Calibri"/>
              </a:defRPr>
            </a:pPr>
            <a:r>
              <a:t>ESE (2023) ma'lumotlari: kondensatsiyalangan gutta-percha + sealer muvaffaqiyati keskin yuqori.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1980" y="2918460"/>
            <a:ext cx="3611880" cy="22860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83880" y="2880360"/>
            <a:ext cx="3611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83880" y="2880360"/>
            <a:ext cx="3611880" cy="914400"/>
          </a:xfrm>
          <a:prstGeom prst="rect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94436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Apikal uchlik —</a:t>
            </a:r>
            <a:br/>
            <a:r>
              <a:t>eng kritik zona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931920"/>
            <a:ext cx="3154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1A2B3C"/>
                </a:solidFill>
                <a:latin typeface="Calibri"/>
              </a:defRPr>
            </a:pPr>
            <a:r>
              <a:t>Aynan apikal 3–4 mm da zichlash maksimal bo'lishi shart: apikal to'siq reinfeksiyani to'sadi.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394960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0B2C4A"/>
                </a:solidFill>
                <a:latin typeface="Calibri"/>
              </a:defRPr>
            </a:pPr>
            <a:r>
              <a:t>Rentgen-nazorat mezoni:  bir xil zichlik  •  bo'shliqlarsiz  •  ishchi uzunlikda tugash  •  bir maromda konussimonlik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13  •  PLOMBALASH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Ildiz kanalini plombalash usullari tasnifi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15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9625022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557784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5577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783080"/>
            <a:ext cx="5303520" cy="59436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4708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Calibri"/>
              </a:defRPr>
            </a:pPr>
            <a:r>
              <a:t>❄  SOVUQ USULLAR (xona haroratida)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65176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1.  </a:t>
            </a:r>
            <a:r>
              <a:rPr sz="1150" b="1">
                <a:solidFill>
                  <a:srgbClr val="1A2B3C"/>
                </a:solidFill>
                <a:latin typeface="Calibri"/>
              </a:rPr>
              <a:t>Markaziy shtift </a:t>
            </a:r>
            <a:r>
              <a:rPr sz="1150">
                <a:solidFill>
                  <a:srgbClr val="1A2B3C"/>
                </a:solidFill>
                <a:latin typeface="Calibri"/>
              </a:rPr>
              <a:t>(single-cone) — tez, oson, arzon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2.  </a:t>
            </a:r>
            <a:r>
              <a:rPr sz="1150" b="1">
                <a:solidFill>
                  <a:srgbClr val="1A2B3C"/>
                </a:solidFill>
                <a:latin typeface="Calibri"/>
              </a:rPr>
              <a:t>Lateral kondensatsiya </a:t>
            </a:r>
            <a:r>
              <a:rPr sz="1150">
                <a:solidFill>
                  <a:srgbClr val="1A2B3C"/>
                </a:solidFill>
                <a:latin typeface="Calibri"/>
              </a:rPr>
              <a:t>(sovuq) — klassik oltin standart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3.  </a:t>
            </a:r>
            <a:r>
              <a:rPr sz="1150" b="1">
                <a:solidFill>
                  <a:srgbClr val="1A2B3C"/>
                </a:solidFill>
                <a:latin typeface="Calibri"/>
              </a:rPr>
              <a:t>Biokeramik single-cone </a:t>
            </a:r>
            <a:r>
              <a:rPr sz="1150">
                <a:solidFill>
                  <a:srgbClr val="1A2B3C"/>
                </a:solidFill>
                <a:latin typeface="Calibri"/>
              </a:rPr>
              <a:t>— zamonaviy sodda protokol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1E88E5"/>
                </a:solidFill>
                <a:latin typeface="Calibri"/>
              </a:rPr>
              <a:t>◈   </a:t>
            </a:r>
            <a:r>
              <a:rPr sz="1150" b="1">
                <a:solidFill>
                  <a:srgbClr val="1A2B3C"/>
                </a:solidFill>
                <a:latin typeface="Calibri"/>
              </a:rPr>
              <a:t>Afzallik: </a:t>
            </a:r>
            <a:r>
              <a:rPr sz="1150">
                <a:solidFill>
                  <a:srgbClr val="1A2B3C"/>
                </a:solidFill>
                <a:latin typeface="Calibri"/>
              </a:rPr>
              <a:t>maxsus jihoz shart emas, retreatment oson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3180" y="1638300"/>
            <a:ext cx="530352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5080" y="1600200"/>
            <a:ext cx="53035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783080"/>
            <a:ext cx="5029200" cy="594360"/>
          </a:xfrm>
          <a:prstGeom prst="round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8470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Calibri"/>
              </a:defRPr>
            </a:pPr>
            <a:r>
              <a:t>♨  ISSIQ USULLAR (plastifikatsiya)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6517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1.  </a:t>
            </a:r>
            <a:r>
              <a:rPr sz="1150" b="1">
                <a:solidFill>
                  <a:srgbClr val="1A2B3C"/>
                </a:solidFill>
                <a:latin typeface="Calibri"/>
              </a:rPr>
              <a:t>Vertikal kondensatsiya </a:t>
            </a:r>
            <a:r>
              <a:rPr sz="1150">
                <a:solidFill>
                  <a:srgbClr val="1A2B3C"/>
                </a:solidFill>
                <a:latin typeface="Calibri"/>
              </a:rPr>
              <a:t>(Schilder, 1967)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2.  </a:t>
            </a:r>
            <a:r>
              <a:rPr sz="1150" b="1">
                <a:solidFill>
                  <a:srgbClr val="1A2B3C"/>
                </a:solidFill>
                <a:latin typeface="Calibri"/>
              </a:rPr>
              <a:t>Uzluksiz to'lqin </a:t>
            </a:r>
            <a:r>
              <a:rPr sz="1150">
                <a:solidFill>
                  <a:srgbClr val="1A2B3C"/>
                </a:solidFill>
                <a:latin typeface="Calibri"/>
              </a:rPr>
              <a:t>(Buchanan — System B)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3.  </a:t>
            </a:r>
            <a:r>
              <a:rPr sz="1150" b="1">
                <a:solidFill>
                  <a:srgbClr val="1A2B3C"/>
                </a:solidFill>
                <a:latin typeface="Calibri"/>
              </a:rPr>
              <a:t>Termoplastik in'ektsiya </a:t>
            </a:r>
            <a:r>
              <a:rPr sz="1150">
                <a:solidFill>
                  <a:srgbClr val="1A2B3C"/>
                </a:solidFill>
                <a:latin typeface="Calibri"/>
              </a:rPr>
              <a:t>(Obtura, Calamus, BeeFill)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50" b="1">
                <a:solidFill>
                  <a:srgbClr val="FF6F00"/>
                </a:solidFill>
                <a:latin typeface="Calibri"/>
              </a:rPr>
              <a:t>4.  </a:t>
            </a:r>
            <a:r>
              <a:rPr sz="1150" b="1">
                <a:solidFill>
                  <a:srgbClr val="1A2B3C"/>
                </a:solidFill>
                <a:latin typeface="Calibri"/>
              </a:rPr>
              <a:t>Tashuvchili </a:t>
            </a:r>
            <a:r>
              <a:rPr sz="1150">
                <a:solidFill>
                  <a:srgbClr val="1A2B3C"/>
                </a:solidFill>
                <a:latin typeface="Calibri"/>
              </a:rPr>
              <a:t>(Thermafil, GuttaCore)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35040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B2C4A"/>
                </a:solidFill>
                <a:latin typeface="Calibri"/>
              </a:defRPr>
            </a:pPr>
            <a:r>
              <a:t>Tanlov omillari:  kanal anatomiyasi (oval / egri / keng)  +  jihoz mavjudligi  +  shifokor malakasi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14  •  SOVUQ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Sovuq usullar: single-cone va lateral kondensatsiya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16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0266690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402336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40233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1E88E5"/>
                </a:solidFill>
                <a:latin typeface="Calibri"/>
              </a:defRPr>
            </a:pPr>
            <a:r>
              <a:t>A. Single-cone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>
                <a:solidFill>
                  <a:srgbClr val="1A2B3C"/>
                </a:solidFill>
                <a:latin typeface="Calibri"/>
              </a:rPr>
              <a:t>Bitta master-shtift + sealer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+: </a:t>
            </a:r>
            <a:r>
              <a:rPr sz="1100">
                <a:solidFill>
                  <a:srgbClr val="1A2B3C"/>
                </a:solidFill>
                <a:latin typeface="Calibri"/>
              </a:rPr>
              <a:t>eng tez va oson usul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−: </a:t>
            </a:r>
            <a:r>
              <a:rPr sz="1100">
                <a:solidFill>
                  <a:srgbClr val="1A2B3C"/>
                </a:solidFill>
                <a:latin typeface="Calibri"/>
              </a:rPr>
              <a:t>oval kanalda germetiklik past</a:t>
            </a:r>
          </a:p>
          <a:p>
            <a:pPr>
              <a:lnSpc>
                <a:spcPct val="115000"/>
              </a:lnSpc>
              <a:spcBef>
                <a:spcPts val="100"/>
              </a:spcBef>
              <a:spcAft>
                <a:spcPts val="500"/>
              </a:spcAft>
            </a:pPr>
            <a:r>
              <a:rPr sz="1100" b="1">
                <a:solidFill>
                  <a:srgbClr val="009E8A"/>
                </a:solidFill>
                <a:latin typeface="Calibri"/>
              </a:rPr>
              <a:t>▸  </a:t>
            </a:r>
            <a:r>
              <a:rPr sz="1100" b="1">
                <a:solidFill>
                  <a:srgbClr val="1A2B3C"/>
                </a:solidFill>
                <a:latin typeface="Calibri"/>
              </a:rPr>
              <a:t>◈: </a:t>
            </a:r>
            <a:r>
              <a:rPr sz="1100">
                <a:solidFill>
                  <a:srgbClr val="1A2B3C"/>
                </a:solidFill>
                <a:latin typeface="Calibri"/>
              </a:rPr>
              <a:t>faqat biokeramik sealer bilan samarali!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84420" y="1638300"/>
            <a:ext cx="6858000" cy="452628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6320" y="1600200"/>
            <a:ext cx="68580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737360"/>
            <a:ext cx="6309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0B2C4A"/>
                </a:solidFill>
                <a:latin typeface="Calibri"/>
              </a:defRPr>
            </a:pPr>
            <a:r>
              <a:t>B. Lateral kondensatsiya — bosqichma-bosqich</a:t>
            </a:r>
          </a:p>
        </p:txBody>
      </p:sp>
      <p:sp>
        <p:nvSpPr>
          <p:cNvPr id="17" name="Oval 16"/>
          <p:cNvSpPr/>
          <p:nvPr/>
        </p:nvSpPr>
        <p:spPr>
          <a:xfrm>
            <a:off x="5120640" y="2240280"/>
            <a:ext cx="457200" cy="45720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28600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A2B3C"/>
                </a:solidFill>
                <a:latin typeface="Calibri"/>
              </a:defRPr>
            </a:pPr>
            <a:r>
              <a:t>Master-shtift tanlash (tug-fit)</a:t>
            </a:r>
          </a:p>
        </p:txBody>
      </p:sp>
      <p:sp>
        <p:nvSpPr>
          <p:cNvPr id="19" name="Oval 18"/>
          <p:cNvSpPr/>
          <p:nvPr/>
        </p:nvSpPr>
        <p:spPr>
          <a:xfrm>
            <a:off x="5120640" y="3017520"/>
            <a:ext cx="457200" cy="45720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0632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A2B3C"/>
                </a:solidFill>
                <a:latin typeface="Calibri"/>
              </a:defRPr>
            </a:pPr>
            <a:r>
              <a:t>Sealerni kanalga kiritish</a:t>
            </a:r>
          </a:p>
        </p:txBody>
      </p:sp>
      <p:sp>
        <p:nvSpPr>
          <p:cNvPr id="21" name="Oval 20"/>
          <p:cNvSpPr/>
          <p:nvPr/>
        </p:nvSpPr>
        <p:spPr>
          <a:xfrm>
            <a:off x="5120640" y="3794760"/>
            <a:ext cx="457200" cy="45720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84048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A2B3C"/>
                </a:solidFill>
                <a:latin typeface="Calibri"/>
              </a:defRPr>
            </a:pPr>
            <a:r>
              <a:t>Master-shtiftni joylash</a:t>
            </a:r>
          </a:p>
        </p:txBody>
      </p:sp>
      <p:sp>
        <p:nvSpPr>
          <p:cNvPr id="23" name="Oval 22"/>
          <p:cNvSpPr/>
          <p:nvPr/>
        </p:nvSpPr>
        <p:spPr>
          <a:xfrm>
            <a:off x="8458200" y="2240280"/>
            <a:ext cx="457200" cy="45720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28600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A2B3C"/>
                </a:solidFill>
                <a:latin typeface="Calibri"/>
              </a:defRPr>
            </a:pPr>
            <a:r>
              <a:t>Spreader bilan lateral siqish</a:t>
            </a:r>
          </a:p>
        </p:txBody>
      </p:sp>
      <p:sp>
        <p:nvSpPr>
          <p:cNvPr id="25" name="Oval 24"/>
          <p:cNvSpPr/>
          <p:nvPr/>
        </p:nvSpPr>
        <p:spPr>
          <a:xfrm>
            <a:off x="8458200" y="3017520"/>
            <a:ext cx="457200" cy="45720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30632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A2B3C"/>
                </a:solidFill>
                <a:latin typeface="Calibri"/>
              </a:defRPr>
            </a:pPr>
            <a:r>
              <a:t>Qo'shimcha shtiftlar kiritish</a:t>
            </a:r>
          </a:p>
        </p:txBody>
      </p:sp>
      <p:sp>
        <p:nvSpPr>
          <p:cNvPr id="27" name="Oval 26"/>
          <p:cNvSpPr/>
          <p:nvPr/>
        </p:nvSpPr>
        <p:spPr>
          <a:xfrm>
            <a:off x="8458200" y="3794760"/>
            <a:ext cx="457200" cy="45720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384048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A2B3C"/>
                </a:solidFill>
                <a:latin typeface="Calibri"/>
              </a:defRPr>
            </a:pPr>
            <a:r>
              <a:t>Kesish + vertikal siqish + rentgen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754880"/>
            <a:ext cx="6309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D80"/>
                </a:solidFill>
                <a:latin typeface="Calibri"/>
              </a:defRPr>
            </a:pPr>
            <a:r>
              <a:t>+ Arzon, bashoratli, qayta davolash oson   •   − Vaqt talab qiladi, lateral bosim yoriq xavfi, oval kanalda bo'shliq qolishi mumkin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15  •  ISSIQ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Issiq usullar: vertikal kondensatsiya va zamonaviy tizimlar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17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0908358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3611880" cy="3657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36118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783080"/>
            <a:ext cx="3337560" cy="548640"/>
          </a:xfrm>
          <a:prstGeom prst="round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2880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Calibri"/>
              </a:defRPr>
            </a:pPr>
            <a:r>
              <a:t>A. Vertikal (Schilder)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6032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B3C"/>
                </a:solidFill>
                <a:latin typeface="Calibri"/>
              </a:defRPr>
            </a:pPr>
            <a:r>
              <a:t>Issiq pluggerlar bilan apikaldan koronalga qatlamma-qatlam zichlash. 3D to'lish, lateral kanallar yopiladi. Texnikaga sezgir, vaqt oladi.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1500" y="1638300"/>
            <a:ext cx="3611880" cy="3657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1600200"/>
            <a:ext cx="36118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1783080"/>
            <a:ext cx="3337560" cy="548640"/>
          </a:xfrm>
          <a:prstGeom prst="roundRect">
            <a:avLst/>
          </a:prstGeom>
          <a:solidFill>
            <a:srgbClr val="E03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82880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Calibri"/>
              </a:defRPr>
            </a:pPr>
            <a:r>
              <a:t>B. Uzluksiz to'lqin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56032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B3C"/>
                </a:solidFill>
                <a:latin typeface="Calibri"/>
              </a:defRPr>
            </a:pPr>
            <a:r>
              <a:t>System B + Obtura: downpack (apikal 4–5 mm) + backfill (in'ektsiya). Tez, germetik — zamonaviy klinikalar standarti.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1980" y="1638300"/>
            <a:ext cx="3611880" cy="3657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83880" y="1600200"/>
            <a:ext cx="36118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21040" y="1783080"/>
            <a:ext cx="3337560" cy="548640"/>
          </a:xfrm>
          <a:prstGeom prst="round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82880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Calibri"/>
              </a:defRPr>
            </a:pPr>
            <a:r>
              <a:t>C. Thermafil / GuttaCore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560320"/>
            <a:ext cx="3063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B3C"/>
                </a:solidFill>
                <a:latin typeface="Calibri"/>
              </a:defRPr>
            </a:pPr>
            <a:r>
              <a:t>Oldindan qoplangan o'zak qizdirib kiritiladi. Egri kanallarda a'lo. O'zakni chiqarish qiyin, apikal nazorat kamroq.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1020" y="5433060"/>
            <a:ext cx="11201400" cy="73152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5394960"/>
            <a:ext cx="11201400" cy="73152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486400"/>
            <a:ext cx="10744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A6"/>
                </a:solidFill>
                <a:latin typeface="Calibri"/>
              </a:defRPr>
            </a:pPr>
            <a:r>
              <a:t>Mikro-CT tadqiqotlar:  issiq usullarda oval/egri kanallardagi bo'shliqlar sovuq usullarga nisbatan 2–3 baravar kam (ESE, 2023).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16  •  ZAMONAVIY PROTOKOL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Zamonaviy yondashuvlar: mikroskopdan raqamli nazoratgacha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18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1550026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1020" y="1638300"/>
            <a:ext cx="3566160" cy="20574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35661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8288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Operatsion mikroskop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10–25× kattalashtirish: MB2, yoriqlar, qoldiqlarni aniqlash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5780" y="1638300"/>
            <a:ext cx="3566160" cy="20574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97680" y="1600200"/>
            <a:ext cx="35661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6280" y="1828800"/>
            <a:ext cx="548640" cy="54864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288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Mashinali obturatsiya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560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Calamus Dual, BeeFill, Elements IC — harorat nazorati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0540" y="1638300"/>
            <a:ext cx="3566160" cy="20574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92440" y="1600200"/>
            <a:ext cx="35661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21040" y="1828800"/>
            <a:ext cx="548640" cy="54864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8288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Biokeramik protokol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560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Single-cone + BC sealer — 2020-yillar trendi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1020" y="3924300"/>
            <a:ext cx="3566160" cy="20574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886200"/>
            <a:ext cx="35661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114800"/>
            <a:ext cx="548640" cy="54864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1148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MTA apikal plug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846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Ochiq apeks, perforatsiya, rezorbsiyada 3–5 mm to'siq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5780" y="3924300"/>
            <a:ext cx="3566160" cy="20574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97680" y="3886200"/>
            <a:ext cx="35661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26280" y="4114800"/>
            <a:ext cx="548640" cy="54864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1148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Raqamli nazorat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846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Apeks-lokator + rentgen + CBCT (murakkab holatda)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0540" y="3924300"/>
            <a:ext cx="3566160" cy="20574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92440" y="3886200"/>
            <a:ext cx="35661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321040" y="4114800"/>
            <a:ext cx="548640" cy="548640"/>
          </a:xfrm>
          <a:prstGeom prst="ellipse">
            <a:avLst/>
          </a:prstGeom>
          <a:solidFill>
            <a:srgbClr val="00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41148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2C4A"/>
                </a:solidFill>
                <a:latin typeface="Calibri"/>
              </a:defRPr>
            </a:pPr>
            <a:r>
              <a:t>Aseptika protokoli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8463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5A6D80"/>
                </a:solidFill>
                <a:latin typeface="Calibri"/>
              </a:defRPr>
            </a:pPr>
            <a:r>
              <a:t>Kofferdam shart! NaOCl + EDTA + UZ aktivatsiya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35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56032"/>
            <a:ext cx="566928" cy="566928"/>
          </a:xfrm>
          <a:prstGeom prst="ellipse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FA6"/>
                </a:solidFill>
                <a:latin typeface="Calibri"/>
              </a:defRPr>
            </a:pPr>
            <a:r>
              <a:t>17  •  QIYOSIY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0233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 Light"/>
              </a:defRPr>
            </a:pPr>
            <a:r>
              <a:t>Usullar qiyosiy tahlili va klinik tanlov algoritmi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190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D80"/>
                </a:solidFill>
                <a:latin typeface="Calibri"/>
              </a:defRPr>
            </a:pPr>
            <a:r>
              <a:t>Ildiz kanalini plombalash  •  Malhamlar, materiallar va usullar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5A6D80"/>
                </a:solidFill>
                <a:latin typeface="Calibri"/>
              </a:defRPr>
            </a:pPr>
            <a:r>
              <a:t>19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2191695" cy="76200"/>
          </a:xfrm>
          <a:prstGeom prst="rect">
            <a:avLst/>
          </a:prstGeom>
          <a:solidFill>
            <a:srgbClr val="00B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508760"/>
          <a:ext cx="1138428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1463040"/>
                <a:gridCol w="2103120"/>
                <a:gridCol w="3154680"/>
              </a:tblGrid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Usul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Germetiklik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Qiyinlik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Jihoz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Asosiy ko'rsatma</a:t>
                      </a:r>
                    </a:p>
                  </a:txBody>
                  <a:tcPr anchor="ctr" marL="73152" marR="73152" marT="27432" marB="27432">
                    <a:solidFill>
                      <a:srgbClr val="0B2C4A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Single-cone (ZOE / rezin)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O'rtacha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Oson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Tor yumaloq kanal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Single-cone (biokeramik)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Yuqori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Oson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Keng / oval kanal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Lateral kondensatsiya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Yuqori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O'rtacha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Spreader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Universal — oltin standart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Vertikal / uzluksiz to'lqin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Eng yuqori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Murakkab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System B, Obtura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Oval, egri, lateral kanallar</a:t>
                      </a:r>
                    </a:p>
                  </a:txBody>
                  <a:tcPr anchor="ctr" marL="73152" marR="73152" marT="27432" marB="27432">
                    <a:solidFill>
                      <a:srgbClr val="E9F1F9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Thermafil / GuttaCore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Yuqori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O'rtacha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Maxsus pech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2B3C"/>
                          </a:solidFill>
                          <a:latin typeface="Calibri"/>
                        </a:rPr>
                        <a:t>Juda egri, tor kanallar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49580" y="4792980"/>
            <a:ext cx="11384280" cy="1371600"/>
          </a:xfrm>
          <a:prstGeom prst="roundRect">
            <a:avLst/>
          </a:prstGeom>
          <a:solidFill>
            <a:srgbClr val="DE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1480" y="4754880"/>
            <a:ext cx="11384280" cy="1371600"/>
          </a:xfrm>
          <a:prstGeom prst="roundRect">
            <a:avLst/>
          </a:prstGeom>
          <a:solidFill>
            <a:srgbClr val="0B2C4A"/>
          </a:solidFill>
          <a:ln w="1270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27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FA6"/>
                </a:solidFill>
                <a:latin typeface="Calibri"/>
              </a:defRPr>
            </a:pPr>
            <a:r>
              <a:t>◆  KLINIK TANLOV ALGORITMI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10927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FFFFFF"/>
                </a:solidFill>
                <a:latin typeface="Calibri"/>
              </a:defRPr>
            </a:pPr>
            <a:r>
              <a:t>Tor yumaloq kanal → lateral kondensatsiya  •  Oval / keng → issiq vertikal / uzluksiz to'lqin  •  Juda egri → Thermafil  •  Ochiq apeks → MTA plug  •  Qayta davolash → chiqarish oson sealer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