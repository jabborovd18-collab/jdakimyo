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52360" y="822960"/>
            <a:ext cx="3657600" cy="5212080"/>
          </a:xfrm>
          <a:prstGeom prst="roundRect">
            <a:avLst/>
          </a:prstGeom>
          <a:solidFill>
            <a:srgbClr val="103D66"/>
          </a:solidFill>
          <a:ln w="254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g_01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068185"/>
            <a:ext cx="3291840" cy="17955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29443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9EB8D0"/>
                </a:solidFill>
                <a:latin typeface="Times New Roman"/>
              </a:defRPr>
            </a:pPr>
            <a:r>
              <a:t>Ildiz kanali tizimi (sxematik tasvir)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</a:defRPr>
            </a:pPr>
            <a:r>
              <a:t>ENDODONTIYA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3703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9E4DD"/>
                </a:solidFill>
                <a:latin typeface="Times New Roman"/>
              </a:defRPr>
            </a:pPr>
            <a:r>
              <a:t>Uch o'lchamli obturatsiya</a:t>
            </a:r>
            <a:br/>
            <a:r>
              <a:t>Germetiklik • Bioaktivlik • ISO standartlar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800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FD27A"/>
                </a:solidFill>
                <a:latin typeface="Times New Roman"/>
              </a:defRPr>
            </a:pPr>
            <a:r>
              <a:t>Grossman • Schilder • Sjögren • 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BFA6"/>
                </a:solidFill>
                <a:latin typeface="Times New Roman"/>
              </a:defRPr>
            </a:pPr>
            <a:r>
              <a:t>TERAPEVTIK STOMATOLOGIYA  •  ENDODONTIYA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43000"/>
            <a:ext cx="6949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Times New Roman"/>
              </a:defRPr>
            </a:pPr>
            <a:r>
              <a:t>Ildiz kanalini plombalashda qo'llaniladigan qotmaydigan va qotadigan malhamlar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11880"/>
            <a:ext cx="1280160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9E4DD"/>
                </a:solidFill>
                <a:latin typeface="Times New Roman"/>
              </a:defRPr>
            </a:pPr>
            <a:r>
              <a:t>Materiallar  •  Sealerlar  •  Obturatsiya usullari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1600200" cy="502920"/>
          </a:xfrm>
          <a:prstGeom prst="roundRect">
            <a:avLst/>
          </a:prstGeom>
          <a:solidFill>
            <a:srgbClr val="103D66"/>
          </a:solidFill>
          <a:ln w="15875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 slayd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4846320"/>
            <a:ext cx="1600200" cy="502920"/>
          </a:xfrm>
          <a:prstGeom prst="roundRect">
            <a:avLst/>
          </a:prstGeom>
          <a:solidFill>
            <a:srgbClr val="103D66"/>
          </a:solidFill>
          <a:ln w="15875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Ilmiy taqdimot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846320"/>
            <a:ext cx="1600200" cy="502920"/>
          </a:xfrm>
          <a:prstGeom prst="roundRect">
            <a:avLst/>
          </a:prstGeom>
          <a:solidFill>
            <a:srgbClr val="103D66"/>
          </a:solidFill>
          <a:ln w="15875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1500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6D80"/>
                </a:solidFill>
                <a:latin typeface="Times New Roman"/>
              </a:defRPr>
            </a:pPr>
            <a:r>
              <a:t>Qotmaydigan pastalar  →  Qotadigan sealerlar  →  Gutta-percha  →  Sovuq va issiq usullar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7220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E93A8"/>
                </a:solidFill>
                <a:latin typeface="Times New Roman"/>
              </a:defRPr>
            </a:pPr>
            <a:r>
              <a:t>ISO 6876 / 6877 • ESE tavsiyalari • Dalillarga asoslangan endodontiya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TARKIB  •  TAQDIMOT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Taqdimot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2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5486400" cy="868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5486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0992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9E8A"/>
                </a:solidFill>
                <a:latin typeface="Times New Roman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691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A2B3C"/>
                </a:solidFill>
                <a:latin typeface="Times New Roman"/>
              </a:defRPr>
            </a:pPr>
            <a:r>
              <a:t>Dolzarblik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011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muammoning qo'yilishi va statistika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3180" y="1638300"/>
            <a:ext cx="5486400" cy="868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600200"/>
            <a:ext cx="5486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09928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9E8A"/>
                </a:solidFill>
                <a:latin typeface="Times New Roman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691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A2B3C"/>
                </a:solidFill>
                <a:latin typeface="Times New Roman"/>
              </a:defRPr>
            </a:pPr>
            <a:r>
              <a:t>Kanal anatomiyasi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011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obturatsiya maqsadlari va triada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1020" y="2625852"/>
            <a:ext cx="5486400" cy="868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587752"/>
            <a:ext cx="5486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9E8A"/>
                </a:solidFill>
                <a:latin typeface="Times New Roman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6791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A2B3C"/>
                </a:solidFill>
                <a:latin typeface="Times New Roman"/>
              </a:defRPr>
            </a:pPr>
            <a:r>
              <a:t>Ideal talablar + ISO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9992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Grossman mezonlari, ISO 6876 / 6877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93180" y="2625852"/>
            <a:ext cx="5486400" cy="868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2587752"/>
            <a:ext cx="5486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69748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9E8A"/>
                </a:solidFill>
                <a:latin typeface="Times New Roman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6791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A2B3C"/>
                </a:solidFill>
                <a:latin typeface="Times New Roman"/>
              </a:defRPr>
            </a:pPr>
            <a:r>
              <a:t>Materiallar tasnifi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9992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umumiy sxema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1020" y="3613404"/>
            <a:ext cx="5486400" cy="868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3575304"/>
            <a:ext cx="5486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685032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9E8A"/>
                </a:solidFill>
                <a:latin typeface="Times New Roman"/>
              </a:defRPr>
            </a:pPr>
            <a:r>
              <a:t>05–06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66674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A2B3C"/>
                </a:solidFill>
                <a:latin typeface="Times New Roman"/>
              </a:defRPr>
            </a:pPr>
            <a:r>
              <a:t>Qotmaydigan malhamlar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98678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tushuncha, turlari, tarkibi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93180" y="3613404"/>
            <a:ext cx="5486400" cy="868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3575304"/>
            <a:ext cx="5486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685032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9E8A"/>
                </a:solidFill>
                <a:latin typeface="Times New Roman"/>
              </a:defRPr>
            </a:pPr>
            <a:r>
              <a:t>07–09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66674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A2B3C"/>
                </a:solidFill>
                <a:latin typeface="Times New Roman"/>
              </a:defRPr>
            </a:pPr>
            <a:r>
              <a:t>Qotadigan malhamlar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98678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rux oksidi, smola, biokeramika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1020" y="4600956"/>
            <a:ext cx="5486400" cy="868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4562856"/>
            <a:ext cx="5486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72584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9E8A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5429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A2B3C"/>
                </a:solidFill>
                <a:latin typeface="Times New Roman"/>
              </a:defRPr>
            </a:pPr>
            <a:r>
              <a:t>Qattiq o'zaklar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97433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gutta-percha — oltin standart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93180" y="4600956"/>
            <a:ext cx="5486400" cy="868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55080" y="4562856"/>
            <a:ext cx="5486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4672584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9E8A"/>
                </a:solidFill>
                <a:latin typeface="Times New Roman"/>
              </a:defRPr>
            </a:pPr>
            <a:r>
              <a:t>11–13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65429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A2B3C"/>
                </a:solidFill>
                <a:latin typeface="Times New Roman"/>
              </a:defRPr>
            </a:pPr>
            <a:r>
              <a:t>Plombalash usullari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97433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sovuq va issiq texnikalar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1020" y="5588508"/>
            <a:ext cx="5486400" cy="868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2920" y="5550408"/>
            <a:ext cx="5486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660136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9E8A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56418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A2B3C"/>
                </a:solidFill>
                <a:latin typeface="Times New Roman"/>
              </a:defRPr>
            </a:pPr>
            <a:r>
              <a:t>Zamonaviy yondashuvlar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59618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mikroskop, zamonaviy tizimlar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93180" y="5588508"/>
            <a:ext cx="5486400" cy="868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355080" y="5550408"/>
            <a:ext cx="5486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5660136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9E8A"/>
                </a:solidFill>
                <a:latin typeface="Times New Roman"/>
              </a:defRPr>
            </a:pPr>
            <a:r>
              <a:t>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56418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A2B3C"/>
                </a:solidFill>
                <a:latin typeface="Times New Roman"/>
              </a:defRPr>
            </a:pPr>
            <a:r>
              <a:t>Qiyosiy tahlil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59618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klinik tanlash algoritmi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01  •  MUAMMO QO'YILISHI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Dolzarbligi: nega obturatsiya sifati hal qiluvchi?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3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828754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6492240" cy="36118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64922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37360"/>
            <a:ext cx="5852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Muammo ko'lami: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katta yoshli aholining yarmidan ko'pida kamida bitta ildiz kanali davolangan tish mavjud (populyatsion tadqiqotlar).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Apikal periodontit saqlanib qolmoqda: </a:t>
            </a:r>
            <a:r>
              <a:rPr sz="1100">
                <a:solidFill>
                  <a:srgbClr val="1A2B3C"/>
                </a:solidFill>
                <a:latin typeface="Times New Roman"/>
              </a:rPr>
              <a:t>davolangan tishlarning taxminan 30–40 foizida periapikal o'zgarishlar rentgenologik aniqlanadi.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Samarasizlikning asosiy sababi — </a:t>
            </a:r>
            <a:r>
              <a:rPr sz="1100">
                <a:solidFill>
                  <a:srgbClr val="1A2B3C"/>
                </a:solidFill>
                <a:latin typeface="Times New Roman"/>
              </a:rPr>
              <a:t>germetik bo'lmagan obturatsiya (taxminan 60 foiz): mikrooqish → qayta zararlanish (endodontik adabiyotlar tahlili bo'yicha).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Kanal mikroflorasi chidamli: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Enterococcus faecalis dentin naychalariga chuqur kirib o'rnashadi va ishlovdan so'ng ham omon qoladi (Molander va b., 1998).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Sifatli davolash samaradorligi — </a:t>
            </a:r>
            <a:r>
              <a:rPr sz="1100">
                <a:solidFill>
                  <a:srgbClr val="1A2B3C"/>
                </a:solidFill>
                <a:latin typeface="Times New Roman"/>
              </a:rPr>
              <a:t>90–95 foiz: zich apikal to'siq va koronal germetiklik uzoq muddatli natijani belgilaydi.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1860" y="1638300"/>
            <a:ext cx="4480560" cy="22860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23760" y="1600200"/>
            <a:ext cx="44805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g_02_lesion_xr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718" y="1709928"/>
            <a:ext cx="2866644" cy="1563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3488" y="3337560"/>
            <a:ext cx="4261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5A6D80"/>
                </a:solidFill>
                <a:latin typeface="Times New Roman"/>
              </a:defRPr>
            </a:pPr>
            <a:r>
              <a:t>Rentgenogramma: ildiz uchida periapikal o'choq (sxematik tasvir)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1860" y="4107180"/>
            <a:ext cx="2167128" cy="11430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23760" y="4069080"/>
            <a:ext cx="2167128" cy="114300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133087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BFA6"/>
                </a:solidFill>
                <a:latin typeface="Times New Roman"/>
              </a:defRPr>
            </a:pPr>
            <a:r>
              <a:t>90–95 %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617720"/>
            <a:ext cx="1984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FFFFFF"/>
                </a:solidFill>
                <a:latin typeface="Times New Roman"/>
              </a:defRPr>
            </a:pPr>
            <a:r>
              <a:t>sifatli davolash</a:t>
            </a:r>
            <a:br/>
            <a:r>
              <a:t>samaradorligi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5292" y="4107180"/>
            <a:ext cx="2167128" cy="11430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37192" y="4069080"/>
            <a:ext cx="2167128" cy="114300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8632" y="4133087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BFA6"/>
                </a:solidFill>
                <a:latin typeface="Times New Roman"/>
              </a:defRPr>
            </a:pPr>
            <a:r>
              <a:t>~60 %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4617720"/>
            <a:ext cx="19842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FFFFFF"/>
                </a:solidFill>
                <a:latin typeface="Times New Roman"/>
              </a:defRPr>
            </a:pPr>
            <a:r>
              <a:t>samarasizlik sababi —</a:t>
            </a:r>
            <a:br/>
            <a:r>
              <a:t>germetiklik buzilishi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1020" y="5295900"/>
            <a:ext cx="11201400" cy="9144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" y="5367528"/>
            <a:ext cx="76200" cy="694944"/>
          </a:xfrm>
          <a:prstGeom prst="rect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330952"/>
            <a:ext cx="106984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D27A"/>
                </a:solidFill>
                <a:latin typeface="Times New Roman"/>
              </a:rPr>
              <a:t>◆ ILMIY DALIL  </a:t>
            </a:r>
            <a:r>
              <a:rPr sz="1050">
                <a:solidFill>
                  <a:srgbClr val="FFFFFF"/>
                </a:solidFill>
                <a:latin typeface="Times New Roman"/>
              </a:rPr>
              <a:t>Sjögren va b., 1990: obturatsiya vaqtida kanal ekmasida mikroorganizmlar topilmasa, samaradorlik 94 foiz, topilsa — 68 foiz.  •  Kakehashi va b., 1965: mikroorganizmlarsiz muhitda ochiq pulpa nekrozga uchramaydi — infeksiya birlamchi sababdir.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02  •  NAZARIY 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Kanal tizimi anatomiyasi va obturatsiya maqsadlari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4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2438339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429768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4297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0B2C4A"/>
                </a:solidFill>
                <a:latin typeface="Times New Roman"/>
              </a:defRPr>
            </a:pPr>
            <a:r>
              <a:t>Murakkab uch o'lchamli labirint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37490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●  </a:t>
            </a:r>
            <a:r>
              <a:rPr sz="1050" b="1">
                <a:solidFill>
                  <a:srgbClr val="1A2B3C"/>
                </a:solidFill>
                <a:latin typeface="Times New Roman"/>
              </a:rPr>
              <a:t>Yon (lateral) va qo'shimcha </a:t>
            </a:r>
            <a:r>
              <a:rPr sz="1050">
                <a:solidFill>
                  <a:srgbClr val="1A2B3C"/>
                </a:solidFill>
                <a:latin typeface="Times New Roman"/>
              </a:rPr>
              <a:t>kanallar — 30–40 foiz ildizlarda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●  </a:t>
            </a:r>
            <a:r>
              <a:rPr sz="1050" b="1">
                <a:solidFill>
                  <a:srgbClr val="1A2B3C"/>
                </a:solidFill>
                <a:latin typeface="Times New Roman"/>
              </a:rPr>
              <a:t>Istmus, anastomozlar, </a:t>
            </a:r>
            <a:r>
              <a:rPr sz="1050">
                <a:solidFill>
                  <a:srgbClr val="1A2B3C"/>
                </a:solidFill>
                <a:latin typeface="Times New Roman"/>
              </a:rPr>
              <a:t>apikal delta tarmoqlari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●  </a:t>
            </a:r>
            <a:r>
              <a:rPr sz="1050" b="1">
                <a:solidFill>
                  <a:srgbClr val="1A2B3C"/>
                </a:solidFill>
                <a:latin typeface="Times New Roman"/>
              </a:rPr>
              <a:t>Oval yoki C-simon kesim </a:t>
            </a:r>
            <a:r>
              <a:rPr sz="1050">
                <a:solidFill>
                  <a:srgbClr val="1A2B3C"/>
                </a:solidFill>
                <a:latin typeface="Times New Roman"/>
              </a:rPr>
              <a:t>— yumaloq shtift bilan yopilmaydi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●  </a:t>
            </a:r>
            <a:r>
              <a:rPr sz="1050" b="1">
                <a:solidFill>
                  <a:srgbClr val="1A2B3C"/>
                </a:solidFill>
                <a:latin typeface="Times New Roman"/>
              </a:rPr>
              <a:t>MB2 kanal </a:t>
            </a:r>
            <a:r>
              <a:rPr sz="1050">
                <a:solidFill>
                  <a:srgbClr val="1A2B3C"/>
                </a:solidFill>
                <a:latin typeface="Times New Roman"/>
              </a:rPr>
              <a:t>— yuqori birinchi katta oziq tishda 60–90 foiz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●  </a:t>
            </a:r>
            <a:r>
              <a:rPr sz="1050" b="1">
                <a:solidFill>
                  <a:srgbClr val="1A2B3C"/>
                </a:solidFill>
                <a:latin typeface="Times New Roman"/>
              </a:rPr>
              <a:t>Dentin naychalari </a:t>
            </a:r>
            <a:r>
              <a:rPr sz="1050">
                <a:solidFill>
                  <a:srgbClr val="1A2B3C"/>
                </a:solidFill>
                <a:latin typeface="Times New Roman"/>
              </a:rPr>
              <a:t>— 1 mm² da 20–40 ming dona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1580" y="1638300"/>
            <a:ext cx="306324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83480" y="1600200"/>
            <a:ext cx="3063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g_03_anatom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2836303"/>
            <a:ext cx="2843784" cy="15511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93208" y="5577840"/>
            <a:ext cx="2843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5A6D80"/>
                </a:solidFill>
                <a:latin typeface="Times New Roman"/>
              </a:defRPr>
            </a:pPr>
            <a:r>
              <a:t>Yon kanallar, istmus va apikal delta (sxematik tasvir)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7700" y="1638300"/>
            <a:ext cx="347472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600200"/>
            <a:ext cx="3474720" cy="452628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BFA6"/>
                </a:solidFill>
                <a:latin typeface="Times New Roman"/>
              </a:defRPr>
            </a:pPr>
            <a:r>
              <a:t>Obturatsiya maqsadlari</a:t>
            </a:r>
          </a:p>
        </p:txBody>
      </p:sp>
      <p:sp>
        <p:nvSpPr>
          <p:cNvPr id="21" name="Oval 20"/>
          <p:cNvSpPr/>
          <p:nvPr/>
        </p:nvSpPr>
        <p:spPr>
          <a:xfrm>
            <a:off x="8458200" y="2286000"/>
            <a:ext cx="384048" cy="38404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267712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Times New Roman"/>
              </a:defRPr>
            </a:pPr>
            <a:r>
              <a:t>Mikroorganizmlar yo'lini to'liq berkitish</a:t>
            </a:r>
          </a:p>
        </p:txBody>
      </p:sp>
      <p:sp>
        <p:nvSpPr>
          <p:cNvPr id="23" name="Oval 22"/>
          <p:cNvSpPr/>
          <p:nvPr/>
        </p:nvSpPr>
        <p:spPr>
          <a:xfrm>
            <a:off x="8458200" y="3063240"/>
            <a:ext cx="384048" cy="38404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3044952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Times New Roman"/>
              </a:defRPr>
            </a:pPr>
            <a:r>
              <a:t>To'qima suyuqligi oqimini to'xtatish</a:t>
            </a:r>
          </a:p>
        </p:txBody>
      </p:sp>
      <p:sp>
        <p:nvSpPr>
          <p:cNvPr id="25" name="Oval 24"/>
          <p:cNvSpPr/>
          <p:nvPr/>
        </p:nvSpPr>
        <p:spPr>
          <a:xfrm>
            <a:off x="8458200" y="3840480"/>
            <a:ext cx="384048" cy="38404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3822192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Times New Roman"/>
              </a:defRPr>
            </a:pPr>
            <a:r>
              <a:t>Qayta zararlanish va mikrooqishning oldini olish</a:t>
            </a:r>
          </a:p>
        </p:txBody>
      </p:sp>
      <p:sp>
        <p:nvSpPr>
          <p:cNvPr id="27" name="Oval 26"/>
          <p:cNvSpPr/>
          <p:nvPr/>
        </p:nvSpPr>
        <p:spPr>
          <a:xfrm>
            <a:off x="8458200" y="4617720"/>
            <a:ext cx="384048" cy="38404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4599432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Times New Roman"/>
              </a:defRPr>
            </a:pPr>
            <a:r>
              <a:t>Mustahkam apikal to'siq yaratish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486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0BFA6"/>
                </a:solidFill>
                <a:latin typeface="Times New Roman"/>
              </a:defRPr>
            </a:pPr>
            <a:r>
              <a:t>Davolash triadasi: tayyorlash → dezinfeksiya → obturatsiya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03  •  IDEAL MATERIAL MEZONLARI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Ideal kanal to'ldiruvchi material: Grossman talablari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5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3047923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3520440" cy="13258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600200"/>
            <a:ext cx="88900" cy="13258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099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◈  Oson kiritiladi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kanalga kiritish va zichlash qulay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0059" y="1638300"/>
            <a:ext cx="3520440" cy="13258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1959" y="160020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600200"/>
            <a:ext cx="88900" cy="13258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7099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◈  To'liq germetiklik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apikal va lateral mikrooqish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9100" y="1638300"/>
            <a:ext cx="3520440" cy="13258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0" y="160020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1600200"/>
            <a:ext cx="88900" cy="13258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7099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◈  Hajm barqarorligi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qisqarmaydi, kengaymaydi, erimaydi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1020" y="3119628"/>
            <a:ext cx="3520440" cy="13258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081528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081528"/>
            <a:ext cx="88900" cy="13258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1912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◈  Rentgenkontrastlilik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58444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rentgenogrammada aniq ko'rinadi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0059" y="3119628"/>
            <a:ext cx="3520440" cy="13258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51959" y="3081528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59" y="3081528"/>
            <a:ext cx="88900" cy="13258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31912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◈  Bakteriostatik ta'sir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358444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steril, mikrob ko'payishini to'xtatadi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39100" y="3119628"/>
            <a:ext cx="3520440" cy="13258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01000" y="3081528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0" y="3081528"/>
            <a:ext cx="88900" cy="13258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31912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◈  Biomuvofiqlik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58444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qotgandan keyin bezarar, jarohatlamaydi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1020" y="4600956"/>
            <a:ext cx="3520440" cy="13258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4562856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562856"/>
            <a:ext cx="88900" cy="13258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6725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◈  Rangni o'zgartirmaydi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06577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toj estetikasi buzilmaydi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0059" y="4600956"/>
            <a:ext cx="3520440" cy="13258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251959" y="4562856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51959" y="4562856"/>
            <a:ext cx="88900" cy="13258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59" y="46725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◈  Qayta chiqariladi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59" y="506577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qayta davolashda oson olinadi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39100" y="4600956"/>
            <a:ext cx="3520440" cy="13258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01000" y="4562856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01000" y="4562856"/>
            <a:ext cx="88900" cy="13258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46725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◈  Nam muhitda barqaror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06577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A6D80"/>
                </a:solidFill>
                <a:latin typeface="Times New Roman"/>
              </a:defRPr>
            </a:pPr>
            <a:r>
              <a:t>nam sharoitda xususiyatini saqlaydi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0350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Grossman L.I., Endodontic Practice — 11 talabning qisqartirilgan bayoni: ideal material hozirgacha yaratilmagan, tanlash klinik vaziyatga ko'ra amalga oshiriladi!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04  •  XALQARO STANDARTLAR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ISO 6876 va ISO 6877: sealer va shtiftlarga rasmiy talablar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6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3657508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508760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286000"/>
                <a:gridCol w="2560320"/>
              </a:tblGrid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Ko'rsatkich (ISO 6876)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Me'yoriy talab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Klinik ahamiyati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Oquvchanlik (flow)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≥ 17 mm (disk diametri)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Yon kanallarga kirib borish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Parda qalinligi (film)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≤ 50 µm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Yupqa qatlam — kam qisqarish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Suvda eruvchanlik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≤ 3 % (massa ulushi)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Uzoq muddatli germetiklik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Rentgenkontrastlilik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≥ 3 mm alyuminiy (Al)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Rentgenogrammada aniq ko'rinish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</a:tr>
              <a:tr h="65967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Qotgandan keyingi o'lcham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Kengayish ≤ 0,1 %; qisqarish ≤ 1 %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Mikrooqishning oldini olish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Qotish vaqti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Ishlab chiqaruvchi yo'riqnomasiga mos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Ish protokolini rejalashtirish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993379" y="1546860"/>
            <a:ext cx="3794760" cy="461772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1508760"/>
            <a:ext cx="3794760" cy="461772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00BFA6"/>
                </a:solidFill>
                <a:latin typeface="Times New Roman"/>
              </a:defRPr>
            </a:pPr>
            <a:r>
              <a:t>ISO 6877 — obturatsiya shtiftlari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BFA6"/>
                </a:solidFill>
                <a:latin typeface="Times New Roman"/>
              </a:rPr>
              <a:t>●  </a:t>
            </a:r>
            <a:r>
              <a:rPr sz="1050" b="1">
                <a:solidFill>
                  <a:srgbClr val="FFFFFF"/>
                </a:solidFill>
                <a:latin typeface="Times New Roman"/>
              </a:rPr>
              <a:t>O'lchamlar: </a:t>
            </a:r>
            <a:r>
              <a:rPr sz="1050">
                <a:solidFill>
                  <a:srgbClr val="FFFFFF"/>
                </a:solidFill>
                <a:latin typeface="Times New Roman"/>
              </a:rPr>
              <a:t>uch diametri 15–80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BFA6"/>
                </a:solidFill>
                <a:latin typeface="Times New Roman"/>
              </a:rPr>
              <a:t>●  </a:t>
            </a:r>
            <a:r>
              <a:rPr sz="1050" b="1">
                <a:solidFill>
                  <a:srgbClr val="FFFFFF"/>
                </a:solidFill>
                <a:latin typeface="Times New Roman"/>
              </a:rPr>
              <a:t>Konussimonlik (taper): </a:t>
            </a:r>
            <a:r>
              <a:rPr sz="1050">
                <a:solidFill>
                  <a:srgbClr val="FFFFFF"/>
                </a:solidFill>
                <a:latin typeface="Times New Roman"/>
              </a:rPr>
              <a:t>02 / 04 / 06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BFA6"/>
                </a:solidFill>
                <a:latin typeface="Times New Roman"/>
              </a:rPr>
              <a:t>●  </a:t>
            </a:r>
            <a:r>
              <a:rPr sz="1050" b="1">
                <a:solidFill>
                  <a:srgbClr val="FFFFFF"/>
                </a:solidFill>
                <a:latin typeface="Times New Roman"/>
              </a:rPr>
              <a:t>Asosiy shtift (master) </a:t>
            </a:r>
            <a:r>
              <a:rPr sz="1050">
                <a:solidFill>
                  <a:srgbClr val="FFFFFF"/>
                </a:solidFill>
                <a:latin typeface="Times New Roman"/>
              </a:rPr>
              <a:t>mosligi talablari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3794760"/>
            <a:ext cx="3337560" cy="25400"/>
          </a:xfrm>
          <a:prstGeom prst="rect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3931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FFD27A"/>
                </a:solidFill>
                <a:latin typeface="Times New Roman"/>
              </a:defRPr>
            </a:pPr>
            <a:r>
              <a:t>Amaliy ahamiyati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29768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FFFFFF"/>
                </a:solidFill>
                <a:latin typeface="Times New Roman"/>
              </a:defRPr>
            </a:pPr>
            <a:r>
              <a:t>Sealer va shtift tanlashda ISO 6876 / 6877 muvofiqligi — sifat kafolati. AH Plus va biokeramik sealerlar ISO 6876 talablariga javob beradi.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05  •  TASNIF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Ildiz kanali materiallari tasnifi — umumiy sxema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7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4267093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356616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3291840" cy="960120"/>
          </a:xfrm>
          <a:prstGeom prst="roundRect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470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A. QOTMAYDIGAN</a:t>
            </a:r>
            <a:br/>
            <a:r>
              <a:t>(ma'lum muddatli)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009E8A"/>
                </a:solidFill>
                <a:latin typeface="Times New Roman"/>
              </a:defRPr>
            </a:pPr>
            <a:r>
              <a:t>Davolovchi pastalar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009E8A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Kalsiy gidroksidli pastalar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009E8A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Yodoformli pastalar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009E8A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Antibiotik + kortikosteroidli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009E8A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7–30 kun → almashtiriladi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5780" y="1638300"/>
            <a:ext cx="356616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160020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4840" y="1783080"/>
            <a:ext cx="3291840" cy="96012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8470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B. QOTADIGAN</a:t>
            </a:r>
            <a:br/>
            <a:r>
              <a:t>(sealerlar)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0B2C4A"/>
                </a:solidFill>
                <a:latin typeface="Times New Roman"/>
              </a:defRPr>
            </a:pPr>
            <a:r>
              <a:t>Doimiy germetik qatlam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20040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0B2C4A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Rux oksidi-evgenolli (ZOE)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0B2C4A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Epoksid smolali (AH Plus)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0B2C4A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Shishaionomer / silikonli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0B2C4A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Biokeramik (yangi avlod)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540" y="1638300"/>
            <a:ext cx="356616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92440" y="160020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0" y="1783080"/>
            <a:ext cx="3291840" cy="9601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8470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C. QATTIQ O'ZAK</a:t>
            </a:r>
            <a:br/>
            <a:r>
              <a:t>(core)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1E88E5"/>
                </a:solidFill>
                <a:latin typeface="Times New Roman"/>
              </a:defRPr>
            </a:pPr>
            <a:r>
              <a:t>Hajm to'ldiruvchi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20040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1E88E5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Gutta-percha (asosiy)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1E88E5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Resilon / sintetik o'zaklar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1E88E5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MTA apikal tiqin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1E88E5"/>
                </a:solidFill>
                <a:latin typeface="Times New Roman"/>
              </a:rPr>
              <a:t>✓  </a:t>
            </a:r>
            <a:r>
              <a:rPr sz="1150">
                <a:solidFill>
                  <a:srgbClr val="1A2B3C"/>
                </a:solidFill>
                <a:latin typeface="Times New Roman"/>
              </a:rPr>
              <a:t>Shtiftlar (tarixiy)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350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0B2C4A"/>
                </a:solidFill>
                <a:latin typeface="Times New Roman"/>
              </a:defRPr>
            </a:pPr>
            <a:r>
              <a:t>Klinik formula:  Qotmaydigan malham (davolash bosqichi)  →  Qattiq o'zak + Qotadigan sealer (doimiy obturatsiya)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06  •  QOTMAYDIGAN MALHAMLAR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Qotmaydigan malhamlar: tushunchasi va qo'llash prinsiplari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8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4876678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546860"/>
            <a:ext cx="11201400" cy="9144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1201400" cy="91440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Ta'rif:  kanal bo'shlig'ida qotmaydigan, vaqtinchalik davolovchi maqsadda 7–30 kun saqlanadigan, so'ng almashtirilishi shart bo'lgan dorivor pasta.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1020" y="2644140"/>
            <a:ext cx="2697480" cy="3154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606040"/>
            <a:ext cx="26974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" y="2743200"/>
            <a:ext cx="2478024" cy="457200"/>
          </a:xfrm>
          <a:prstGeom prst="roundRect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779776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Times New Roman"/>
              </a:defRPr>
            </a:pPr>
            <a:r>
              <a:t>VAZIFALARI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Antiseptik ta'sir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Yallig'lanishga qarshi ta'sir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Ekssudat ajralishini to'xtatish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Apeksifikatsiyani rag'batlantirish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29939" y="2644140"/>
            <a:ext cx="2697480" cy="3154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91839" y="2606040"/>
            <a:ext cx="26974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01567" y="2743200"/>
            <a:ext cx="2478024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7" y="2779776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Times New Roman"/>
              </a:defRPr>
            </a:pPr>
            <a:r>
              <a:t>KO'RSATMALAR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33832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1E88E5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O'tkir va surunkali periodontit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1E88E5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Gangrenoz pulpit (nekroz)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1E88E5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Yiringli ekssudat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1E88E5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Apeksifikatsiya zarurati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8859" y="2644140"/>
            <a:ext cx="2697480" cy="3154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0759" y="2606040"/>
            <a:ext cx="26974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487" y="2743200"/>
            <a:ext cx="2478024" cy="45720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7" y="2779776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Times New Roman"/>
              </a:defRPr>
            </a:pPr>
            <a:r>
              <a:t>CHEKLOVLAR  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33832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FF6F00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Doimiy plomba o'rnida qo'llanilmaydi!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FF6F00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Eriydi va so'riladi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FF6F00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Germetiklikni ta'minlamaydi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FF6F00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O'z vaqtida almashtirish shart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9220" y="2644140"/>
            <a:ext cx="2743200" cy="31546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0" y="2606040"/>
            <a:ext cx="27432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g_04_lentul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48" y="3243626"/>
            <a:ext cx="2523744" cy="137658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70848" y="521208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5A6D80"/>
                </a:solidFill>
                <a:latin typeface="Times New Roman"/>
              </a:defRPr>
            </a:pPr>
            <a:r>
              <a:t>Dorivor pastani spiral to'ldirgich (Lentulo) bilan kiritish (sxematik tasvir)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97880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A6D80"/>
                </a:solidFill>
                <a:latin typeface="Times New Roman"/>
              </a:defRPr>
            </a:pPr>
            <a:r>
              <a:t>Qo'llash tartibi:  spiral to'ldirgich (Lentulo) bilan kiritiladi → vaqtinchalik plomba ostida saqlanadi → keyingi tashrifda yuvib chiqariladi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07  •  QOTMAYDIGAN MALHAMLAR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Qotmaydigan pastalar: tarkibi va klinik vakillari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9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5486262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554480"/>
          <a:ext cx="113842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651760"/>
                <a:gridCol w="3017520"/>
                <a:gridCol w="3246120"/>
              </a:tblGrid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Guruh / Savdo nomi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Asosiy tarkib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Ta'sir mexanizmi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Klinik qo'llanilishi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Kalsiy gidroksidli
Calcipaste, Metapaste,
UltraCal XS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Kalsiy gidroksid +
bariy sulfat — BaSO₄
(kontrast uchun)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pH ≈ 12,5 — kuchli
ishqoriy muhit;
antibakterial, dentin
ko'prigi hosil qiladi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Pulpit, periodontit,
apeksifikatsiya —
eng keng qo'llaniladi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Yodoformli
Metapex, Vitapex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Ca(OH)₂ + yodoform +
silikon moyi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Uzoq muddatli antiseptik
ta'sir; to'qimada
so'riladi, zarar
yetkazmaydi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Zararlangan kanal,
bolalar endodontiyasi,
sut tishlari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Antibiotik +
kortikosteroid
Ledermix, Septomixine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Demeklosiklin +
triamsinolon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Og'riq qoldiruvchi +
yallig'lanishga qarshi;
antibakterial ta'sir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Kuchli og'riq, travma,
ichki rezorbsiya,
qayta davolash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Boshqalar (cheklangan)
Xlorgeksidin geli,
formokrezol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Xlorgeksidin (CHX) /
formalin-krezol
aralashmasi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Antiseptik, to'qimani
mumiyalovchi ta'sir
(tarixiy ahamiyatga ega)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Zaharli ta'siri sababli
hozirda kam
qo'llaniladi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08  •  QOTADIGAN MALHAMLAR (SEALERLAR)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Qotadigan malhamlar (sealerlar): vazifasi va avlodlari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10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6095847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722376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7223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B2C4A"/>
                </a:solidFill>
                <a:latin typeface="Times New Roman"/>
              </a:defRPr>
            </a:pPr>
            <a:r>
              <a:t>Sealer — germetiklik kafolati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6583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Ta'rif: </a:t>
            </a:r>
            <a:r>
              <a:rPr sz="1100">
                <a:solidFill>
                  <a:srgbClr val="1A2B3C"/>
                </a:solidFill>
                <a:latin typeface="Times New Roman"/>
              </a:rPr>
              <a:t>qattiq o'zak (gutta-percha) bilan kanal devori orasidagi mikroskopik tirqishlarni to'ldirib, qotgandan so'ng germetik qatlam hosil qiluvchi malham.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Vazifalari: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mikrooqishning oldini olish, yon kanallarni to'ldirish, o'zakni dentinga mahkamlash.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Ideal qatlam — </a:t>
            </a:r>
            <a:r>
              <a:rPr sz="1100">
                <a:solidFill>
                  <a:srgbClr val="1A2B3C"/>
                </a:solidFill>
                <a:latin typeface="Times New Roman"/>
              </a:rPr>
              <a:t>25–50 µm: qatlam qanchalik yupqa bo'lsa, qisqarish va erish xavfi shunchalik kam.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Standart: </a:t>
            </a:r>
            <a:r>
              <a:rPr sz="1100">
                <a:solidFill>
                  <a:srgbClr val="1A2B3C"/>
                </a:solidFill>
                <a:latin typeface="Times New Roman"/>
              </a:rPr>
              <a:t>ISO 6876 talablariga (oquvchanlik, parda qalinligi, eruvchanlik, kontrast) javob berishi shart.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Tanlash mezonlari: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biomuvofiqlik, qisqarish darajasi, eruvchanlik, rentgenkontrastlilik, qayta davolash imkoniyati.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9100" y="1638300"/>
            <a:ext cx="365760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1600200"/>
            <a:ext cx="3657600" cy="452628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FA6"/>
                </a:solidFill>
                <a:latin typeface="Times New Roman"/>
              </a:defRPr>
            </a:pPr>
            <a:r>
              <a:t>Sealerlar avlodlari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0" y="2286000"/>
            <a:ext cx="457200" cy="45720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Times New Roman"/>
              </a:defRPr>
            </a:pPr>
            <a:r>
              <a:t>Rux oksidi-evgenollilar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5786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EB8D0"/>
                </a:solidFill>
                <a:latin typeface="Times New Roman"/>
              </a:defRPr>
            </a:pPr>
            <a:r>
              <a:t>Endomethasone, Tubli-Seal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0" y="3200400"/>
            <a:ext cx="457200" cy="45720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200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Times New Roman"/>
              </a:defRPr>
            </a:pPr>
            <a:r>
              <a:t>Ca(OH)₂ + shishaionomer + silikon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4930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EB8D0"/>
                </a:solidFill>
                <a:latin typeface="Times New Roman"/>
              </a:defRPr>
            </a:pPr>
            <a:r>
              <a:t>Sealapex, Ketac Endo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0" y="4114800"/>
            <a:ext cx="457200" cy="45720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III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114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Times New Roman"/>
              </a:defRPr>
            </a:pPr>
            <a:r>
              <a:t>Epoksid smolali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4407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EB8D0"/>
                </a:solidFill>
                <a:latin typeface="Times New Roman"/>
              </a:defRPr>
            </a:pPr>
            <a:r>
              <a:t>AH Plus — oltin standart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0" y="5029200"/>
            <a:ext cx="457200" cy="45720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5029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Times New Roman"/>
              </a:defRPr>
            </a:pPr>
            <a:r>
              <a:t>Biokeramik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53218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EB8D0"/>
                </a:solidFill>
                <a:latin typeface="Times New Roman"/>
              </a:defRPr>
            </a:pPr>
            <a:r>
              <a:t>BioRoot RCS, TotalFill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09  •  QOTADIGAN MALHAMLAR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Rux oksidi-evgenolli va kalsiy gidroksidli sealerlar (I–II avlod)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11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6705432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557784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5577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5303520" cy="548640"/>
          </a:xfrm>
          <a:prstGeom prst="roundRect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Times New Roman"/>
              </a:defRPr>
            </a:pPr>
            <a:r>
              <a:t>Rux oksidi-evgenolli (ZOE) sealerlar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Endomethasone N  •  Tubli-Seal  •  Pulp Canal Sealer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3464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C98A12"/>
                </a:solidFill>
                <a:latin typeface="Times New Roman"/>
              </a:rPr>
              <a:t>+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Afzalliklari: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arzon, ko'p yillik klinik tajriba, qo'llash oson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C98A12"/>
                </a:solidFill>
                <a:latin typeface="Times New Roman"/>
              </a:rPr>
              <a:t>+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Afzalliklari: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yuqori rentgenkontrastlilik, oson chiqariladi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C98A12"/>
                </a:solidFill>
                <a:latin typeface="Times New Roman"/>
              </a:rPr>
              <a:t>−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Kamchiliklari: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qisqaradi va eriydi — germetiklik susayadi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C98A12"/>
                </a:solidFill>
                <a:latin typeface="Times New Roman"/>
              </a:rPr>
              <a:t>−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Kamchiliklari: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evgenolga allergik reaksiya, toj rangini o'zgartirishi mumkin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3180" y="1638300"/>
            <a:ext cx="530352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160020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1783080"/>
            <a:ext cx="5029200" cy="548640"/>
          </a:xfrm>
          <a:prstGeom prst="roundRect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Times New Roman"/>
              </a:defRPr>
            </a:pPr>
            <a:r>
              <a:t>Kalsiy gidroksidli sealerlar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423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Sealapex  •  Apexit Plus  •  Calcibiotic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3464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+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Afzalliklari: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ishqoriy pH, biomuvofiq, apeksifikatsiyani rag'batlantiradi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+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Afzalliklari: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periapikal to'qimalarga ijobiy ta'sir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−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Kamchiliklari: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yuqori eruvchanlik — vaqt o'tishi bilan bo'shliq hosil bo'ladi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−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Kamchiliklari: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mexanik mustahkamligi past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10  •  QOTADIGAN MALHAMLAR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Epoksid smolali, shishaionomer va silikonli sealerlar (II–III avlod)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12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7315017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457200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4572000" cy="452628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BFA6"/>
                </a:solidFill>
                <a:latin typeface="Times New Roman"/>
              </a:defRPr>
            </a:pPr>
            <a:r>
              <a:t>★  AH Plus — oltin standart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●  </a:t>
            </a:r>
            <a:r>
              <a:rPr sz="1000" b="1">
                <a:solidFill>
                  <a:srgbClr val="FFFFFF"/>
                </a:solidFill>
                <a:latin typeface="Times New Roman"/>
              </a:rPr>
              <a:t>Tarkibi: </a:t>
            </a:r>
            <a:r>
              <a:rPr sz="1000">
                <a:solidFill>
                  <a:srgbClr val="FFFFFF"/>
                </a:solidFill>
                <a:latin typeface="Times New Roman"/>
              </a:rPr>
              <a:t>epoksid smola (bisfenol A) + aminli qotiruvchi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●  </a:t>
            </a:r>
            <a:r>
              <a:rPr sz="1000" b="1">
                <a:solidFill>
                  <a:srgbClr val="FFFFFF"/>
                </a:solidFill>
                <a:latin typeface="Times New Roman"/>
              </a:rPr>
              <a:t>Qotishi: </a:t>
            </a:r>
            <a:r>
              <a:rPr sz="1000">
                <a:solidFill>
                  <a:srgbClr val="FFFFFF"/>
                </a:solidFill>
                <a:latin typeface="Times New Roman"/>
              </a:rPr>
              <a:t>taxminan 8 soat; qisqarish &lt; 1 %; eruvchanlik &lt; 3 %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●  </a:t>
            </a:r>
            <a:r>
              <a:rPr sz="1000" b="1">
                <a:solidFill>
                  <a:srgbClr val="FFFFFF"/>
                </a:solidFill>
                <a:latin typeface="Times New Roman"/>
              </a:rPr>
              <a:t>+: </a:t>
            </a:r>
            <a:r>
              <a:rPr sz="1000">
                <a:solidFill>
                  <a:srgbClr val="FFFFFF"/>
                </a:solidFill>
                <a:latin typeface="Times New Roman"/>
              </a:rPr>
              <a:t>a'lo yopishish (adgeziya), hajm barqarorligi, yuqori kontrast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●  </a:t>
            </a:r>
            <a:r>
              <a:rPr sz="1000" b="1">
                <a:solidFill>
                  <a:srgbClr val="FFFFFF"/>
                </a:solidFill>
                <a:latin typeface="Times New Roman"/>
              </a:rPr>
              <a:t>◆: </a:t>
            </a:r>
            <a:r>
              <a:rPr sz="1000">
                <a:solidFill>
                  <a:srgbClr val="FFFFFF"/>
                </a:solidFill>
                <a:latin typeface="Times New Roman"/>
              </a:rPr>
              <a:t>ISO 6876 talablariga to'liq javob beradi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●  </a:t>
            </a:r>
            <a:r>
              <a:rPr sz="1000" b="1">
                <a:solidFill>
                  <a:srgbClr val="FFFFFF"/>
                </a:solidFill>
                <a:latin typeface="Times New Roman"/>
              </a:rPr>
              <a:t>−: </a:t>
            </a:r>
            <a:r>
              <a:rPr sz="1000">
                <a:solidFill>
                  <a:srgbClr val="FFFFFF"/>
                </a:solidFill>
                <a:latin typeface="Times New Roman"/>
              </a:rPr>
              <a:t>qayta davolashda chiqarish qiyin; qotgunga qadar sitotoksik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87340" y="1638300"/>
            <a:ext cx="324612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9240" y="1600200"/>
            <a:ext cx="3246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737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Shishaionomer sement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Ketac Endo • Endion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46888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+  </a:t>
            </a:r>
            <a:r>
              <a:rPr sz="1050">
                <a:solidFill>
                  <a:srgbClr val="1A2B3C"/>
                </a:solidFill>
                <a:latin typeface="Times New Roman"/>
              </a:rPr>
              <a:t>Dentinga kimyoviy bog'lanadi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+  </a:t>
            </a:r>
            <a:r>
              <a:rPr sz="1050">
                <a:solidFill>
                  <a:srgbClr val="1A2B3C"/>
                </a:solidFill>
                <a:latin typeface="Times New Roman"/>
              </a:rPr>
              <a:t>Ftor ajratib turadi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−  </a:t>
            </a:r>
            <a:r>
              <a:rPr sz="1050">
                <a:solidFill>
                  <a:srgbClr val="1A2B3C"/>
                </a:solidFill>
                <a:latin typeface="Times New Roman"/>
              </a:rPr>
              <a:t>Mo'rt, namlikka sezgir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−  </a:t>
            </a:r>
            <a:r>
              <a:rPr sz="1050">
                <a:solidFill>
                  <a:srgbClr val="1A2B3C"/>
                </a:solidFill>
                <a:latin typeface="Times New Roman"/>
              </a:rPr>
              <a:t>Qayta davolash o'ta qiyin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7780" y="1638300"/>
            <a:ext cx="283464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0" y="1600200"/>
            <a:ext cx="2834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Silikon asosli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RoekoSeal • GuttaFlow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46888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+  </a:t>
            </a:r>
            <a:r>
              <a:rPr sz="1050">
                <a:solidFill>
                  <a:srgbClr val="1A2B3C"/>
                </a:solidFill>
                <a:latin typeface="Times New Roman"/>
              </a:rPr>
              <a:t>Qotayotib kengayadi (+0,2 %)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+  </a:t>
            </a:r>
            <a:r>
              <a:rPr sz="1050">
                <a:solidFill>
                  <a:srgbClr val="1A2B3C"/>
                </a:solidFill>
                <a:latin typeface="Times New Roman"/>
              </a:rPr>
              <a:t>Yuqori oquvchanlik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−  </a:t>
            </a:r>
            <a:r>
              <a:rPr sz="1050">
                <a:solidFill>
                  <a:srgbClr val="1A2B3C"/>
                </a:solidFill>
                <a:latin typeface="Times New Roman"/>
              </a:rPr>
              <a:t>Mustahkamligi past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−  </a:t>
            </a:r>
            <a:r>
              <a:rPr sz="1050">
                <a:solidFill>
                  <a:srgbClr val="1A2B3C"/>
                </a:solidFill>
                <a:latin typeface="Times New Roman"/>
              </a:rPr>
              <a:t>Narxi yuqori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11  •  YANGI AVLOD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Biokeramik sealerlar (IV avlod) — bioaktiv materiallar davri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13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7924601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5486400" cy="356616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19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B2C4A"/>
                </a:solidFill>
                <a:latin typeface="Times New Roman"/>
              </a:defRPr>
            </a:pPr>
            <a:r>
              <a:t>Trikalsiy silikat (MTA asosli) + kalsiy fosfat + sirkoniy dioksidi (ZrO₂)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1.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Qotish mexanizmi: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kanal namligi hisobiga qotadi — namlik muammo emas, afzallik!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2.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Bioaktivlik: </a:t>
            </a:r>
            <a:r>
              <a:rPr sz="1100">
                <a:solidFill>
                  <a:srgbClr val="1A2B3C"/>
                </a:solidFill>
                <a:latin typeface="Times New Roman"/>
              </a:rPr>
              <a:t>gidroksiapatit hosil qilib, dentin bilan kimyoviy bog'lanadi («monoblok»).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3.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Muhit: </a:t>
            </a:r>
            <a:r>
              <a:rPr sz="1100">
                <a:solidFill>
                  <a:srgbClr val="1A2B3C"/>
                </a:solidFill>
                <a:latin typeface="Times New Roman"/>
              </a:rPr>
              <a:t>pH &gt; 12 — antibakterial; kengayish ~0,1 %; eruvchanlik &lt; 3 %.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4.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Savdo nomlari: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BioRoot RCS • TotalFill BC Sealer • EndoSequence BC.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1638300"/>
            <a:ext cx="2651760" cy="356616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1600200"/>
            <a:ext cx="26517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g_05_bioac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468464"/>
            <a:ext cx="2432304" cy="132671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81928" y="4617720"/>
            <a:ext cx="2432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5A6D80"/>
                </a:solidFill>
                <a:latin typeface="Times New Roman"/>
              </a:defRPr>
            </a:pPr>
            <a:r>
              <a:t>Gidroksiapatitning dentinga bog'lanishi (sxematik tasvir)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4940" y="1638300"/>
            <a:ext cx="2697480" cy="356616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1600200"/>
            <a:ext cx="2697480" cy="356616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71907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0BFA6"/>
                </a:solidFill>
                <a:latin typeface="Times New Roman"/>
              </a:defRPr>
            </a:pPr>
            <a:r>
              <a:t>Afzallik va kamchiliklar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48840"/>
            <a:ext cx="2240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✓  </a:t>
            </a:r>
            <a:r>
              <a:rPr sz="1000">
                <a:solidFill>
                  <a:srgbClr val="FFFFFF"/>
                </a:solidFill>
                <a:latin typeface="Times New Roman"/>
              </a:rPr>
              <a:t>Gidrofil, hujayralar uchun bezarar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✓  </a:t>
            </a:r>
            <a:r>
              <a:rPr sz="1000">
                <a:solidFill>
                  <a:srgbClr val="FFFFFF"/>
                </a:solidFill>
                <a:latin typeface="Times New Roman"/>
              </a:rPr>
              <a:t>Yakka shtift usuli bilan uyg'un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✓  </a:t>
            </a:r>
            <a:r>
              <a:rPr sz="1000">
                <a:solidFill>
                  <a:srgbClr val="FFFFFF"/>
                </a:solidFill>
                <a:latin typeface="Times New Roman"/>
              </a:rPr>
              <a:t>Perforatsiya va apeksni yopishda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✕  </a:t>
            </a:r>
            <a:r>
              <a:rPr sz="1000">
                <a:solidFill>
                  <a:srgbClr val="FFFFFF"/>
                </a:solidFill>
                <a:latin typeface="Times New Roman"/>
              </a:rPr>
              <a:t>Qayta davolash qiyin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✕  </a:t>
            </a:r>
            <a:r>
              <a:rPr sz="1000">
                <a:solidFill>
                  <a:srgbClr val="FFFFFF"/>
                </a:solidFill>
                <a:latin typeface="Times New Roman"/>
              </a:rPr>
              <a:t>Qimmat, ish vaqti qisqa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1020" y="5341620"/>
            <a:ext cx="11201400" cy="82296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5303520"/>
            <a:ext cx="11201400" cy="82296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" y="5413248"/>
            <a:ext cx="76200" cy="603504"/>
          </a:xfrm>
          <a:prstGeom prst="rect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376672"/>
            <a:ext cx="1069848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D27A"/>
                </a:solidFill>
                <a:latin typeface="Times New Roman"/>
              </a:rPr>
              <a:t>◆ ILMIY ASOS  </a:t>
            </a:r>
            <a:r>
              <a:rPr sz="1050">
                <a:solidFill>
                  <a:srgbClr val="FFFFFF"/>
                </a:solidFill>
                <a:latin typeface="Times New Roman"/>
              </a:rPr>
              <a:t>MTA — Torabinejad va b., 1993 (Loma Linda universiteti, AQSH): kalsiy-silikat sementlar davri boshlandi. Gidroksiapatit hosil qilishi va yuqori biomuvofiqligi ko'plab laborator va klinik tadqiqotlarda isbotlangan.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12  •  QATTIQ O'ZAKLAR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Qattiq obturatsiya materiallari: gutta-percha va boshqalar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14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8534186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640080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6400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Gutta-percha — trans-1,4-poliizopren (tabiiy polimer)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Tarkibi: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taxminan 20 % gutta-percha + 60–75 % rux oksidi (ZnO) + mumlar + bariy sulfat (BaSO₄, kontrast uchun).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Fazalari: </a:t>
            </a:r>
            <a:r>
              <a:rPr sz="1100">
                <a:solidFill>
                  <a:srgbClr val="1A2B3C"/>
                </a:solidFill>
                <a:latin typeface="Times New Roman"/>
              </a:rPr>
              <a:t>β-faza (ishchi holat) → qizdirilganda α-faza (60 °C da yumshab, yopishqoq bo'ladi).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Standart: </a:t>
            </a:r>
            <a:r>
              <a:rPr sz="1100">
                <a:solidFill>
                  <a:srgbClr val="1A2B3C"/>
                </a:solidFill>
                <a:latin typeface="Times New Roman"/>
              </a:rPr>
              <a:t>ISO 6877 — o'lcham 15–80; konussimonlik 02/04/06; asosiy + qo'shimcha shtiftlar.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0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100" b="1">
                <a:solidFill>
                  <a:srgbClr val="1A2B3C"/>
                </a:solidFill>
                <a:latin typeface="Times New Roman"/>
              </a:rPr>
              <a:t>+: </a:t>
            </a:r>
            <a:r>
              <a:rPr sz="1100">
                <a:solidFill>
                  <a:srgbClr val="1A2B3C"/>
                </a:solidFill>
                <a:latin typeface="Times New Roman"/>
              </a:rPr>
              <a:t>biomuvofiq, kontrast, arzon, oson chiqariladi;  −: yolg'iz o'zi germetik emas — sealer shart!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0420" y="1638300"/>
            <a:ext cx="4572000" cy="24688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1600200"/>
            <a:ext cx="4572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g_06_gut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348" y="1709928"/>
            <a:ext cx="4123944" cy="224942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170420" y="4244340"/>
            <a:ext cx="4572000" cy="192024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0" y="4206240"/>
            <a:ext cx="4572000" cy="192024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00BFA6"/>
                </a:solidFill>
                <a:latin typeface="Times New Roman"/>
              </a:defRPr>
            </a:pPr>
            <a:r>
              <a:t>Boshqa o'zak materiallari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66344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●  </a:t>
            </a:r>
            <a:r>
              <a:rPr sz="1000" b="1">
                <a:solidFill>
                  <a:srgbClr val="FFFFFF"/>
                </a:solidFill>
                <a:latin typeface="Times New Roman"/>
              </a:rPr>
              <a:t>Resilon: </a:t>
            </a:r>
            <a:r>
              <a:rPr sz="1000">
                <a:solidFill>
                  <a:srgbClr val="FFFFFF"/>
                </a:solidFill>
                <a:latin typeface="Times New Roman"/>
              </a:rPr>
              <a:t>yaxlit bog'lanish g'oyasi, biroq gidrolizga uchraydi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●  </a:t>
            </a:r>
            <a:r>
              <a:rPr sz="1000" b="1">
                <a:solidFill>
                  <a:srgbClr val="FFFFFF"/>
                </a:solidFill>
                <a:latin typeface="Times New Roman"/>
              </a:rPr>
              <a:t>MTA tiqin: </a:t>
            </a:r>
            <a:r>
              <a:rPr sz="1000">
                <a:solidFill>
                  <a:srgbClr val="FFFFFF"/>
                </a:solidFill>
                <a:latin typeface="Times New Roman"/>
              </a:rPr>
              <a:t>ochiq apeksda 3–5 mm apikal to'siq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00" b="1">
                <a:solidFill>
                  <a:srgbClr val="00BFA6"/>
                </a:solidFill>
                <a:latin typeface="Times New Roman"/>
              </a:rPr>
              <a:t>●  </a:t>
            </a:r>
            <a:r>
              <a:rPr sz="1000" b="1">
                <a:solidFill>
                  <a:srgbClr val="FFFFFF"/>
                </a:solidFill>
                <a:latin typeface="Times New Roman"/>
              </a:rPr>
              <a:t>Kumush va titan shtiftlar: </a:t>
            </a:r>
            <a:r>
              <a:rPr sz="1000">
                <a:solidFill>
                  <a:srgbClr val="FFFFFF"/>
                </a:solidFill>
                <a:latin typeface="Times New Roman"/>
              </a:rPr>
              <a:t>tarixiy ahamiyat, cheklangan qo'llaniladi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13  •  OLTIN STANDART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Gutta-percha + sealer: kombinatsiyaning ilmiy asosi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15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9143771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546860"/>
            <a:ext cx="11201400" cy="9144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11201400" cy="91440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074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00BFA6"/>
                </a:solidFill>
                <a:latin typeface="Times New Roman"/>
              </a:defRPr>
            </a:pPr>
            <a:r>
              <a:t>GUTTA-PERCHA (hajm to'ldiruvchi o'zak)  +  SEALER (mikrotirqishlarni zichlovchi malham)  =  UCH O'LCHAMLI OBTURATSIYA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1020" y="2644140"/>
            <a:ext cx="2697480" cy="237744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606040"/>
            <a:ext cx="2697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06040"/>
            <a:ext cx="2697480" cy="868680"/>
          </a:xfrm>
          <a:prstGeom prst="rect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651760"/>
            <a:ext cx="2478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</a:defRPr>
            </a:pPr>
            <a:r>
              <a:t>Maksimal o'zak</a:t>
            </a:r>
            <a:br/>
            <a:r>
              <a:t>Minimal sealer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1A2B3C"/>
                </a:solidFill>
                <a:latin typeface="Times New Roman"/>
              </a:defRPr>
            </a:pPr>
            <a:r>
              <a:t>Sealer qatlami 25–50 µm — qisqarish kam, germetiklik yuqori.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29939" y="2644140"/>
            <a:ext cx="2697480" cy="237744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91839" y="2606040"/>
            <a:ext cx="2697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39" y="2606040"/>
            <a:ext cx="2697480" cy="868680"/>
          </a:xfrm>
          <a:prstGeom prst="rect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7" y="2651760"/>
            <a:ext cx="2478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</a:defRPr>
            </a:pPr>
            <a:r>
              <a:t>Faqat pasta: ~70 %</a:t>
            </a:r>
            <a:br/>
            <a:r>
              <a:t>Kombinatsiya: 90–95 %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19" y="35661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1A2B3C"/>
                </a:solidFill>
                <a:latin typeface="Times New Roman"/>
              </a:defRPr>
            </a:pPr>
            <a:r>
              <a:t>Zichlashtirilgan gutta-percha + sealer sezilarli ustun (klinik tadqiqotlar).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8859" y="2644140"/>
            <a:ext cx="2697480" cy="237744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0759" y="2606040"/>
            <a:ext cx="2697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59" y="2606040"/>
            <a:ext cx="2697480" cy="868680"/>
          </a:xfrm>
          <a:prstGeom prst="rect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7" y="2651760"/>
            <a:ext cx="24780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</a:defRPr>
            </a:pPr>
            <a:r>
              <a:t>Apikal uchdan bir qism —</a:t>
            </a:r>
            <a:br/>
            <a:r>
              <a:t>eng mas'uliyatli soha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39" y="35661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1A2B3C"/>
                </a:solidFill>
                <a:latin typeface="Times New Roman"/>
              </a:defRPr>
            </a:pPr>
            <a:r>
              <a:t>Aynan apikal 3–4 mm da zichlash eng yuqori bo'lishi shart.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9220" y="2644140"/>
            <a:ext cx="2743200" cy="237744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0" y="2606040"/>
            <a:ext cx="27432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g_07_obturation_xr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48" y="2855006"/>
            <a:ext cx="2523744" cy="137658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70848" y="443484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5A6D80"/>
                </a:solidFill>
                <a:latin typeface="Times New Roman"/>
              </a:defRPr>
            </a:pPr>
            <a:r>
              <a:t>Muvaffaqiyatli obturatsiya rentgenogrammasi (sxematik tasvir)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1020" y="5204460"/>
            <a:ext cx="11201400" cy="96012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20" y="5166360"/>
            <a:ext cx="11201400" cy="96012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" y="5276088"/>
            <a:ext cx="76200" cy="740664"/>
          </a:xfrm>
          <a:prstGeom prst="rect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239512"/>
            <a:ext cx="106984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D27A"/>
                </a:solidFill>
                <a:latin typeface="Times New Roman"/>
              </a:rPr>
              <a:t>◆ ILMIY DALIL  </a:t>
            </a:r>
            <a:r>
              <a:rPr sz="1050">
                <a:solidFill>
                  <a:srgbClr val="FFFFFF"/>
                </a:solidFill>
                <a:latin typeface="Times New Roman"/>
              </a:rPr>
              <a:t>Ray va Trope, 1995: koronal germetiklik (plomba yoki qoplama) sifati periapikal to'qimalar sog'lig'iga ildiz kanali plombasi sifaticha kuchli ta'sir ko'rsatadi. Rentgenologik mezon: bir xil zichlik • bo'shliqlarsiz • ishchi uzunlikda yakunlanish.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14  •  PLOMBALASH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Ildiz kanalini plombalash usullari tasnifi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16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9753356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557784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5577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5303520" cy="5943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470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Times New Roman"/>
              </a:defRPr>
            </a:pPr>
            <a:r>
              <a:t>❄  SOVUQ USULLAR (xona haroratida)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517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1E88E5"/>
                </a:solidFill>
                <a:latin typeface="Times New Roman"/>
              </a:rPr>
              <a:t>1.  </a:t>
            </a:r>
            <a:r>
              <a:rPr sz="1150" b="1">
                <a:solidFill>
                  <a:srgbClr val="1A2B3C"/>
                </a:solidFill>
                <a:latin typeface="Times New Roman"/>
              </a:rPr>
              <a:t>Yakka shtift </a:t>
            </a:r>
            <a:r>
              <a:rPr sz="1150">
                <a:solidFill>
                  <a:srgbClr val="1A2B3C"/>
                </a:solidFill>
                <a:latin typeface="Times New Roman"/>
              </a:rPr>
              <a:t>(single-cone) — tez, oson, arzon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1E88E5"/>
                </a:solidFill>
                <a:latin typeface="Times New Roman"/>
              </a:rPr>
              <a:t>2.  </a:t>
            </a:r>
            <a:r>
              <a:rPr sz="1150" b="1">
                <a:solidFill>
                  <a:srgbClr val="1A2B3C"/>
                </a:solidFill>
                <a:latin typeface="Times New Roman"/>
              </a:rPr>
              <a:t>Lateral kondensatsiya </a:t>
            </a:r>
            <a:r>
              <a:rPr sz="1150">
                <a:solidFill>
                  <a:srgbClr val="1A2B3C"/>
                </a:solidFill>
                <a:latin typeface="Times New Roman"/>
              </a:rPr>
              <a:t>(sovuq zichlash) — klassik oltin standart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1E88E5"/>
                </a:solidFill>
                <a:latin typeface="Times New Roman"/>
              </a:rPr>
              <a:t>3.  </a:t>
            </a:r>
            <a:r>
              <a:rPr sz="1150" b="1">
                <a:solidFill>
                  <a:srgbClr val="1A2B3C"/>
                </a:solidFill>
                <a:latin typeface="Times New Roman"/>
              </a:rPr>
              <a:t>Biokeramik yakka shtift </a:t>
            </a:r>
            <a:r>
              <a:rPr sz="1150">
                <a:solidFill>
                  <a:srgbClr val="1A2B3C"/>
                </a:solidFill>
                <a:latin typeface="Times New Roman"/>
              </a:rPr>
              <a:t>— zamonaviy soddalashtirilgan protokol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1E88E5"/>
                </a:solidFill>
                <a:latin typeface="Times New Roman"/>
              </a:rPr>
              <a:t>◈   </a:t>
            </a:r>
            <a:r>
              <a:rPr sz="1150" b="1">
                <a:solidFill>
                  <a:srgbClr val="1A2B3C"/>
                </a:solidFill>
                <a:latin typeface="Times New Roman"/>
              </a:rPr>
              <a:t>Afzalligi: </a:t>
            </a:r>
            <a:r>
              <a:rPr sz="1150">
                <a:solidFill>
                  <a:srgbClr val="1A2B3C"/>
                </a:solidFill>
                <a:latin typeface="Times New Roman"/>
              </a:rPr>
              <a:t>maxsus jihoz talab qilinmaydi, qayta davolash oson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3180" y="1638300"/>
            <a:ext cx="530352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160020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1783080"/>
            <a:ext cx="5029200" cy="59436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470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Times New Roman"/>
              </a:defRPr>
            </a:pPr>
            <a:r>
              <a:t>♨  ISSIQ USULLAR (issiqlikda yumshatish)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FF6F00"/>
                </a:solidFill>
                <a:latin typeface="Times New Roman"/>
              </a:rPr>
              <a:t>1.  </a:t>
            </a:r>
            <a:r>
              <a:rPr sz="1150" b="1">
                <a:solidFill>
                  <a:srgbClr val="1A2B3C"/>
                </a:solidFill>
                <a:latin typeface="Times New Roman"/>
              </a:rPr>
              <a:t>Vertikal kondensatsiya </a:t>
            </a:r>
            <a:r>
              <a:rPr sz="1150">
                <a:solidFill>
                  <a:srgbClr val="1A2B3C"/>
                </a:solidFill>
                <a:latin typeface="Times New Roman"/>
              </a:rPr>
              <a:t>(Schilder, 1967)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FF6F00"/>
                </a:solidFill>
                <a:latin typeface="Times New Roman"/>
              </a:rPr>
              <a:t>2.  </a:t>
            </a:r>
            <a:r>
              <a:rPr sz="1150" b="1">
                <a:solidFill>
                  <a:srgbClr val="1A2B3C"/>
                </a:solidFill>
                <a:latin typeface="Times New Roman"/>
              </a:rPr>
              <a:t>Uzluksiz to'lqin </a:t>
            </a:r>
            <a:r>
              <a:rPr sz="1150">
                <a:solidFill>
                  <a:srgbClr val="1A2B3C"/>
                </a:solidFill>
                <a:latin typeface="Times New Roman"/>
              </a:rPr>
              <a:t>(continuous wave — Buchanan, System B)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FF6F00"/>
                </a:solidFill>
                <a:latin typeface="Times New Roman"/>
              </a:rPr>
              <a:t>3.  </a:t>
            </a:r>
            <a:r>
              <a:rPr sz="1150" b="1">
                <a:solidFill>
                  <a:srgbClr val="1A2B3C"/>
                </a:solidFill>
                <a:latin typeface="Times New Roman"/>
              </a:rPr>
              <a:t>Termoplastik in'ektsiya </a:t>
            </a:r>
            <a:r>
              <a:rPr sz="1150">
                <a:solidFill>
                  <a:srgbClr val="1A2B3C"/>
                </a:solidFill>
                <a:latin typeface="Times New Roman"/>
              </a:rPr>
              <a:t>(Obtura, Calamus, BeeFill)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150" b="1">
                <a:solidFill>
                  <a:srgbClr val="FF6F00"/>
                </a:solidFill>
                <a:latin typeface="Times New Roman"/>
              </a:rPr>
              <a:t>4.  </a:t>
            </a:r>
            <a:r>
              <a:rPr sz="1150" b="1">
                <a:solidFill>
                  <a:srgbClr val="1A2B3C"/>
                </a:solidFill>
                <a:latin typeface="Times New Roman"/>
              </a:rPr>
              <a:t>Tashuvchi o'zakli usul </a:t>
            </a:r>
            <a:r>
              <a:rPr sz="1150">
                <a:solidFill>
                  <a:srgbClr val="1A2B3C"/>
                </a:solidFill>
                <a:latin typeface="Times New Roman"/>
              </a:rPr>
              <a:t>(Thermafil, GuttaCore)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35040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B2C4A"/>
                </a:solidFill>
                <a:latin typeface="Times New Roman"/>
              </a:defRPr>
            </a:pPr>
            <a:r>
              <a:t>Tanlash omillari:  kanal shakli (oval / qiyshiq / keng)  +  jihozlar mavjudligi  +  shifokor malakasi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15  •  SOVUQ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Sovuq usullar: yakka shtift va lateral kondensatsiya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17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0362940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3108960" cy="36576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31089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88E5"/>
                </a:solidFill>
                <a:latin typeface="Times New Roman"/>
              </a:defRPr>
            </a:pPr>
            <a:r>
              <a:t>A. Yakka shtift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(single-cone)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7744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050">
                <a:solidFill>
                  <a:srgbClr val="1A2B3C"/>
                </a:solidFill>
                <a:latin typeface="Times New Roman"/>
              </a:rPr>
              <a:t>Bitta asosiy shtift + sealer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050" b="1">
                <a:solidFill>
                  <a:srgbClr val="1A2B3C"/>
                </a:solidFill>
                <a:latin typeface="Times New Roman"/>
              </a:rPr>
              <a:t>+: </a:t>
            </a:r>
            <a:r>
              <a:rPr sz="1050">
                <a:solidFill>
                  <a:srgbClr val="1A2B3C"/>
                </a:solidFill>
                <a:latin typeface="Times New Roman"/>
              </a:rPr>
              <a:t>eng tez va oson usul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050" b="1">
                <a:solidFill>
                  <a:srgbClr val="1A2B3C"/>
                </a:solidFill>
                <a:latin typeface="Times New Roman"/>
              </a:rPr>
              <a:t>−: </a:t>
            </a:r>
            <a:r>
              <a:rPr sz="1050">
                <a:solidFill>
                  <a:srgbClr val="1A2B3C"/>
                </a:solidFill>
                <a:latin typeface="Times New Roman"/>
              </a:rPr>
              <a:t>oval kanalda germetiklik past</a:t>
            </a:r>
          </a:p>
          <a:p>
            <a:pPr>
              <a:lnSpc>
                <a:spcPct val="112000"/>
              </a:lnSpc>
              <a:spcBef>
                <a:spcPts val="100"/>
              </a:spcBef>
              <a:spcAft>
                <a:spcPts val="500"/>
              </a:spcAft>
            </a:pPr>
            <a:r>
              <a:rPr sz="1050" b="1">
                <a:solidFill>
                  <a:srgbClr val="009E8A"/>
                </a:solidFill>
                <a:latin typeface="Times New Roman"/>
              </a:rPr>
              <a:t>▸  </a:t>
            </a:r>
            <a:r>
              <a:rPr sz="1050" b="1">
                <a:solidFill>
                  <a:srgbClr val="1A2B3C"/>
                </a:solidFill>
                <a:latin typeface="Times New Roman"/>
              </a:rPr>
              <a:t>◈: </a:t>
            </a:r>
            <a:r>
              <a:rPr sz="1050">
                <a:solidFill>
                  <a:srgbClr val="1A2B3C"/>
                </a:solidFill>
                <a:latin typeface="Times New Roman"/>
              </a:rPr>
              <a:t>biokeramik sealer bilan samarali!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7139" y="1638300"/>
            <a:ext cx="4572000" cy="36576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49039" y="1600200"/>
            <a:ext cx="45720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2C4A"/>
                </a:solidFill>
                <a:latin typeface="Times New Roman"/>
              </a:defRPr>
            </a:pPr>
            <a:r>
              <a:t>B. Lateral kondensatsiya — 6 bosqich</a:t>
            </a:r>
          </a:p>
        </p:txBody>
      </p:sp>
      <p:sp>
        <p:nvSpPr>
          <p:cNvPr id="18" name="Oval 17"/>
          <p:cNvSpPr/>
          <p:nvPr/>
        </p:nvSpPr>
        <p:spPr>
          <a:xfrm>
            <a:off x="3977639" y="2212848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1284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1A2B3C"/>
                </a:solidFill>
                <a:latin typeface="Times New Roman"/>
              </a:defRPr>
            </a:pPr>
            <a:r>
              <a:t>Asosiy shtift tanlash (tug-fit tiqilish)</a:t>
            </a:r>
          </a:p>
        </p:txBody>
      </p:sp>
      <p:sp>
        <p:nvSpPr>
          <p:cNvPr id="20" name="Oval 19"/>
          <p:cNvSpPr/>
          <p:nvPr/>
        </p:nvSpPr>
        <p:spPr>
          <a:xfrm>
            <a:off x="3977639" y="2578608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57860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1A2B3C"/>
                </a:solidFill>
                <a:latin typeface="Times New Roman"/>
              </a:defRPr>
            </a:pPr>
            <a:r>
              <a:t>Sealerni kanalga kiritish</a:t>
            </a:r>
          </a:p>
        </p:txBody>
      </p:sp>
      <p:sp>
        <p:nvSpPr>
          <p:cNvPr id="22" name="Oval 21"/>
          <p:cNvSpPr/>
          <p:nvPr/>
        </p:nvSpPr>
        <p:spPr>
          <a:xfrm>
            <a:off x="3977639" y="2944368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94436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1A2B3C"/>
                </a:solidFill>
                <a:latin typeface="Times New Roman"/>
              </a:defRPr>
            </a:pPr>
            <a:r>
              <a:t>Asosiy shtiftni joylashtirish</a:t>
            </a:r>
          </a:p>
        </p:txBody>
      </p:sp>
      <p:sp>
        <p:nvSpPr>
          <p:cNvPr id="24" name="Oval 23"/>
          <p:cNvSpPr/>
          <p:nvPr/>
        </p:nvSpPr>
        <p:spPr>
          <a:xfrm>
            <a:off x="3977639" y="3310128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31012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1A2B3C"/>
                </a:solidFill>
                <a:latin typeface="Times New Roman"/>
              </a:defRPr>
            </a:pPr>
            <a:r>
              <a:t>Yoyuvchi asbob (spreader) bilan zichlash</a:t>
            </a:r>
          </a:p>
        </p:txBody>
      </p:sp>
      <p:sp>
        <p:nvSpPr>
          <p:cNvPr id="26" name="Oval 25"/>
          <p:cNvSpPr/>
          <p:nvPr/>
        </p:nvSpPr>
        <p:spPr>
          <a:xfrm>
            <a:off x="3977639" y="3675887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675887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1A2B3C"/>
                </a:solidFill>
                <a:latin typeface="Times New Roman"/>
              </a:defRPr>
            </a:pPr>
            <a:r>
              <a:t>Qo'shimcha shtiftlarni kiritish</a:t>
            </a:r>
          </a:p>
        </p:txBody>
      </p:sp>
      <p:sp>
        <p:nvSpPr>
          <p:cNvPr id="28" name="Oval 27"/>
          <p:cNvSpPr/>
          <p:nvPr/>
        </p:nvSpPr>
        <p:spPr>
          <a:xfrm>
            <a:off x="3977639" y="4041648"/>
            <a:ext cx="310896" cy="31089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04164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1A2B3C"/>
                </a:solidFill>
                <a:latin typeface="Times New Roman"/>
              </a:defRPr>
            </a:pPr>
            <a:r>
              <a:t>Kesish + vertikal zichlash + rentgen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5262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6D80"/>
                </a:solidFill>
                <a:latin typeface="Times New Roman"/>
              </a:defRPr>
            </a:pPr>
            <a:r>
              <a:t>+ Arzon, ishonchli, qayta davolash oson  •  − Ko'p vaqt talab qiladi, devor yorilishi xavfi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2020" y="1638300"/>
            <a:ext cx="3200400" cy="36576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03920" y="1600200"/>
            <a:ext cx="3200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g_08_lat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2364555"/>
            <a:ext cx="2980944" cy="162596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13648" y="4709160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5A6D80"/>
                </a:solidFill>
                <a:latin typeface="Times New Roman"/>
              </a:defRPr>
            </a:pPr>
            <a:r>
              <a:t>Lateral kondensatsiya: yoyuvchi asbob bilan zichlash (sxematik tasvir)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1020" y="5433060"/>
            <a:ext cx="11201400" cy="73152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5394960"/>
            <a:ext cx="11201400" cy="73152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" y="5504688"/>
            <a:ext cx="76200" cy="512064"/>
          </a:xfrm>
          <a:prstGeom prst="rect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468112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D27A"/>
                </a:solidFill>
                <a:latin typeface="Times New Roman"/>
              </a:rPr>
              <a:t>◆ ILMIY ASOS  </a:t>
            </a:r>
            <a:r>
              <a:rPr sz="1050">
                <a:solidFill>
                  <a:srgbClr val="FFFFFF"/>
                </a:solidFill>
                <a:latin typeface="Times New Roman"/>
              </a:rPr>
              <a:t>Schilder H., 1967 / 1974: uch o'lchamli (3D) obturatsiya konsepsiyasi — to'liq tozalash, to'g'ri shakllantirish va zich to'ldirish.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16  •  ISSIQ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Issiq usullar: vertikal kondensatsiya va zamonaviy tizimlar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18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0972525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2743200" cy="36576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2743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1755648"/>
            <a:ext cx="2523744" cy="50292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792224"/>
            <a:ext cx="25237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Times New Roman"/>
              </a:defRPr>
            </a:pPr>
            <a:r>
              <a:t>A. Vertikal (Schilder)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1A2B3C"/>
                </a:solidFill>
                <a:latin typeface="Times New Roman"/>
              </a:defRPr>
            </a:pPr>
            <a:r>
              <a:t>Issiq zichlovchi asboblar (plugger) bilan apeksdan tojga tomon qatlamma-qatlam zichlash. Uch o'lchamli to'lish, yon kanallar yopiladi.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5660" y="1638300"/>
            <a:ext cx="2743200" cy="36576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600200"/>
            <a:ext cx="2743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47288" y="1755648"/>
            <a:ext cx="2523744" cy="502920"/>
          </a:xfrm>
          <a:prstGeom prst="roundRect">
            <a:avLst/>
          </a:prstGeom>
          <a:solidFill>
            <a:srgbClr val="E0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8" y="1792224"/>
            <a:ext cx="25237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Times New Roman"/>
              </a:defRPr>
            </a:pPr>
            <a:r>
              <a:t>B. Uzluksiz to'lqin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2316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1A2B3C"/>
                </a:solidFill>
                <a:latin typeface="Times New Roman"/>
              </a:defRPr>
            </a:pPr>
            <a:r>
              <a:t>System B + Obtura: apikal zichlash — downpack (apikal 4–5 mm) + in'ektsion to'ldirish — backfill. Tez, germetik.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300" y="1638300"/>
            <a:ext cx="2743200" cy="36576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2743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81928" y="1755648"/>
            <a:ext cx="2523744" cy="502920"/>
          </a:xfrm>
          <a:prstGeom prst="round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1792224"/>
            <a:ext cx="25237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Times New Roman"/>
              </a:defRPr>
            </a:pPr>
            <a:r>
              <a:t>C. Thermafil / GuttaCore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2316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1A2B3C"/>
                </a:solidFill>
                <a:latin typeface="Times New Roman"/>
              </a:defRPr>
            </a:pPr>
            <a:r>
              <a:t>Oldindan gutta-percha qoplangan o'zak qizdirilib kiritiladi. Qiyshiq kanallarda a'lo natija. O'zakni chiqarish qiyin.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6380" y="1638300"/>
            <a:ext cx="2606040" cy="365760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98280" y="1600200"/>
            <a:ext cx="2606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g_09_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008" y="2526653"/>
            <a:ext cx="2386584" cy="13017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08008" y="4709160"/>
            <a:ext cx="2386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5A6D80"/>
                </a:solidFill>
                <a:latin typeface="Times New Roman"/>
              </a:defRPr>
            </a:pPr>
            <a:r>
              <a:t>Issiq vertikal kondensatsiya (sxematik tasvir)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1020" y="5433060"/>
            <a:ext cx="11201400" cy="73152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394960"/>
            <a:ext cx="11201400" cy="73152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" y="5504688"/>
            <a:ext cx="76200" cy="512064"/>
          </a:xfrm>
          <a:prstGeom prst="rect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68112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D27A"/>
                </a:solidFill>
                <a:latin typeface="Times New Roman"/>
              </a:rPr>
              <a:t>◆ LABORATOR DALIL  </a:t>
            </a:r>
            <a:r>
              <a:rPr sz="1050">
                <a:solidFill>
                  <a:srgbClr val="FFFFFF"/>
                </a:solidFill>
                <a:latin typeface="Times New Roman"/>
              </a:rPr>
              <a:t>Mikrokompyuter tomografiya (mikro-KT) tadqiqotlarida issiq usullarda oval va qiyshiq kanallarning to'lish zichligi yuqoriroq ekani qayd etilgan.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17  •  ZAMONAVIY PROTOKOL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Zamonaviy yondashuvlar: mikroskopdan raqamli nazoratgacha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19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1582110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1020" y="1638300"/>
            <a:ext cx="3291840" cy="141732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B2C4A"/>
                </a:solidFill>
                <a:latin typeface="Times New Roman"/>
              </a:defRPr>
            </a:pPr>
            <a:r>
              <a:t>Operatsion mikroskop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5000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10–25× kattalashtirish: MB2 kanal, yoriqlar, qoldiqlar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0020" y="1638300"/>
            <a:ext cx="3291840" cy="141732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160020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800" y="1783080"/>
            <a:ext cx="457200" cy="457200"/>
          </a:xfrm>
          <a:prstGeom prst="ellipse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B2C4A"/>
                </a:solidFill>
                <a:latin typeface="Times New Roman"/>
              </a:defRPr>
            </a:pPr>
            <a:r>
              <a:t>Elektr obturatsiya tizimlari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35000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Calamus Dual, BeeFill, Elements IC — harorat nazorati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1020" y="1638300"/>
            <a:ext cx="3291840" cy="141732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160020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B2C4A"/>
                </a:solidFill>
                <a:latin typeface="Times New Roman"/>
              </a:defRPr>
            </a:pPr>
            <a:r>
              <a:t>Biokeramik protokol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35000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Yakka shtift + biokeramik sealer — yetakchi yo'nalish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0020" y="3192780"/>
            <a:ext cx="3291840" cy="141732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31920" y="315468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14800" y="3337560"/>
            <a:ext cx="457200" cy="457200"/>
          </a:xfrm>
          <a:prstGeom prst="ellipse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3291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B2C4A"/>
                </a:solidFill>
                <a:latin typeface="Times New Roman"/>
              </a:defRPr>
            </a:pPr>
            <a:r>
              <a:t>MTA apikal tiqin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9044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Ochiq apeks, perforatsiya, rezorbsiyada 3–5 mm to'siq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1020" y="3192780"/>
            <a:ext cx="3291840" cy="141732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315468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3291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B2C4A"/>
                </a:solidFill>
                <a:latin typeface="Times New Roman"/>
              </a:defRPr>
            </a:pPr>
            <a:r>
              <a:t>Raqamli nazorat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9044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Apeks-lokator + rentgen + konus-nurli KT (CBCT)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70020" y="3192780"/>
            <a:ext cx="3291840" cy="141732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931920" y="315468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14800" y="3337560"/>
            <a:ext cx="457200" cy="457200"/>
          </a:xfrm>
          <a:prstGeom prst="ellipse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3291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B2C4A"/>
                </a:solidFill>
                <a:latin typeface="Times New Roman"/>
              </a:defRPr>
            </a:pPr>
            <a:r>
              <a:t>Aseptika va antiseptika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9044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5A6D80"/>
                </a:solidFill>
                <a:latin typeface="Times New Roman"/>
              </a:defRPr>
            </a:pPr>
            <a:r>
              <a:t>Koferdam majburiy! NaOCl + EDTA + ultratovushli faollashtirish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36179" y="1638300"/>
            <a:ext cx="4206240" cy="452628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79" y="1600200"/>
            <a:ext cx="4206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g_10_microsco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7" y="2524575"/>
            <a:ext cx="3986784" cy="21746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607807" y="5577840"/>
            <a:ext cx="3986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5A6D80"/>
                </a:solidFill>
                <a:latin typeface="Times New Roman"/>
              </a:defRPr>
            </a:pPr>
            <a:r>
              <a:t>Operatsion mikroskop ostida ildiz kanalini davolash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35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56032"/>
            <a:ext cx="566928" cy="566928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BFA6"/>
                </a:solidFill>
                <a:latin typeface="Times New Roman"/>
              </a:defRPr>
            </a:pPr>
            <a:r>
              <a:t>18  •  QIYOSIY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0233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Times New Roman"/>
              </a:defRPr>
            </a:pPr>
            <a:r>
              <a:t>Usullar qiyosiy tahlili va klinik tanlash algoritmi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D80"/>
                </a:solidFill>
                <a:latin typeface="Times New Roman"/>
              </a:defRPr>
            </a:pPr>
            <a:r>
              <a:t>Ildiz kanalini plombalash  •  Malhamlar, materiallar va usullar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5A6D80"/>
                </a:solidFill>
                <a:latin typeface="Times New Roman"/>
              </a:defRPr>
            </a:pPr>
            <a:r>
              <a:t>20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63040"/>
          <a:ext cx="113842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645920"/>
                <a:gridCol w="1463040"/>
                <a:gridCol w="2103120"/>
                <a:gridCol w="3154680"/>
              </a:tblGrid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Usul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Germetiklik darajasi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Murakkablik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Kerakli jihoz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Asosiy ko'rsatma</a:t>
                      </a:r>
                    </a:p>
                  </a:txBody>
                  <a:tcPr anchor="ctr" marL="73152" marR="73152" marT="27432" marB="27432">
                    <a:solidFill>
                      <a:srgbClr val="0B2C4A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Yakka shtift (ZOE / smola)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O'rtacha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Oson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Asosiy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Tor yumaloq kanal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Yakka shtift (biokeramik)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Yuqori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Oson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Asosiy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Keng / oval kanal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Lateral kondensatsiya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Yuqori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O'rtacha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Yoyuvchi asbob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Universal — oltin standart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Vertikal / uzluksiz to'lqin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Eng yuqori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Murakkab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System B, Obtura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Oval, qiyshiq, yon kanallar</a:t>
                      </a:r>
                    </a:p>
                  </a:txBody>
                  <a:tcPr anchor="ctr" marL="73152" marR="73152" marT="27432" marB="27432">
                    <a:solidFill>
                      <a:srgbClr val="E9F1F9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Thermafil / GuttaCore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Yuqori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O'rtacha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Maxsus qizdirgich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A2B3C"/>
                          </a:solidFill>
                          <a:latin typeface="Times New Roman"/>
                        </a:rPr>
                        <a:t>Keskin qiyshiq tor kanallar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49580" y="4472940"/>
            <a:ext cx="11384280" cy="960120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4434840"/>
            <a:ext cx="11384280" cy="960120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98848"/>
            <a:ext cx="10927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BFA6"/>
                </a:solidFill>
                <a:latin typeface="Times New Roman"/>
              </a:defRPr>
            </a:pPr>
            <a:r>
              <a:t>◆  KLINIK TANLASH ALGORITMI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28032"/>
            <a:ext cx="10927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Times New Roman"/>
              </a:defRPr>
            </a:pPr>
            <a:r>
              <a:t>Tor yumaloq kanal → lateral kondensatsiya  •  Oval / keng kanal → issiq vertikal yoki uzluksiz to'lqin  •  Keskin qiyshiq kanal → Thermafil  •  Ochiq apeks → MTA tiqin  •  Qayta davolash → oson chiqariladigan sealer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580" y="5542788"/>
            <a:ext cx="11384280" cy="713232"/>
          </a:xfrm>
          <a:prstGeom prst="roundRect">
            <a:avLst/>
          </a:prstGeom>
          <a:solidFill>
            <a:srgbClr val="DE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5504688"/>
            <a:ext cx="11384280" cy="713232"/>
          </a:xfrm>
          <a:prstGeom prst="roundRect">
            <a:avLst/>
          </a:prstGeom>
          <a:solidFill>
            <a:srgbClr val="0B2C4A"/>
          </a:solidFill>
          <a:ln w="1270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" y="5614416"/>
            <a:ext cx="76200" cy="493776"/>
          </a:xfrm>
          <a:prstGeom prst="rect">
            <a:avLst/>
          </a:prstGeom>
          <a:solidFill>
            <a:srgbClr val="C98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77840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D27A"/>
                </a:solidFill>
                <a:latin typeface="Times New Roman"/>
              </a:rPr>
              <a:t>◆ ILMIY DALIL  </a:t>
            </a:r>
            <a:r>
              <a:rPr sz="1050">
                <a:solidFill>
                  <a:srgbClr val="FFFFFF"/>
                </a:solidFill>
                <a:latin typeface="Times New Roman"/>
              </a:rPr>
              <a:t>Ng va b., 2007–2008 (sistematik sharh): plomba chegarasi cho'qqidan 0–2 mm da + bo'shliqsiz zichlash + sifatli koronal restavratsiya = eng yuqori samaradorlik.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