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C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452360" y="822960"/>
            <a:ext cx="3657600" cy="5212080"/>
          </a:xfrm>
          <a:prstGeom prst="roundRect">
            <a:avLst/>
          </a:prstGeom>
          <a:solidFill>
            <a:srgbClr val="103D66"/>
          </a:solidFill>
          <a:ln w="25400">
            <a:solidFill>
              <a:srgbClr val="00B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g_01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068185"/>
            <a:ext cx="3291840" cy="17955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35240" y="29443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9EB8D0"/>
                </a:solidFill>
                <a:latin typeface="Calibri"/>
              </a:defRPr>
            </a:pPr>
            <a:r>
              <a:t>Ildiz kanali tizimi (sxematik tasvir)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3291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ENDODONTIYA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37033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C9E4DD"/>
                </a:solidFill>
                <a:latin typeface="Calibri"/>
              </a:defRPr>
            </a:pPr>
            <a:r>
              <a:t>3D obturatsiya</a:t>
            </a:r>
            <a:br/>
            <a:r>
              <a:t>Germetiklik • Bioaktivlik • ISO standartlar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4800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FFD27A"/>
                </a:solidFill>
                <a:latin typeface="Calibri"/>
              </a:defRPr>
            </a:pPr>
            <a:r>
              <a:t>Grossman • Schilder • Sjögren • 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BFA6"/>
                </a:solidFill>
                <a:latin typeface="Calibri"/>
              </a:defRPr>
            </a:pPr>
            <a:r>
              <a:t>TERAPEVTIK STOMATOLOGIYA  •  ENDODONTIYA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143000"/>
            <a:ext cx="6949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 Light"/>
              </a:defRPr>
            </a:pPr>
            <a:r>
              <a:t>Ildiz kanalini plombalashda qo'llaniladigan qotmaydigan va qotadigan malhamlar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11880"/>
            <a:ext cx="1280160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88620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C9E4DD"/>
                </a:solidFill>
                <a:latin typeface="Calibri"/>
              </a:defRPr>
            </a:pPr>
            <a:r>
              <a:t>Materiallar  •  Sealerlar  •  Obturatsiya usullari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1600200" cy="502920"/>
          </a:xfrm>
          <a:prstGeom prst="roundRect">
            <a:avLst/>
          </a:prstGeom>
          <a:solidFill>
            <a:srgbClr val="103D66"/>
          </a:solidFill>
          <a:ln w="15875">
            <a:solidFill>
              <a:srgbClr val="00B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20 slayd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4846320"/>
            <a:ext cx="1600200" cy="502920"/>
          </a:xfrm>
          <a:prstGeom prst="roundRect">
            <a:avLst/>
          </a:prstGeom>
          <a:solidFill>
            <a:srgbClr val="103D66"/>
          </a:solidFill>
          <a:ln w="15875">
            <a:solidFill>
              <a:srgbClr val="00B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Ilmiy taqdimot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4846320"/>
            <a:ext cx="1600200" cy="502920"/>
          </a:xfrm>
          <a:prstGeom prst="roundRect">
            <a:avLst/>
          </a:prstGeom>
          <a:solidFill>
            <a:srgbClr val="103D66"/>
          </a:solidFill>
          <a:ln w="15875">
            <a:solidFill>
              <a:srgbClr val="00B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1500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6D80"/>
                </a:solidFill>
                <a:latin typeface="Calibri"/>
              </a:defRPr>
            </a:pPr>
            <a:r>
              <a:t>Qotmaydigan pastalar  →  Qotadigan sealerlar  →  Gutta-percha  →  Sovuq va issiq usullar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7220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E93A8"/>
                </a:solidFill>
                <a:latin typeface="Calibri"/>
              </a:defRPr>
            </a:pPr>
            <a:r>
              <a:t>ISO 6876 / 6877 • ESE tavsiyalari • Dalillarga asoslangan endodontiya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TARKIB  •  TAQDIMOT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Taqdimot rejasi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2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219169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0992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009E8A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6916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1A2B3C"/>
                </a:solidFill>
                <a:latin typeface="Calibri"/>
              </a:defRPr>
            </a:pPr>
            <a:r>
              <a:t>Dolzarblik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01168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muammo qo'yilishi va statistika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3180" y="1638300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5080" y="1600200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0992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009E8A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6916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1A2B3C"/>
                </a:solidFill>
                <a:latin typeface="Calibri"/>
              </a:defRPr>
            </a:pPr>
            <a:r>
              <a:t>Kanal anatomiyasi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01168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obturatsiya maqsadlari va triada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1020" y="2625852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587752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697480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009E8A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267919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1A2B3C"/>
                </a:solidFill>
                <a:latin typeface="Calibri"/>
              </a:defRPr>
            </a:pPr>
            <a:r>
              <a:t>Ideal talablar + 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99923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Grossman, ISO 6876 / 6877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93180" y="2625852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55080" y="2587752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697480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009E8A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67919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1A2B3C"/>
                </a:solidFill>
                <a:latin typeface="Calibri"/>
              </a:defRPr>
            </a:pPr>
            <a:r>
              <a:t>Materiallar tasnifi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99923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umumiy sxema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1020" y="3613404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3575304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85032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009E8A"/>
                </a:solidFill>
                <a:latin typeface="Calibri"/>
              </a:defRPr>
            </a:pPr>
            <a:r>
              <a:t>05–06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66674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1A2B3C"/>
                </a:solidFill>
                <a:latin typeface="Calibri"/>
              </a:defRPr>
            </a:pPr>
            <a:r>
              <a:t>Qotmaydigan malhamlar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398678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tushuncha, vakillar, tarkib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93180" y="3613404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55080" y="3575304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685032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009E8A"/>
                </a:solidFill>
                <a:latin typeface="Calibri"/>
              </a:defRPr>
            </a:pPr>
            <a:r>
              <a:t>07–09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66674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1A2B3C"/>
                </a:solidFill>
                <a:latin typeface="Calibri"/>
              </a:defRPr>
            </a:pPr>
            <a:r>
              <a:t>Qotadigan malhamlar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98678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ZOE, rezin, GIC, biokeramika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1020" y="4600956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4562856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672584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009E8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465429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1A2B3C"/>
                </a:solidFill>
                <a:latin typeface="Calibri"/>
              </a:defRPr>
            </a:pPr>
            <a:r>
              <a:t>Qattiq o'zaklar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3040" y="4974336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gutta-percha — oltin standart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93180" y="4600956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55080" y="4562856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4672584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009E8A"/>
                </a:solidFill>
                <a:latin typeface="Calibri"/>
              </a:defRPr>
            </a:pPr>
            <a:r>
              <a:t>11–13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465429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1A2B3C"/>
                </a:solidFill>
                <a:latin typeface="Calibri"/>
              </a:defRPr>
            </a:pPr>
            <a:r>
              <a:t>Plombalash usullari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4974336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sovuq va issiq texnikalar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1020" y="5588508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550408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5660136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009E8A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63040" y="564184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1A2B3C"/>
                </a:solidFill>
                <a:latin typeface="Calibri"/>
              </a:defRPr>
            </a:pPr>
            <a:r>
              <a:t>Zamonaviy yondashuvlar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63040" y="596188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mikroskop, mashinali obturatsiya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93180" y="5588508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355080" y="5550408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40" y="5660136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009E8A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0" y="564184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1A2B3C"/>
                </a:solidFill>
                <a:latin typeface="Calibri"/>
              </a:defRPr>
            </a:pPr>
            <a:r>
              <a:t>Qiyosiy tahlil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0" y="596188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klinik tanlov algoritmi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01  •  MUAMMO QO'YILISHI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Dolzarbligi: nega obturatsiya sifati hal qiluvchi?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3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828754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6492240" cy="3611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649224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37360"/>
            <a:ext cx="5852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Muammo ko'lami: </a:t>
            </a:r>
            <a:r>
              <a:rPr sz="1100">
                <a:solidFill>
                  <a:srgbClr val="1A2B3C"/>
                </a:solidFill>
                <a:latin typeface="Calibri"/>
              </a:rPr>
              <a:t>katta yoshli aholining yarmidan ko'pida kamida bitta endodontik davolangan tish (populyatsion tadqiqotlar).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Apikal periodontit saqlanmoqda: </a:t>
            </a:r>
            <a:r>
              <a:rPr sz="1100">
                <a:solidFill>
                  <a:srgbClr val="1A2B3C"/>
                </a:solidFill>
                <a:latin typeface="Calibri"/>
              </a:rPr>
              <a:t>davolangan tishlarning ~30–40% ida periapikal o'zgarishlar radiologik aniqlanadi.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Omadsizlikning ~60% sababi — </a:t>
            </a:r>
            <a:r>
              <a:rPr sz="1100">
                <a:solidFill>
                  <a:srgbClr val="1A2B3C"/>
                </a:solidFill>
                <a:latin typeface="Calibri"/>
              </a:rPr>
              <a:t>germetik bo'lmagan obturatsiya: mikrosızıntı → reinfeksiya (Ingle's Endodontics).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Kanal mikrobiotasi chidamli: </a:t>
            </a:r>
            <a:r>
              <a:rPr sz="1100">
                <a:solidFill>
                  <a:srgbClr val="1A2B3C"/>
                </a:solidFill>
                <a:latin typeface="Calibri"/>
              </a:rPr>
              <a:t>E. faecalis dentin naychalariga chuqur kiradi va davolashdan omon qoladi (Molander et al., 1998).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Sifatli davolash muvaffaqiyati — </a:t>
            </a:r>
            <a:r>
              <a:rPr sz="1100">
                <a:solidFill>
                  <a:srgbClr val="1A2B3C"/>
                </a:solidFill>
                <a:latin typeface="Calibri"/>
              </a:rPr>
              <a:t>90–95%: zich apikal to'siq + koronal germetiklik uzoq muddatli natijani belgilaydi.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1860" y="1638300"/>
            <a:ext cx="4480560" cy="22860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0" y="1600200"/>
            <a:ext cx="44805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g_02_lesion_xr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718" y="1709928"/>
            <a:ext cx="2866644" cy="1563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33488" y="3337560"/>
            <a:ext cx="4261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5A6D80"/>
                </a:solidFill>
                <a:latin typeface="Calibri"/>
              </a:defRPr>
            </a:pPr>
            <a:r>
              <a:t>Rentgen: ildiz uchida periapikal o'choq (sxematik)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1860" y="4107180"/>
            <a:ext cx="2167128" cy="11430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23760" y="4069080"/>
            <a:ext cx="2167128" cy="114300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4133087"/>
            <a:ext cx="19842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BFA6"/>
                </a:solidFill>
                <a:latin typeface="Calibri"/>
              </a:defRPr>
            </a:pPr>
            <a:r>
              <a:t>90–95%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617720"/>
            <a:ext cx="19842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FFFFFF"/>
                </a:solidFill>
                <a:latin typeface="Calibri"/>
              </a:defRPr>
            </a:pPr>
            <a:r>
              <a:t>sifatli davolash</a:t>
            </a:r>
            <a:br/>
            <a:r>
              <a:t>muvaffaqiyati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75292" y="4107180"/>
            <a:ext cx="2167128" cy="11430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37192" y="4069080"/>
            <a:ext cx="2167128" cy="114300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28632" y="4133087"/>
            <a:ext cx="19842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BFA6"/>
                </a:solidFill>
                <a:latin typeface="Calibri"/>
              </a:defRPr>
            </a:pPr>
            <a:r>
              <a:t>~60%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8632" y="4617720"/>
            <a:ext cx="19842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FFFFFF"/>
                </a:solidFill>
                <a:latin typeface="Calibri"/>
              </a:defRPr>
            </a:pPr>
            <a:r>
              <a:t>omadsizlik sababi —</a:t>
            </a:r>
            <a:br/>
            <a:r>
              <a:t>germetiksizlik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1020" y="5295900"/>
            <a:ext cx="11201400" cy="9144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5257800"/>
            <a:ext cx="11201400" cy="91440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" y="5367528"/>
            <a:ext cx="76200" cy="694944"/>
          </a:xfrm>
          <a:prstGeom prst="rect">
            <a:avLst/>
          </a:prstGeom>
          <a:solidFill>
            <a:srgbClr val="C98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330952"/>
            <a:ext cx="1069848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FD27A"/>
                </a:solidFill>
                <a:latin typeface="Calibri"/>
              </a:rPr>
              <a:t>◆ ILMIY DALIL  </a:t>
            </a:r>
            <a:r>
              <a:rPr sz="1050">
                <a:solidFill>
                  <a:srgbClr val="FFFFFF"/>
                </a:solidFill>
                <a:latin typeface="Calibri"/>
              </a:rPr>
              <a:t>Sjögren et al., 1990: obturatsiya paytida kanal ekmasida mikrob topilmasa muvaffaqiyat 94%, topilsa 68%.  •  Kakehashi et al., 1965: mikrobsiz muhitda ochiq pulpa nekrozga uchramaydi — infeksiya birlamchi sabab.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02  •  NAZARIY 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Kanal tizimi anatomiyasi va obturatsiya maqsadlari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4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2438339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429768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42976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0B2C4A"/>
                </a:solidFill>
                <a:latin typeface="Calibri"/>
              </a:defRPr>
            </a:pPr>
            <a:r>
              <a:t>Murakkab 3D labirint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3749039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●  </a:t>
            </a:r>
            <a:r>
              <a:rPr sz="1050" b="1">
                <a:solidFill>
                  <a:srgbClr val="1A2B3C"/>
                </a:solidFill>
                <a:latin typeface="Calibri"/>
              </a:rPr>
              <a:t>Lateral kanallar </a:t>
            </a:r>
            <a:r>
              <a:rPr sz="1050">
                <a:solidFill>
                  <a:srgbClr val="1A2B3C"/>
                </a:solidFill>
                <a:latin typeface="Calibri"/>
              </a:rPr>
              <a:t>— 30–40% ildizlarda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●  </a:t>
            </a:r>
            <a:r>
              <a:rPr sz="1050" b="1">
                <a:solidFill>
                  <a:srgbClr val="1A2B3C"/>
                </a:solidFill>
                <a:latin typeface="Calibri"/>
              </a:rPr>
              <a:t>Isthmus, anastomoz, </a:t>
            </a:r>
            <a:r>
              <a:rPr sz="1050">
                <a:solidFill>
                  <a:srgbClr val="1A2B3C"/>
                </a:solidFill>
                <a:latin typeface="Calibri"/>
              </a:rPr>
              <a:t>apikal delta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●  </a:t>
            </a:r>
            <a:r>
              <a:rPr sz="1050" b="1">
                <a:solidFill>
                  <a:srgbClr val="1A2B3C"/>
                </a:solidFill>
                <a:latin typeface="Calibri"/>
              </a:rPr>
              <a:t>Oval / C-shakl kesim </a:t>
            </a:r>
            <a:r>
              <a:rPr sz="1050">
                <a:solidFill>
                  <a:srgbClr val="1A2B3C"/>
                </a:solidFill>
                <a:latin typeface="Calibri"/>
              </a:rPr>
              <a:t>— shtift bilan to'lmaydi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●  </a:t>
            </a:r>
            <a:r>
              <a:rPr sz="1050" b="1">
                <a:solidFill>
                  <a:srgbClr val="1A2B3C"/>
                </a:solidFill>
                <a:latin typeface="Calibri"/>
              </a:rPr>
              <a:t>MB2 kanal </a:t>
            </a:r>
            <a:r>
              <a:rPr sz="1050">
                <a:solidFill>
                  <a:srgbClr val="1A2B3C"/>
                </a:solidFill>
                <a:latin typeface="Calibri"/>
              </a:rPr>
              <a:t>— yuqori 1-molyarda 60–90%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●  </a:t>
            </a:r>
            <a:r>
              <a:rPr sz="1050" b="1">
                <a:solidFill>
                  <a:srgbClr val="1A2B3C"/>
                </a:solidFill>
                <a:latin typeface="Calibri"/>
              </a:rPr>
              <a:t>Dentin naychalari </a:t>
            </a:r>
            <a:r>
              <a:rPr sz="1050">
                <a:solidFill>
                  <a:srgbClr val="1A2B3C"/>
                </a:solidFill>
                <a:latin typeface="Calibri"/>
              </a:rPr>
              <a:t>— 1 mm² da 20–40 ming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1580" y="1638300"/>
            <a:ext cx="306324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83480" y="1600200"/>
            <a:ext cx="3063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_03_anatom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208" y="2836303"/>
            <a:ext cx="2843784" cy="155115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93208" y="5577840"/>
            <a:ext cx="28437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5A6D80"/>
                </a:solidFill>
                <a:latin typeface="Calibri"/>
              </a:defRPr>
            </a:pPr>
            <a:r>
              <a:t>Lateral kanallar, isthmus va apikal delta (sxematik)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7700" y="1638300"/>
            <a:ext cx="347472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1600200"/>
            <a:ext cx="3474720" cy="452628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17373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BFA6"/>
                </a:solidFill>
                <a:latin typeface="Calibri"/>
              </a:defRPr>
            </a:pPr>
            <a:r>
              <a:t>Obturatsiya maqsadlari</a:t>
            </a:r>
          </a:p>
        </p:txBody>
      </p:sp>
      <p:sp>
        <p:nvSpPr>
          <p:cNvPr id="21" name="Oval 20"/>
          <p:cNvSpPr/>
          <p:nvPr/>
        </p:nvSpPr>
        <p:spPr>
          <a:xfrm>
            <a:off x="8458200" y="2286000"/>
            <a:ext cx="384048" cy="38404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2832" y="2267712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Mikroorganizmlar yo'lini to'liq berkitish</a:t>
            </a:r>
          </a:p>
        </p:txBody>
      </p:sp>
      <p:sp>
        <p:nvSpPr>
          <p:cNvPr id="23" name="Oval 22"/>
          <p:cNvSpPr/>
          <p:nvPr/>
        </p:nvSpPr>
        <p:spPr>
          <a:xfrm>
            <a:off x="8458200" y="3063240"/>
            <a:ext cx="384048" cy="38404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2832" y="3044952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To'qima suyuqligi oqimini to'xtatish</a:t>
            </a:r>
          </a:p>
        </p:txBody>
      </p:sp>
      <p:sp>
        <p:nvSpPr>
          <p:cNvPr id="25" name="Oval 24"/>
          <p:cNvSpPr/>
          <p:nvPr/>
        </p:nvSpPr>
        <p:spPr>
          <a:xfrm>
            <a:off x="8458200" y="3840480"/>
            <a:ext cx="384048" cy="38404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3822192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Reinfeksiya va mikrosızıntını oldini olish</a:t>
            </a:r>
          </a:p>
        </p:txBody>
      </p:sp>
      <p:sp>
        <p:nvSpPr>
          <p:cNvPr id="27" name="Oval 26"/>
          <p:cNvSpPr/>
          <p:nvPr/>
        </p:nvSpPr>
        <p:spPr>
          <a:xfrm>
            <a:off x="8458200" y="4617720"/>
            <a:ext cx="384048" cy="38404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4599432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Mustahkam apikal to'siq yaratish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54864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00BFA6"/>
                </a:solidFill>
                <a:latin typeface="Calibri"/>
              </a:defRPr>
            </a:pPr>
            <a:r>
              <a:t>Triada: tayyorlash → dezinfeksiya → obturatsiya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03  •  IDEAL MATERIAL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Ideal kanal to'ldiruvchi material: Grossman talablari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5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3047923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600200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99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B2C4A"/>
                </a:solidFill>
                <a:latin typeface="Calibri"/>
              </a:defRPr>
            </a:pPr>
            <a:r>
              <a:t>◈  Oson kiritiladi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kanalga kiritish va zichlash qulay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0059" y="1638300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1959" y="160020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59" y="1600200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17099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B2C4A"/>
                </a:solidFill>
                <a:latin typeface="Calibri"/>
              </a:defRPr>
            </a:pPr>
            <a:r>
              <a:t>◈  Ajoyib germetiklik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103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lateral + apikal mikrosızıntı yo'q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9100" y="1638300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01000" y="160020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1600200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7099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B2C4A"/>
                </a:solidFill>
                <a:latin typeface="Calibri"/>
              </a:defRPr>
            </a:pPr>
            <a:r>
              <a:t>◈  O'lcham barqaror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103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qisqarmaydi, kengaymaydi, erimaydi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1020" y="3119628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081528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081528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1912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B2C4A"/>
                </a:solidFill>
                <a:latin typeface="Calibri"/>
              </a:defRPr>
            </a:pPr>
            <a:r>
              <a:t>◈  Rentgenkontrastli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584448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rentgenda aniq ko'rinadi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0059" y="3119628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251959" y="3081528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51959" y="3081528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59" y="31912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B2C4A"/>
                </a:solidFill>
                <a:latin typeface="Calibri"/>
              </a:defRPr>
            </a:pPr>
            <a:r>
              <a:t>◈  Bakteriostatik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59" y="3584448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steril, antiseptik xususiyatli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39100" y="3119628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01000" y="3081528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1000" y="3081528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31912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B2C4A"/>
                </a:solidFill>
                <a:latin typeface="Calibri"/>
              </a:defRPr>
            </a:pPr>
            <a:r>
              <a:t>◈  Biomoslashuvchan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584448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qotgach toksik emas, tirnashsiz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1020" y="4600956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4562856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562856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467258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B2C4A"/>
                </a:solidFill>
                <a:latin typeface="Calibri"/>
              </a:defRPr>
            </a:pPr>
            <a:r>
              <a:t>◈  Bo'yoq bermaydi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065776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toj estetikasi buzilmaydi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90059" y="4600956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251959" y="4562856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51959" y="4562856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80559" y="467258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B2C4A"/>
                </a:solidFill>
                <a:latin typeface="Calibri"/>
              </a:defRPr>
            </a:pPr>
            <a:r>
              <a:t>◈  Qayta olinadi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59" y="5065776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retreatmentda oson chiqariladi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39100" y="4600956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001000" y="4562856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01000" y="4562856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467258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B2C4A"/>
                </a:solidFill>
                <a:latin typeface="Calibri"/>
              </a:defRPr>
            </a:pPr>
            <a:r>
              <a:t>◈  Namda ishlaydi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5065776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5A6D80"/>
                </a:solidFill>
                <a:latin typeface="Calibri"/>
              </a:defRPr>
            </a:pPr>
            <a:r>
              <a:t>nam kanal muhitiga chidamli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3504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5A6D80"/>
                </a:solidFill>
                <a:latin typeface="Calibri"/>
              </a:defRPr>
            </a:pPr>
            <a:r>
              <a:t>Grossman L.I., Endodontic Practice — 11 talabning qisqartirilgan talqini: ideal material hali yaratilmagan, tanlov klinik vaziyatga ko'ra!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04  •  XALQARO STANDARTLAR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ISO 6876 va ISO 6877: sealer va shtiftlarga rasmiy talablar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6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3657508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08760"/>
          <a:ext cx="731520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286000"/>
                <a:gridCol w="256032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Ko'rsatkich (ISO 6876)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Minimal talab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Klinik ma'nosi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Oqimtarlik (flow)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≥ 17 mm (disk diametri)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Lateral kanallarga kirib borish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Plyonka qalinligi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≤ 50 mkm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Yupqa qatlam = kam qisqarish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Erish / buzilish (suvda)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≤ 3% (massa ulushi)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Uzoq muddatli germetiklik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Rentgenkontrastlilik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≥ 3 mm Al ekvivalenti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Rentgenda aniq ko'rinish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O'lcham o'zgarishi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Kengayish ≤ 0,1%; qisqarish ≤ 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Mikrosızıntı oldini olish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Qotish vaqti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Ishlab chiqaruvchi deklaratsiyasiga mos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Ish protokolini rejalash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993379" y="1546860"/>
            <a:ext cx="3794760" cy="461772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794760" cy="461772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164592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 i="0">
                <a:solidFill>
                  <a:srgbClr val="00BFA6"/>
                </a:solidFill>
                <a:latin typeface="Calibri"/>
              </a:defRPr>
            </a:pPr>
            <a:r>
              <a:t>ISO 6877 — obturatsiya shtiftlari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246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●  </a:t>
            </a:r>
            <a:r>
              <a:rPr sz="1050" b="1">
                <a:solidFill>
                  <a:srgbClr val="FFFFFF"/>
                </a:solidFill>
                <a:latin typeface="Calibri"/>
              </a:rPr>
              <a:t>O'lchamlar: </a:t>
            </a:r>
            <a:r>
              <a:rPr sz="1050">
                <a:solidFill>
                  <a:srgbClr val="FFFFFF"/>
                </a:solidFill>
                <a:latin typeface="Calibri"/>
              </a:rPr>
              <a:t>uch diametri 15–80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●  </a:t>
            </a:r>
            <a:r>
              <a:rPr sz="1050" b="1">
                <a:solidFill>
                  <a:srgbClr val="FFFFFF"/>
                </a:solidFill>
                <a:latin typeface="Calibri"/>
              </a:rPr>
              <a:t>Konussimonlik: </a:t>
            </a:r>
            <a:r>
              <a:rPr sz="1050">
                <a:solidFill>
                  <a:srgbClr val="FFFFFF"/>
                </a:solidFill>
                <a:latin typeface="Calibri"/>
              </a:rPr>
              <a:t>02 / 04 / 06 taper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●  </a:t>
            </a:r>
            <a:r>
              <a:rPr sz="1050" b="1">
                <a:solidFill>
                  <a:srgbClr val="FFFFFF"/>
                </a:solidFill>
                <a:latin typeface="Calibri"/>
              </a:rPr>
              <a:t>Master-shtift </a:t>
            </a:r>
            <a:r>
              <a:rPr sz="1050">
                <a:solidFill>
                  <a:srgbClr val="FFFFFF"/>
                </a:solidFill>
                <a:latin typeface="Calibri"/>
              </a:rPr>
              <a:t>mosligi talablari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3794760"/>
            <a:ext cx="3337560" cy="25400"/>
          </a:xfrm>
          <a:prstGeom prst="rect">
            <a:avLst/>
          </a:prstGeom>
          <a:solidFill>
            <a:srgbClr val="C98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393192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 i="0">
                <a:solidFill>
                  <a:srgbClr val="FFD27A"/>
                </a:solidFill>
                <a:latin typeface="Calibri"/>
              </a:defRPr>
            </a:pPr>
            <a:r>
              <a:t>Nima uchun muhim?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4297680"/>
            <a:ext cx="3337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FFFFFF"/>
                </a:solidFill>
                <a:latin typeface="Calibri"/>
              </a:defRPr>
            </a:pPr>
            <a:r>
              <a:t>Sealer va shtift xarid qilishda ISO 6876 / 6877 muvofiqligi — sifat kafolati. AH Plus va biokeramik sealerlar ISO 6876 talablariga javob beradi.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05  •  TASNIF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Ildiz kanali materiallari tasnifi — umumiy sxema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7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4267093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356616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35661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1783080"/>
            <a:ext cx="3291840" cy="960120"/>
          </a:xfrm>
          <a:prstGeom prst="round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4708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A. QOTMAYDIGAN</a:t>
            </a:r>
            <a:br/>
            <a:r>
              <a:t>(ma'lum muddatli)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88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009E8A"/>
                </a:solidFill>
                <a:latin typeface="Calibri"/>
              </a:defRPr>
            </a:pPr>
            <a:r>
              <a:t>Davolovchi pastalar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0040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Ca(OH)₂ pastalari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Yodoformli pastalar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Antibiotik + kortikosteroid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7–30 kun → almashtiriladi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5780" y="1638300"/>
            <a:ext cx="356616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80" y="1600200"/>
            <a:ext cx="35661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34840" y="1783080"/>
            <a:ext cx="3291840" cy="960120"/>
          </a:xfrm>
          <a:prstGeom prst="round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84708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B. QOTADIGAN</a:t>
            </a:r>
            <a:br/>
            <a:r>
              <a:t>(sealerlar)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788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0B2C4A"/>
                </a:solidFill>
                <a:latin typeface="Calibri"/>
              </a:defRPr>
            </a:pPr>
            <a:r>
              <a:t>Doimiy germetik qatlam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20040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B2C4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Sink-oksid evgenolli (ZOE)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B2C4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Epoksi-rezin (AH Plus)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B2C4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Shisha ionomer / Silikon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B2C4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Biokeramik (yangi avlod)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540" y="1638300"/>
            <a:ext cx="356616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92440" y="1600200"/>
            <a:ext cx="35661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0" y="1783080"/>
            <a:ext cx="3291840" cy="96012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184708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C. QATTIQ O'ZAK</a:t>
            </a:r>
            <a:br/>
            <a:r>
              <a:t>(core)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788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1E88E5"/>
                </a:solidFill>
                <a:latin typeface="Calibri"/>
              </a:defRPr>
            </a:pPr>
            <a:r>
              <a:t>Hajm to'ldiruvchi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20040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Gutta-percha (asosiy)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Resilon / sintetik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MTA apikal plug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Shtiftlar (tarixiy)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3504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0B2C4A"/>
                </a:solidFill>
                <a:latin typeface="Calibri"/>
              </a:defRPr>
            </a:pPr>
            <a:r>
              <a:t>Klinik formula:  Qotmaydigan (davolash)  →  Qattiq o'zak + Qotadigan sealer (doimiy obturatsiya)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06  •  QOTMAYDIGAN MALHAMLAR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Qotmaydigan malhamlar: tushuncha va qo'llash falsafasi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8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4876678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546860"/>
            <a:ext cx="11201400" cy="9144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508760"/>
            <a:ext cx="11201400" cy="91440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60020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Ta'rif:  kanal ichida qotmaydigan, vaqtinchalik davolovchi maqsadda 7–30 kun turadigan, so'ng albatta almashtiriladigan dori pastasi.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1020" y="2644140"/>
            <a:ext cx="2697480" cy="3154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606040"/>
            <a:ext cx="26974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" y="2743200"/>
            <a:ext cx="2478024" cy="457200"/>
          </a:xfrm>
          <a:prstGeom prst="round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779776"/>
            <a:ext cx="2478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Calibri"/>
              </a:defRPr>
            </a:pPr>
            <a:r>
              <a:t>VAZIFALARI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832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Antiseptik ta'sir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Yallig'lanishni kamaytirish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Ekssudatsiyani to'xtatish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Apeksifikatsiyani stimullash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29939" y="2644140"/>
            <a:ext cx="2697480" cy="3154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91839" y="2606040"/>
            <a:ext cx="26974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01567" y="2743200"/>
            <a:ext cx="2478024" cy="4572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1567" y="2779776"/>
            <a:ext cx="2478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Calibri"/>
              </a:defRPr>
            </a:pPr>
            <a:r>
              <a:t>KO'RSATMALAR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39" y="33832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1E88E5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O'tkir / kronik periodontit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1E88E5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Gangrenoz / xom pulpit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1E88E5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Yiringli ekssudat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1E88E5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Apeksifikatsiya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8859" y="2644140"/>
            <a:ext cx="2697480" cy="3154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80759" y="2606040"/>
            <a:ext cx="26974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0487" y="2743200"/>
            <a:ext cx="2478024" cy="457200"/>
          </a:xfrm>
          <a:prstGeom prst="round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0487" y="2779776"/>
            <a:ext cx="2478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Calibri"/>
              </a:defRPr>
            </a:pPr>
            <a:r>
              <a:t>CHEKLOVLAR  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59" y="33832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FF6F00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Doimiy plomba EMAS!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FF6F00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Eriydi va so'riladi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FF6F00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Germetiklik bermaydi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FF6F00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Vaqtida almashtirish shart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9220" y="2644140"/>
            <a:ext cx="2743200" cy="3154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61120" y="2606040"/>
            <a:ext cx="27432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g_04_lentul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848" y="3243626"/>
            <a:ext cx="2523744" cy="137658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70848" y="521208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5A6D80"/>
                </a:solidFill>
                <a:latin typeface="Calibri"/>
              </a:defRPr>
            </a:pPr>
            <a:r>
              <a:t>Ca(OH)₂ pastasini Lentulo bilan kiritish (sxematik)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897880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5A6D80"/>
                </a:solidFill>
                <a:latin typeface="Calibri"/>
              </a:defRPr>
            </a:pPr>
            <a:r>
              <a:t>Qo'llash:  Lentulo / kanal to'ldirgich bilan kiritiladi → vaqtinchalik plomba ostida → keyingi tashrifda yuvib chiqariladi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07  •  QOTMAYDIGAN MALHAMLAR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Qotmaydigan pastalar: tarkibi va klinik vakillari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9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5486262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54480"/>
          <a:ext cx="113842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651760"/>
                <a:gridCol w="3017520"/>
                <a:gridCol w="3246120"/>
              </a:tblGrid>
              <a:tr h="89611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Guruh / Nomi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Asosiy tarkib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Ta'sir mexanizmi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Klinik qo'llanilishi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Ca(OH)₂ pastalari
Calcipaste, Metapaste,
UltraCal XS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Kalsiy gidroksid +
BaSO₄ (kontrast)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pH ≈ 12,5 — kuchli ishqoriy;
antibakterial, dentin
ko'prigi hosil qiladi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Pulpit, periodontit,
apeksifikatsiya —
eng keng qo'llaniladi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Yodoformli pastalar
Metapex, Vitapex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Ca(OH)₂ + yodoform +
silikon moyi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Uzoq antiseptik ta'sir;
rezorbsiyalanadi,
to'qimani tirnantirmaydi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Infeksiyalangan kanal,
bolalar endodontiyasi,
sut tishlari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Antibiotik +
kortikosteroid
Ledermix, Septomixine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Demeklosiklin +
triamcinolon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Og'riqsizlantiruvchi +
yallig'lanishga qarshi;
mikrobga qarshi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O'tkir og'riq, travma,
ichki rezorbsiya,
qayta davolash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Boshqalar (cheklangan)
CHX-gel, formokrezol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Xlorheksidin /
formalin-krezol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Antiseptik, mumiyalovchi
(tarixiy ahamiyat)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Toksiklik sababli
kam qo'llaniladi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08  •  QOTADIGAN MALHAMLAR (SEALERLAR)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Qotadigan malhamlar (sealerlar): vazifasi va avlodlari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10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6095847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722376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72237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B2C4A"/>
                </a:solidFill>
                <a:latin typeface="Calibri"/>
              </a:defRPr>
            </a:pPr>
            <a:r>
              <a:t>Sealer — germetiklik kafolati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65836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Ta'rif: </a:t>
            </a:r>
            <a:r>
              <a:rPr sz="1100">
                <a:solidFill>
                  <a:srgbClr val="1A2B3C"/>
                </a:solidFill>
                <a:latin typeface="Calibri"/>
              </a:rPr>
              <a:t>gutta-percha (o'zak) bilan kanal devori orasidagi mikrobo'shliqni to'ldirib, qotib germetik qatlam hosil qiladi.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Funksiyalari: </a:t>
            </a:r>
            <a:r>
              <a:rPr sz="1100">
                <a:solidFill>
                  <a:srgbClr val="1A2B3C"/>
                </a:solidFill>
                <a:latin typeface="Calibri"/>
              </a:rPr>
              <a:t>mikrosızıntını yo'qotish, lateral kanallarni to'ldirish, o'zakni dentinga sementlash.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Ideal qatlam — </a:t>
            </a:r>
            <a:r>
              <a:rPr sz="1100">
                <a:solidFill>
                  <a:srgbClr val="1A2B3C"/>
                </a:solidFill>
                <a:latin typeface="Calibri"/>
              </a:rPr>
              <a:t>25–50 mkm: qancha yupqa bo'lsa, qisqarish va erish xavfi shuncha kam.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Standart: </a:t>
            </a:r>
            <a:r>
              <a:rPr sz="1100">
                <a:solidFill>
                  <a:srgbClr val="1A2B3C"/>
                </a:solidFill>
                <a:latin typeface="Calibri"/>
              </a:rPr>
              <a:t>ISO 6876 talablariga (oqim, plyonka, eruvchanlik, kontrast) javob berishi shart.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Tanlov mezonlari: </a:t>
            </a:r>
            <a:r>
              <a:rPr sz="1100">
                <a:solidFill>
                  <a:srgbClr val="1A2B3C"/>
                </a:solidFill>
                <a:latin typeface="Calibri"/>
              </a:rPr>
              <a:t>biokompatibilik, qisqarish, eruvchanlik, kontrast, retreatment imkoniyati.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9100" y="1638300"/>
            <a:ext cx="365760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01000" y="1600200"/>
            <a:ext cx="3657600" cy="452628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BFA6"/>
                </a:solidFill>
                <a:latin typeface="Calibri"/>
              </a:defRPr>
            </a:pPr>
            <a:r>
              <a:t>Sealerlar avlodlari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0" y="2286000"/>
            <a:ext cx="457200" cy="45720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286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ZOE asoslilar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5786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9EB8D0"/>
                </a:solidFill>
                <a:latin typeface="Calibri"/>
              </a:defRPr>
            </a:pPr>
            <a:r>
              <a:t>Endomethasone, Tubli-Seal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0" y="3200400"/>
            <a:ext cx="457200" cy="45720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32004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Ca(OH)₂ + GIC + silikon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34930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9EB8D0"/>
                </a:solidFill>
                <a:latin typeface="Calibri"/>
              </a:defRPr>
            </a:pPr>
            <a:r>
              <a:t>Sealapex, Ketac Endo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0" y="4114800"/>
            <a:ext cx="457200" cy="45720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41148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Epoksi-rezin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44074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9EB8D0"/>
                </a:solidFill>
                <a:latin typeface="Calibri"/>
              </a:defRPr>
            </a:pPr>
            <a:r>
              <a:t>AH Plus — oltin standart</a:t>
            </a:r>
          </a:p>
        </p:txBody>
      </p:sp>
      <p:sp>
        <p:nvSpPr>
          <p:cNvPr id="26" name="Oval 25"/>
          <p:cNvSpPr/>
          <p:nvPr/>
        </p:nvSpPr>
        <p:spPr>
          <a:xfrm>
            <a:off x="8229600" y="5029200"/>
            <a:ext cx="457200" cy="45720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50292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Biokeramik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53218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9EB8D0"/>
                </a:solidFill>
                <a:latin typeface="Calibri"/>
              </a:defRPr>
            </a:pPr>
            <a:r>
              <a:t>BioRoot RCS, TotalFill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09  •  QOTADIGAN MALHAMLAR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ZOE va kalsiy gidroksidli sealerlar (I–II avlod)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11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6705432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557784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5577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1783080"/>
            <a:ext cx="5303520" cy="548640"/>
          </a:xfrm>
          <a:prstGeom prst="roundRect">
            <a:avLst/>
          </a:prstGeom>
          <a:solidFill>
            <a:srgbClr val="C98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828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 i="0">
                <a:solidFill>
                  <a:srgbClr val="FFFFFF"/>
                </a:solidFill>
                <a:latin typeface="Calibri"/>
              </a:defRPr>
            </a:pPr>
            <a:r>
              <a:t>Sink-oksid evgenolli (ZOE) sealerlar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23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5A6D80"/>
                </a:solidFill>
                <a:latin typeface="Calibri"/>
              </a:defRPr>
            </a:pPr>
            <a:r>
              <a:t>Endomethasone N  •  Tubli-Seal  •  Pulp Canal Sealer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3464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C98A12"/>
                </a:solidFill>
                <a:latin typeface="Calibri"/>
              </a:rPr>
              <a:t>+  </a:t>
            </a:r>
            <a:r>
              <a:rPr sz="1100" b="1">
                <a:solidFill>
                  <a:srgbClr val="1A2B3C"/>
                </a:solidFill>
                <a:latin typeface="Calibri"/>
              </a:rPr>
              <a:t>Afzallik: </a:t>
            </a:r>
            <a:r>
              <a:rPr sz="1100">
                <a:solidFill>
                  <a:srgbClr val="1A2B3C"/>
                </a:solidFill>
                <a:latin typeface="Calibri"/>
              </a:rPr>
              <a:t>arzon, uzoq klinik tajriba, yaxshi plastiklik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C98A12"/>
                </a:solidFill>
                <a:latin typeface="Calibri"/>
              </a:rPr>
              <a:t>+  </a:t>
            </a:r>
            <a:r>
              <a:rPr sz="1100" b="1">
                <a:solidFill>
                  <a:srgbClr val="1A2B3C"/>
                </a:solidFill>
                <a:latin typeface="Calibri"/>
              </a:rPr>
              <a:t>Afzallik: </a:t>
            </a:r>
            <a:r>
              <a:rPr sz="1100">
                <a:solidFill>
                  <a:srgbClr val="1A2B3C"/>
                </a:solidFill>
                <a:latin typeface="Calibri"/>
              </a:rPr>
              <a:t>rentgenkontrast yuqori, oson chiqariladi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C98A12"/>
                </a:solidFill>
                <a:latin typeface="Calibri"/>
              </a:rPr>
              <a:t>−  </a:t>
            </a:r>
            <a:r>
              <a:rPr sz="1100" b="1">
                <a:solidFill>
                  <a:srgbClr val="1A2B3C"/>
                </a:solidFill>
                <a:latin typeface="Calibri"/>
              </a:rPr>
              <a:t>Kamchilik: </a:t>
            </a:r>
            <a:r>
              <a:rPr sz="1100">
                <a:solidFill>
                  <a:srgbClr val="1A2B3C"/>
                </a:solidFill>
                <a:latin typeface="Calibri"/>
              </a:rPr>
              <a:t>qisqaradi va eriydi → germetiklik kamayadi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C98A12"/>
                </a:solidFill>
                <a:latin typeface="Calibri"/>
              </a:rPr>
              <a:t>−  </a:t>
            </a:r>
            <a:r>
              <a:rPr sz="1100" b="1">
                <a:solidFill>
                  <a:srgbClr val="1A2B3C"/>
                </a:solidFill>
                <a:latin typeface="Calibri"/>
              </a:rPr>
              <a:t>Kamchilik: </a:t>
            </a:r>
            <a:r>
              <a:rPr sz="1100">
                <a:solidFill>
                  <a:srgbClr val="1A2B3C"/>
                </a:solidFill>
                <a:latin typeface="Calibri"/>
              </a:rPr>
              <a:t>evgenol allergiyasi, tishni bo'yashi mumkin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93180" y="1638300"/>
            <a:ext cx="530352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1600200"/>
            <a:ext cx="53035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1783080"/>
            <a:ext cx="5029200" cy="548640"/>
          </a:xfrm>
          <a:prstGeom prst="round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 i="0">
                <a:solidFill>
                  <a:srgbClr val="FFFFFF"/>
                </a:solidFill>
                <a:latin typeface="Calibri"/>
              </a:defRPr>
            </a:pPr>
            <a:r>
              <a:t>Kalsiy gidroksidli sealerlar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4231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5A6D80"/>
                </a:solidFill>
                <a:latin typeface="Calibri"/>
              </a:defRPr>
            </a:pPr>
            <a:r>
              <a:t>Sealapex  •  Apexit Plus  •  Calcibiotic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83464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+  </a:t>
            </a:r>
            <a:r>
              <a:rPr sz="1100" b="1">
                <a:solidFill>
                  <a:srgbClr val="1A2B3C"/>
                </a:solidFill>
                <a:latin typeface="Calibri"/>
              </a:rPr>
              <a:t>Afzallik: </a:t>
            </a:r>
            <a:r>
              <a:rPr sz="1100">
                <a:solidFill>
                  <a:srgbClr val="1A2B3C"/>
                </a:solidFill>
                <a:latin typeface="Calibri"/>
              </a:rPr>
              <a:t>pH ishqoriy, biokompatibil, apeksifikatsiyani rag'batlantiradi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+  </a:t>
            </a:r>
            <a:r>
              <a:rPr sz="1100" b="1">
                <a:solidFill>
                  <a:srgbClr val="1A2B3C"/>
                </a:solidFill>
                <a:latin typeface="Calibri"/>
              </a:rPr>
              <a:t>Afzallik: </a:t>
            </a:r>
            <a:r>
              <a:rPr sz="1100">
                <a:solidFill>
                  <a:srgbClr val="1A2B3C"/>
                </a:solidFill>
                <a:latin typeface="Calibri"/>
              </a:rPr>
              <a:t>periapikal to'qimaga ijobiy ta'sir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−  </a:t>
            </a:r>
            <a:r>
              <a:rPr sz="1100" b="1">
                <a:solidFill>
                  <a:srgbClr val="1A2B3C"/>
                </a:solidFill>
                <a:latin typeface="Calibri"/>
              </a:rPr>
              <a:t>Kamchilik: </a:t>
            </a:r>
            <a:r>
              <a:rPr sz="1100">
                <a:solidFill>
                  <a:srgbClr val="1A2B3C"/>
                </a:solidFill>
                <a:latin typeface="Calibri"/>
              </a:rPr>
              <a:t>yuqori eruvchanlik — uzoq muddatda bo'shliq hosil bo'ladi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−  </a:t>
            </a:r>
            <a:r>
              <a:rPr sz="1100" b="1">
                <a:solidFill>
                  <a:srgbClr val="1A2B3C"/>
                </a:solidFill>
                <a:latin typeface="Calibri"/>
              </a:rPr>
              <a:t>Kamchilik: </a:t>
            </a:r>
            <a:r>
              <a:rPr sz="1100">
                <a:solidFill>
                  <a:srgbClr val="1A2B3C"/>
                </a:solidFill>
                <a:latin typeface="Calibri"/>
              </a:rPr>
              <a:t>mexanik mustahkamlik past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10  •  QOTADIGAN MALHAMLAR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Epoksi-rezin, shisha ionomer va silikon sealerlar (II–III avlod)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12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7315017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457200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4572000" cy="452628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BFA6"/>
                </a:solidFill>
                <a:latin typeface="Calibri"/>
              </a:defRPr>
            </a:pPr>
            <a:r>
              <a:t>★  AH Plus — oltin standart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●  </a:t>
            </a:r>
            <a:r>
              <a:rPr sz="1000" b="1">
                <a:solidFill>
                  <a:srgbClr val="FFFFFF"/>
                </a:solidFill>
                <a:latin typeface="Calibri"/>
              </a:rPr>
              <a:t>Tarkib: </a:t>
            </a:r>
            <a:r>
              <a:rPr sz="1000">
                <a:solidFill>
                  <a:srgbClr val="FFFFFF"/>
                </a:solidFill>
                <a:latin typeface="Calibri"/>
              </a:rPr>
              <a:t>bisfenol-A epoksi + aminlar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●  </a:t>
            </a:r>
            <a:r>
              <a:rPr sz="1000" b="1">
                <a:solidFill>
                  <a:srgbClr val="FFFFFF"/>
                </a:solidFill>
                <a:latin typeface="Calibri"/>
              </a:rPr>
              <a:t>Qotish: </a:t>
            </a:r>
            <a:r>
              <a:rPr sz="1000">
                <a:solidFill>
                  <a:srgbClr val="FFFFFF"/>
                </a:solidFill>
                <a:latin typeface="Calibri"/>
              </a:rPr>
              <a:t>~8 soat; qisqarish &lt;1%; eruvchanlik &lt;3%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●  </a:t>
            </a:r>
            <a:r>
              <a:rPr sz="1000" b="1">
                <a:solidFill>
                  <a:srgbClr val="FFFFFF"/>
                </a:solidFill>
                <a:latin typeface="Calibri"/>
              </a:rPr>
              <a:t>+: </a:t>
            </a:r>
            <a:r>
              <a:rPr sz="1000">
                <a:solidFill>
                  <a:srgbClr val="FFFFFF"/>
                </a:solidFill>
                <a:latin typeface="Calibri"/>
              </a:rPr>
              <a:t>a'lo adgeziya, o'lcham barqarorligi, yuqori kontrast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●  </a:t>
            </a:r>
            <a:r>
              <a:rPr sz="1000" b="1">
                <a:solidFill>
                  <a:srgbClr val="FFFFFF"/>
                </a:solidFill>
                <a:latin typeface="Calibri"/>
              </a:rPr>
              <a:t>◆: </a:t>
            </a:r>
            <a:r>
              <a:rPr sz="1000">
                <a:solidFill>
                  <a:srgbClr val="FFFFFF"/>
                </a:solidFill>
                <a:latin typeface="Calibri"/>
              </a:rPr>
              <a:t>ISO 6876 talablariga to'liq mos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●  </a:t>
            </a:r>
            <a:r>
              <a:rPr sz="1000" b="1">
                <a:solidFill>
                  <a:srgbClr val="FFFFFF"/>
                </a:solidFill>
                <a:latin typeface="Calibri"/>
              </a:rPr>
              <a:t>−: </a:t>
            </a:r>
            <a:r>
              <a:rPr sz="1000">
                <a:solidFill>
                  <a:srgbClr val="FFFFFF"/>
                </a:solidFill>
                <a:latin typeface="Calibri"/>
              </a:rPr>
              <a:t>retreatment qiyin; qotmasdan oldin sitotoksik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87340" y="1638300"/>
            <a:ext cx="324612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49240" y="1600200"/>
            <a:ext cx="32461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1737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B2C4A"/>
                </a:solidFill>
                <a:latin typeface="Calibri"/>
              </a:defRPr>
            </a:pPr>
            <a:r>
              <a:t>Shisha ionomer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5A6D80"/>
                </a:solidFill>
                <a:latin typeface="Calibri"/>
              </a:defRPr>
            </a:pPr>
            <a:r>
              <a:t>Ketac Endo • Endion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468880"/>
            <a:ext cx="2743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+  </a:t>
            </a:r>
            <a:r>
              <a:rPr sz="1050">
                <a:solidFill>
                  <a:srgbClr val="1A2B3C"/>
                </a:solidFill>
                <a:latin typeface="Calibri"/>
              </a:rPr>
              <a:t>Dentinga kimyoviy bog'lanadi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+  </a:t>
            </a:r>
            <a:r>
              <a:rPr sz="1050">
                <a:solidFill>
                  <a:srgbClr val="1A2B3C"/>
                </a:solidFill>
                <a:latin typeface="Calibri"/>
              </a:rPr>
              <a:t>Ftor ajratadi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−  </a:t>
            </a:r>
            <a:r>
              <a:rPr sz="1050">
                <a:solidFill>
                  <a:srgbClr val="1A2B3C"/>
                </a:solidFill>
                <a:latin typeface="Calibri"/>
              </a:rPr>
              <a:t>Mo'rt, namga sezgir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−  </a:t>
            </a:r>
            <a:r>
              <a:rPr sz="1050">
                <a:solidFill>
                  <a:srgbClr val="1A2B3C"/>
                </a:solidFill>
                <a:latin typeface="Calibri"/>
              </a:rPr>
              <a:t>Qayta davolash juda qiyin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7780" y="1638300"/>
            <a:ext cx="283464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69680" y="1600200"/>
            <a:ext cx="2834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B2C4A"/>
                </a:solidFill>
                <a:latin typeface="Calibri"/>
              </a:defRPr>
            </a:pPr>
            <a:r>
              <a:t>Silikon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103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5A6D80"/>
                </a:solidFill>
                <a:latin typeface="Calibri"/>
              </a:defRPr>
            </a:pPr>
            <a:r>
              <a:t>RoekoSeal • GuttaFlow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468880"/>
            <a:ext cx="2331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+  </a:t>
            </a:r>
            <a:r>
              <a:rPr sz="1050">
                <a:solidFill>
                  <a:srgbClr val="1A2B3C"/>
                </a:solidFill>
                <a:latin typeface="Calibri"/>
              </a:rPr>
              <a:t>Kengayadi (+0,2%)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+  </a:t>
            </a:r>
            <a:r>
              <a:rPr sz="1050">
                <a:solidFill>
                  <a:srgbClr val="1A2B3C"/>
                </a:solidFill>
                <a:latin typeface="Calibri"/>
              </a:rPr>
              <a:t>Zo'r oqimtarlik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−  </a:t>
            </a:r>
            <a:r>
              <a:rPr sz="1050">
                <a:solidFill>
                  <a:srgbClr val="1A2B3C"/>
                </a:solidFill>
                <a:latin typeface="Calibri"/>
              </a:rPr>
              <a:t>Mustahkamlik past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−  </a:t>
            </a:r>
            <a:r>
              <a:rPr sz="1050">
                <a:solidFill>
                  <a:srgbClr val="1A2B3C"/>
                </a:solidFill>
                <a:latin typeface="Calibri"/>
              </a:rPr>
              <a:t>Narxi yuqori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11  •  YANGI AVLOD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Biokeramik sealerlar (IV avlod) — bioaktiv inqilob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13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7924601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5486400" cy="356616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548640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190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 i="0">
                <a:solidFill>
                  <a:srgbClr val="0B2C4A"/>
                </a:solidFill>
                <a:latin typeface="Calibri"/>
              </a:defRPr>
            </a:pPr>
            <a:r>
              <a:t>Trikalsiy silikat (MTA asosli) + kalsiy fosfat + sirkoniy oksid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①  </a:t>
            </a:r>
            <a:r>
              <a:rPr sz="1100" b="1">
                <a:solidFill>
                  <a:srgbClr val="1A2B3C"/>
                </a:solidFill>
                <a:latin typeface="Calibri"/>
              </a:rPr>
              <a:t>Gidratatsiya: </a:t>
            </a:r>
            <a:r>
              <a:rPr sz="1100">
                <a:solidFill>
                  <a:srgbClr val="1A2B3C"/>
                </a:solidFill>
                <a:latin typeface="Calibri"/>
              </a:rPr>
              <a:t>kanal namligida qotadi — namlik afzallik!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②  </a:t>
            </a:r>
            <a:r>
              <a:rPr sz="1100" b="1">
                <a:solidFill>
                  <a:srgbClr val="1A2B3C"/>
                </a:solidFill>
                <a:latin typeface="Calibri"/>
              </a:rPr>
              <a:t>Bioaktivlik: </a:t>
            </a:r>
            <a:r>
              <a:rPr sz="1100">
                <a:solidFill>
                  <a:srgbClr val="1A2B3C"/>
                </a:solidFill>
                <a:latin typeface="Calibri"/>
              </a:rPr>
              <a:t>gidroksiapatit hosil qilib dentinga kimyoviy bog'lanadi.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③  </a:t>
            </a:r>
            <a:r>
              <a:rPr sz="1100" b="1">
                <a:solidFill>
                  <a:srgbClr val="1A2B3C"/>
                </a:solidFill>
                <a:latin typeface="Calibri"/>
              </a:rPr>
              <a:t>pH &gt; 12: </a:t>
            </a:r>
            <a:r>
              <a:rPr sz="1100">
                <a:solidFill>
                  <a:srgbClr val="1A2B3C"/>
                </a:solidFill>
                <a:latin typeface="Calibri"/>
              </a:rPr>
              <a:t>antibakterial; kengayish ~0,1%; eruvchanlik &lt;3%.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④  </a:t>
            </a:r>
            <a:r>
              <a:rPr sz="1100" b="1">
                <a:solidFill>
                  <a:srgbClr val="1A2B3C"/>
                </a:solidFill>
                <a:latin typeface="Calibri"/>
              </a:rPr>
              <a:t>Vakillar: </a:t>
            </a:r>
            <a:r>
              <a:rPr sz="1100">
                <a:solidFill>
                  <a:srgbClr val="1A2B3C"/>
                </a:solidFill>
                <a:latin typeface="Calibri"/>
              </a:rPr>
              <a:t>BioRoot RCS • TotalFill BC • EndoSequence BC.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1638300"/>
            <a:ext cx="2651760" cy="356616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600200"/>
            <a:ext cx="265176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_05_bioac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2468464"/>
            <a:ext cx="2432304" cy="13267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81928" y="4617720"/>
            <a:ext cx="24323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5A6D80"/>
                </a:solidFill>
                <a:latin typeface="Calibri"/>
              </a:defRPr>
            </a:pPr>
            <a:r>
              <a:t>Gidroksiapatitning dentinga bog'lanishi (sxematik)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44940" y="1638300"/>
            <a:ext cx="2697480" cy="356616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06840" y="1600200"/>
            <a:ext cx="2697480" cy="356616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719072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 i="0">
                <a:solidFill>
                  <a:srgbClr val="00BFA6"/>
                </a:solidFill>
                <a:latin typeface="Calibri"/>
              </a:defRPr>
            </a:pPr>
            <a:r>
              <a:t>Baholash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148840"/>
            <a:ext cx="2240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✓  </a:t>
            </a:r>
            <a:r>
              <a:rPr sz="1000">
                <a:solidFill>
                  <a:srgbClr val="FFFFFF"/>
                </a:solidFill>
                <a:latin typeface="Calibri"/>
              </a:rPr>
              <a:t>Gidrofil, sitotoksik emas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✓  </a:t>
            </a:r>
            <a:r>
              <a:rPr sz="1000">
                <a:solidFill>
                  <a:srgbClr val="FFFFFF"/>
                </a:solidFill>
                <a:latin typeface="Calibri"/>
              </a:rPr>
              <a:t>Single-cone bilan ideal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✓  </a:t>
            </a:r>
            <a:r>
              <a:rPr sz="1000">
                <a:solidFill>
                  <a:srgbClr val="FFFFFF"/>
                </a:solidFill>
                <a:latin typeface="Calibri"/>
              </a:rPr>
              <a:t>Perforatsiya/apeks yopish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✕  </a:t>
            </a:r>
            <a:r>
              <a:rPr sz="1000">
                <a:solidFill>
                  <a:srgbClr val="FFFFFF"/>
                </a:solidFill>
                <a:latin typeface="Calibri"/>
              </a:rPr>
              <a:t>Retreatment qiyin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✕  </a:t>
            </a:r>
            <a:r>
              <a:rPr sz="1000">
                <a:solidFill>
                  <a:srgbClr val="FFFFFF"/>
                </a:solidFill>
                <a:latin typeface="Calibri"/>
              </a:rPr>
              <a:t>Qimmat, ish vaqti qisqa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1020" y="5341620"/>
            <a:ext cx="11201400" cy="82296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303520"/>
            <a:ext cx="11201400" cy="82296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" y="5413248"/>
            <a:ext cx="76200" cy="603504"/>
          </a:xfrm>
          <a:prstGeom prst="rect">
            <a:avLst/>
          </a:prstGeom>
          <a:solidFill>
            <a:srgbClr val="C98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76672"/>
            <a:ext cx="106984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FD27A"/>
                </a:solidFill>
                <a:latin typeface="Calibri"/>
              </a:rPr>
              <a:t>◆ ILMIY ASOS  </a:t>
            </a:r>
            <a:r>
              <a:rPr sz="1050">
                <a:solidFill>
                  <a:srgbClr val="FFFFFF"/>
                </a:solidFill>
                <a:latin typeface="Calibri"/>
              </a:rPr>
              <a:t>MTA — Torabinejad et al., 1993 (Loma Linda universiteti): kalsiy-silikat sementlar davri boshlandi. Gidroksiapatit hosil qilishi va yuqori biomoslashuvchanligi ko'plab in vitro va klinik tadqiqotlarda isbotlangan.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12  •  QATTIQ O'ZAKLAR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Qattiq obturatsiya materiallari: gutta-percha va boshqalar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14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8534186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640080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64008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 i="0">
                <a:solidFill>
                  <a:srgbClr val="0B2C4A"/>
                </a:solidFill>
                <a:latin typeface="Calibri"/>
              </a:defRPr>
            </a:pPr>
            <a:r>
              <a:t>Gutta-percha — trans-1,4-poliizopren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5760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Tarkib: </a:t>
            </a:r>
            <a:r>
              <a:rPr sz="1100">
                <a:solidFill>
                  <a:srgbClr val="1A2B3C"/>
                </a:solidFill>
                <a:latin typeface="Calibri"/>
              </a:rPr>
              <a:t>~20% gutta-percha + 60–75% ZnO + mumlar + BaSO₄ (kontrast).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Fazalar: </a:t>
            </a:r>
            <a:r>
              <a:rPr sz="1100">
                <a:solidFill>
                  <a:srgbClr val="1A2B3C"/>
                </a:solidFill>
                <a:latin typeface="Calibri"/>
              </a:rPr>
              <a:t>β-faza (standart) → qizdirilganda α-faza (60°C da yumshaydi).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Standart: </a:t>
            </a:r>
            <a:r>
              <a:rPr sz="1100">
                <a:solidFill>
                  <a:srgbClr val="1A2B3C"/>
                </a:solidFill>
                <a:latin typeface="Calibri"/>
              </a:rPr>
              <a:t>ISO 6877 — o'lcham 15–80; konussimonlik 02/04/06; master + accessory.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+: </a:t>
            </a:r>
            <a:r>
              <a:rPr sz="1100">
                <a:solidFill>
                  <a:srgbClr val="1A2B3C"/>
                </a:solidFill>
                <a:latin typeface="Calibri"/>
              </a:rPr>
              <a:t>biokompatibil, kontrast, arzon, oson chiqariladi;  −: sealer shart!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0420" y="1638300"/>
            <a:ext cx="4572000" cy="2468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32320" y="1600200"/>
            <a:ext cx="4572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_06_gut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6348" y="1709928"/>
            <a:ext cx="4123944" cy="224942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170420" y="4244340"/>
            <a:ext cx="4572000" cy="192024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4206240"/>
            <a:ext cx="4572000" cy="192024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0920" y="4297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 i="0">
                <a:solidFill>
                  <a:srgbClr val="00BFA6"/>
                </a:solidFill>
                <a:latin typeface="Calibri"/>
              </a:defRPr>
            </a:pPr>
            <a:r>
              <a:t>Boshqa o'zaklar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66344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●  </a:t>
            </a:r>
            <a:r>
              <a:rPr sz="1000" b="1">
                <a:solidFill>
                  <a:srgbClr val="FFFFFF"/>
                </a:solidFill>
                <a:latin typeface="Calibri"/>
              </a:rPr>
              <a:t>Resilon: </a:t>
            </a:r>
            <a:r>
              <a:rPr sz="1000">
                <a:solidFill>
                  <a:srgbClr val="FFFFFF"/>
                </a:solidFill>
                <a:latin typeface="Calibri"/>
              </a:rPr>
              <a:t>monoblok g'oyasi, gidroliz muammosi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●  </a:t>
            </a:r>
            <a:r>
              <a:rPr sz="1000" b="1">
                <a:solidFill>
                  <a:srgbClr val="FFFFFF"/>
                </a:solidFill>
                <a:latin typeface="Calibri"/>
              </a:rPr>
              <a:t>MTA plug: </a:t>
            </a:r>
            <a:r>
              <a:rPr sz="1000">
                <a:solidFill>
                  <a:srgbClr val="FFFFFF"/>
                </a:solidFill>
                <a:latin typeface="Calibri"/>
              </a:rPr>
              <a:t>ochiq apeksda 3–5 mm to'siq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00" b="1">
                <a:solidFill>
                  <a:srgbClr val="00BFA6"/>
                </a:solidFill>
                <a:latin typeface="Calibri"/>
              </a:rPr>
              <a:t>●  </a:t>
            </a:r>
            <a:r>
              <a:rPr sz="1000" b="1">
                <a:solidFill>
                  <a:srgbClr val="FFFFFF"/>
                </a:solidFill>
                <a:latin typeface="Calibri"/>
              </a:rPr>
              <a:t>Kumush / titan shtiftlar: </a:t>
            </a:r>
            <a:r>
              <a:rPr sz="1000">
                <a:solidFill>
                  <a:srgbClr val="FFFFFF"/>
                </a:solidFill>
                <a:latin typeface="Calibri"/>
              </a:rPr>
              <a:t>tarixiy, cheklangan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13  •  OLTIN STANDART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Gutta-percha + sealer: nega aynan kombinatsiya?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15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9143771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546860"/>
            <a:ext cx="11201400" cy="9144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508760"/>
            <a:ext cx="11201400" cy="91440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45920"/>
            <a:ext cx="10744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50" b="1" i="0">
                <a:solidFill>
                  <a:srgbClr val="00BFA6"/>
                </a:solidFill>
                <a:latin typeface="Calibri"/>
              </a:defRPr>
            </a:pPr>
            <a:r>
              <a:t>GUTTA-PERCHA (hajm to'ldiruvchi o'zak)   +   SEALER (mikrotirqish germetigi)   =   3D OBTURATSIYA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1020" y="2644140"/>
            <a:ext cx="2697480" cy="237744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606040"/>
            <a:ext cx="2697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606040"/>
            <a:ext cx="2697480" cy="868680"/>
          </a:xfrm>
          <a:prstGeom prst="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651760"/>
            <a:ext cx="2478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Maksimal o'zak</a:t>
            </a:r>
            <a:br/>
            <a:r>
              <a:t>Minimal sealer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1A2B3C"/>
                </a:solidFill>
                <a:latin typeface="Calibri"/>
              </a:defRPr>
            </a:pPr>
            <a:r>
              <a:t>Sealer qatlami 25–50 mkm — qisqarish kam, germetiklik yuqori.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29939" y="2644140"/>
            <a:ext cx="2697480" cy="237744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91839" y="2606040"/>
            <a:ext cx="2697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91839" y="2606040"/>
            <a:ext cx="2697480" cy="868680"/>
          </a:xfrm>
          <a:prstGeom prst="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1567" y="2651760"/>
            <a:ext cx="2478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Faqat pasta: ~70%</a:t>
            </a:r>
            <a:br/>
            <a:r>
              <a:t>Kombinatsiya: 90–95%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19" y="356616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1A2B3C"/>
                </a:solidFill>
                <a:latin typeface="Calibri"/>
              </a:defRPr>
            </a:pPr>
            <a:r>
              <a:t>Kondensatsiyalangan gutta-percha + sealer keskin ustun (klinik tadqiqotlar).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8859" y="2644140"/>
            <a:ext cx="2697480" cy="237744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80759" y="2606040"/>
            <a:ext cx="2697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59" y="2606040"/>
            <a:ext cx="2697480" cy="868680"/>
          </a:xfrm>
          <a:prstGeom prst="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0487" y="2651760"/>
            <a:ext cx="2478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Apikal uchlik —</a:t>
            </a:r>
            <a:br/>
            <a:r>
              <a:t>eng kritik zona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39" y="356616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1A2B3C"/>
                </a:solidFill>
                <a:latin typeface="Calibri"/>
              </a:defRPr>
            </a:pPr>
            <a:r>
              <a:t>Apikal 3–4 mm da zichlash maksimal bo'lishi shart.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9220" y="2644140"/>
            <a:ext cx="2743200" cy="237744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61120" y="2606040"/>
            <a:ext cx="27432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g_07_obturation_xr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848" y="2855006"/>
            <a:ext cx="2523744" cy="137658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70848" y="44348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5A6D80"/>
                </a:solidFill>
                <a:latin typeface="Calibri"/>
              </a:defRPr>
            </a:pPr>
            <a:r>
              <a:t>Muvaffaqiyatli obturatsiya rentgeni (sxematik)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1020" y="5204460"/>
            <a:ext cx="11201400" cy="96012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2920" y="5166360"/>
            <a:ext cx="11201400" cy="96012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" y="5276088"/>
            <a:ext cx="76200" cy="740664"/>
          </a:xfrm>
          <a:prstGeom prst="rect">
            <a:avLst/>
          </a:prstGeom>
          <a:solidFill>
            <a:srgbClr val="C98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239512"/>
            <a:ext cx="10698480" cy="8138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FD27A"/>
                </a:solidFill>
                <a:latin typeface="Calibri"/>
              </a:rPr>
              <a:t>◆ ILMIY DALIL  </a:t>
            </a:r>
            <a:r>
              <a:rPr sz="1050">
                <a:solidFill>
                  <a:srgbClr val="FFFFFF"/>
                </a:solidFill>
                <a:latin typeface="Calibri"/>
              </a:rPr>
              <a:t>Ray &amp; Trope, 1995: koronal germetiklik (plomba/toj) sifati periapikal sog'liqqa ildiz kanali plombasi sifaticha kuchli ta'sir qiladi. Rentgen-mezoni: bir xil zichlik • bo'shliqlarsiz • ishchi uzunlikda tugash.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14  •  PLOMBALASH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Ildiz kanalini plombalash usullari tasnifi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16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9753356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557784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5577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1783080"/>
            <a:ext cx="5303520" cy="59436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84708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 i="0">
                <a:solidFill>
                  <a:srgbClr val="FFFFFF"/>
                </a:solidFill>
                <a:latin typeface="Calibri"/>
              </a:defRPr>
            </a:pPr>
            <a:r>
              <a:t>❄  SOVUQ USULLAR (xona haroratida)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6517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1.  </a:t>
            </a:r>
            <a:r>
              <a:rPr sz="1150" b="1">
                <a:solidFill>
                  <a:srgbClr val="1A2B3C"/>
                </a:solidFill>
                <a:latin typeface="Calibri"/>
              </a:rPr>
              <a:t>Markaziy shtift </a:t>
            </a:r>
            <a:r>
              <a:rPr sz="1150">
                <a:solidFill>
                  <a:srgbClr val="1A2B3C"/>
                </a:solidFill>
                <a:latin typeface="Calibri"/>
              </a:rPr>
              <a:t>(single-cone) — tez, oson, arzon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2.  </a:t>
            </a:r>
            <a:r>
              <a:rPr sz="1150" b="1">
                <a:solidFill>
                  <a:srgbClr val="1A2B3C"/>
                </a:solidFill>
                <a:latin typeface="Calibri"/>
              </a:rPr>
              <a:t>Lateral kondensatsiya </a:t>
            </a:r>
            <a:r>
              <a:rPr sz="1150">
                <a:solidFill>
                  <a:srgbClr val="1A2B3C"/>
                </a:solidFill>
                <a:latin typeface="Calibri"/>
              </a:rPr>
              <a:t>(sovuq) — klassik oltin standart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3.  </a:t>
            </a:r>
            <a:r>
              <a:rPr sz="1150" b="1">
                <a:solidFill>
                  <a:srgbClr val="1A2B3C"/>
                </a:solidFill>
                <a:latin typeface="Calibri"/>
              </a:rPr>
              <a:t>Biokeramik single-cone </a:t>
            </a:r>
            <a:r>
              <a:rPr sz="1150">
                <a:solidFill>
                  <a:srgbClr val="1A2B3C"/>
                </a:solidFill>
                <a:latin typeface="Calibri"/>
              </a:rPr>
              <a:t>— zamonaviy sodda protokol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◈   </a:t>
            </a:r>
            <a:r>
              <a:rPr sz="1150" b="1">
                <a:solidFill>
                  <a:srgbClr val="1A2B3C"/>
                </a:solidFill>
                <a:latin typeface="Calibri"/>
              </a:rPr>
              <a:t>Afzallik: </a:t>
            </a:r>
            <a:r>
              <a:rPr sz="1150">
                <a:solidFill>
                  <a:srgbClr val="1A2B3C"/>
                </a:solidFill>
                <a:latin typeface="Calibri"/>
              </a:rPr>
              <a:t>maxsus jihoz shart emas, retreatment oson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3180" y="1638300"/>
            <a:ext cx="530352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5080" y="1600200"/>
            <a:ext cx="53035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1783080"/>
            <a:ext cx="5029200" cy="594360"/>
          </a:xfrm>
          <a:prstGeom prst="round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8470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 i="0">
                <a:solidFill>
                  <a:srgbClr val="FFFFFF"/>
                </a:solidFill>
                <a:latin typeface="Calibri"/>
              </a:defRPr>
            </a:pPr>
            <a:r>
              <a:t>♨  ISSIQ USULLAR (plastifikatsiya)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65176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FF6F00"/>
                </a:solidFill>
                <a:latin typeface="Calibri"/>
              </a:rPr>
              <a:t>1.  </a:t>
            </a:r>
            <a:r>
              <a:rPr sz="1150" b="1">
                <a:solidFill>
                  <a:srgbClr val="1A2B3C"/>
                </a:solidFill>
                <a:latin typeface="Calibri"/>
              </a:rPr>
              <a:t>Vertikal kondensatsiya </a:t>
            </a:r>
            <a:r>
              <a:rPr sz="1150">
                <a:solidFill>
                  <a:srgbClr val="1A2B3C"/>
                </a:solidFill>
                <a:latin typeface="Calibri"/>
              </a:rPr>
              <a:t>(Schilder, 1967)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FF6F00"/>
                </a:solidFill>
                <a:latin typeface="Calibri"/>
              </a:rPr>
              <a:t>2.  </a:t>
            </a:r>
            <a:r>
              <a:rPr sz="1150" b="1">
                <a:solidFill>
                  <a:srgbClr val="1A2B3C"/>
                </a:solidFill>
                <a:latin typeface="Calibri"/>
              </a:rPr>
              <a:t>Uzluksiz to'lqin </a:t>
            </a:r>
            <a:r>
              <a:rPr sz="1150">
                <a:solidFill>
                  <a:srgbClr val="1A2B3C"/>
                </a:solidFill>
                <a:latin typeface="Calibri"/>
              </a:rPr>
              <a:t>(Buchanan — System B)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FF6F00"/>
                </a:solidFill>
                <a:latin typeface="Calibri"/>
              </a:rPr>
              <a:t>3.  </a:t>
            </a:r>
            <a:r>
              <a:rPr sz="1150" b="1">
                <a:solidFill>
                  <a:srgbClr val="1A2B3C"/>
                </a:solidFill>
                <a:latin typeface="Calibri"/>
              </a:rPr>
              <a:t>Termoplastik in'ektsiya </a:t>
            </a:r>
            <a:r>
              <a:rPr sz="1150">
                <a:solidFill>
                  <a:srgbClr val="1A2B3C"/>
                </a:solidFill>
                <a:latin typeface="Calibri"/>
              </a:rPr>
              <a:t>(Obtura, Calamus, BeeFill)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FF6F00"/>
                </a:solidFill>
                <a:latin typeface="Calibri"/>
              </a:rPr>
              <a:t>4.  </a:t>
            </a:r>
            <a:r>
              <a:rPr sz="1150" b="1">
                <a:solidFill>
                  <a:srgbClr val="1A2B3C"/>
                </a:solidFill>
                <a:latin typeface="Calibri"/>
              </a:rPr>
              <a:t>Tashuvchili </a:t>
            </a:r>
            <a:r>
              <a:rPr sz="1150">
                <a:solidFill>
                  <a:srgbClr val="1A2B3C"/>
                </a:solidFill>
                <a:latin typeface="Calibri"/>
              </a:rPr>
              <a:t>(Thermafil, GuttaCore)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35040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0B2C4A"/>
                </a:solidFill>
                <a:latin typeface="Calibri"/>
              </a:defRPr>
            </a:pPr>
            <a:r>
              <a:t>Tanlov omillari:  kanal anatomiyasi (oval / egri / keng)  +  jihoz mavjudligi  +  shifokor malakasi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15  •  SOVUQ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Sovuq usullar: single-cone va lateral kondensatsiya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17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0362940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3108960" cy="3657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310896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88E5"/>
                </a:solidFill>
                <a:latin typeface="Calibri"/>
              </a:defRPr>
            </a:pPr>
            <a:r>
              <a:t>A. Single-cone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94560"/>
            <a:ext cx="2651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▸  </a:t>
            </a:r>
            <a:r>
              <a:rPr sz="1050">
                <a:solidFill>
                  <a:srgbClr val="1A2B3C"/>
                </a:solidFill>
                <a:latin typeface="Calibri"/>
              </a:rPr>
              <a:t>Bitta master-shtift + sealer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▸  </a:t>
            </a:r>
            <a:r>
              <a:rPr sz="1050" b="1">
                <a:solidFill>
                  <a:srgbClr val="1A2B3C"/>
                </a:solidFill>
                <a:latin typeface="Calibri"/>
              </a:rPr>
              <a:t>+: </a:t>
            </a:r>
            <a:r>
              <a:rPr sz="1050">
                <a:solidFill>
                  <a:srgbClr val="1A2B3C"/>
                </a:solidFill>
                <a:latin typeface="Calibri"/>
              </a:rPr>
              <a:t>eng tez va oson usul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▸  </a:t>
            </a:r>
            <a:r>
              <a:rPr sz="1050" b="1">
                <a:solidFill>
                  <a:srgbClr val="1A2B3C"/>
                </a:solidFill>
                <a:latin typeface="Calibri"/>
              </a:rPr>
              <a:t>−: </a:t>
            </a:r>
            <a:r>
              <a:rPr sz="1050">
                <a:solidFill>
                  <a:srgbClr val="1A2B3C"/>
                </a:solidFill>
                <a:latin typeface="Calibri"/>
              </a:rPr>
              <a:t>oval kanalda germetiklik past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▸  </a:t>
            </a:r>
            <a:r>
              <a:rPr sz="1050" b="1">
                <a:solidFill>
                  <a:srgbClr val="1A2B3C"/>
                </a:solidFill>
                <a:latin typeface="Calibri"/>
              </a:rPr>
              <a:t>◈: </a:t>
            </a:r>
            <a:r>
              <a:rPr sz="1050">
                <a:solidFill>
                  <a:srgbClr val="1A2B3C"/>
                </a:solidFill>
                <a:latin typeface="Calibri"/>
              </a:rPr>
              <a:t>biokeramik sealer bilan samarali!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87139" y="1638300"/>
            <a:ext cx="4572000" cy="3657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49039" y="1600200"/>
            <a:ext cx="45720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7639" y="1737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B2C4A"/>
                </a:solidFill>
                <a:latin typeface="Calibri"/>
              </a:defRPr>
            </a:pPr>
            <a:r>
              <a:t>B. Lateral kondensatsiya — 6 bosqich</a:t>
            </a:r>
          </a:p>
        </p:txBody>
      </p:sp>
      <p:sp>
        <p:nvSpPr>
          <p:cNvPr id="17" name="Oval 16"/>
          <p:cNvSpPr/>
          <p:nvPr/>
        </p:nvSpPr>
        <p:spPr>
          <a:xfrm>
            <a:off x="3977639" y="2212848"/>
            <a:ext cx="329184" cy="329184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21284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A2B3C"/>
                </a:solidFill>
                <a:latin typeface="Calibri"/>
              </a:defRPr>
            </a:pPr>
            <a:r>
              <a:t>Master-shtift tanlash (tug-fit)</a:t>
            </a:r>
          </a:p>
        </p:txBody>
      </p:sp>
      <p:sp>
        <p:nvSpPr>
          <p:cNvPr id="19" name="Oval 18"/>
          <p:cNvSpPr/>
          <p:nvPr/>
        </p:nvSpPr>
        <p:spPr>
          <a:xfrm>
            <a:off x="3977639" y="2596896"/>
            <a:ext cx="329184" cy="329184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259689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A2B3C"/>
                </a:solidFill>
                <a:latin typeface="Calibri"/>
              </a:defRPr>
            </a:pPr>
            <a:r>
              <a:t>Sealerni kanalga kiritish</a:t>
            </a:r>
          </a:p>
        </p:txBody>
      </p:sp>
      <p:sp>
        <p:nvSpPr>
          <p:cNvPr id="21" name="Oval 20"/>
          <p:cNvSpPr/>
          <p:nvPr/>
        </p:nvSpPr>
        <p:spPr>
          <a:xfrm>
            <a:off x="3977639" y="2980944"/>
            <a:ext cx="329184" cy="329184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98094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A2B3C"/>
                </a:solidFill>
                <a:latin typeface="Calibri"/>
              </a:defRPr>
            </a:pPr>
            <a:r>
              <a:t>Master-shtiftni joylash</a:t>
            </a:r>
          </a:p>
        </p:txBody>
      </p:sp>
      <p:sp>
        <p:nvSpPr>
          <p:cNvPr id="23" name="Oval 22"/>
          <p:cNvSpPr/>
          <p:nvPr/>
        </p:nvSpPr>
        <p:spPr>
          <a:xfrm>
            <a:off x="3977639" y="3364991"/>
            <a:ext cx="329184" cy="329184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7408" y="3364991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A2B3C"/>
                </a:solidFill>
                <a:latin typeface="Calibri"/>
              </a:defRPr>
            </a:pPr>
            <a:r>
              <a:t>Spreader bilan lateral siqish</a:t>
            </a:r>
          </a:p>
        </p:txBody>
      </p:sp>
      <p:sp>
        <p:nvSpPr>
          <p:cNvPr id="25" name="Oval 24"/>
          <p:cNvSpPr/>
          <p:nvPr/>
        </p:nvSpPr>
        <p:spPr>
          <a:xfrm>
            <a:off x="3977639" y="3749039"/>
            <a:ext cx="329184" cy="329184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3749039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A2B3C"/>
                </a:solidFill>
                <a:latin typeface="Calibri"/>
              </a:defRPr>
            </a:pPr>
            <a:r>
              <a:t>Qo'shimcha shtiftlar kiritish</a:t>
            </a:r>
          </a:p>
        </p:txBody>
      </p:sp>
      <p:sp>
        <p:nvSpPr>
          <p:cNvPr id="27" name="Oval 26"/>
          <p:cNvSpPr/>
          <p:nvPr/>
        </p:nvSpPr>
        <p:spPr>
          <a:xfrm>
            <a:off x="3977639" y="4133087"/>
            <a:ext cx="329184" cy="329184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8" y="4133087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A2B3C"/>
                </a:solidFill>
                <a:latin typeface="Calibri"/>
              </a:defRPr>
            </a:pPr>
            <a:r>
              <a:t>Kesish + vertikal siqish + rentgen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42020" y="1638300"/>
            <a:ext cx="3200400" cy="3657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03920" y="1600200"/>
            <a:ext cx="32004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g_08_lat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2364555"/>
            <a:ext cx="2980944" cy="162596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613648" y="4709160"/>
            <a:ext cx="2980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5A6D80"/>
                </a:solidFill>
                <a:latin typeface="Calibri"/>
              </a:defRPr>
            </a:pPr>
            <a:r>
              <a:t>Lateral kondensatsiya: spreader bilan zichlash (sxematik)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1020" y="5433060"/>
            <a:ext cx="11201400" cy="73152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5394960"/>
            <a:ext cx="11201400" cy="73152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5504688"/>
            <a:ext cx="76200" cy="512064"/>
          </a:xfrm>
          <a:prstGeom prst="rect">
            <a:avLst/>
          </a:prstGeom>
          <a:solidFill>
            <a:srgbClr val="C98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468112"/>
            <a:ext cx="106984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FD27A"/>
                </a:solidFill>
                <a:latin typeface="Calibri"/>
              </a:rPr>
              <a:t>◆ ILMIY ASOS  </a:t>
            </a:r>
            <a:r>
              <a:rPr sz="1050">
                <a:solidFill>
                  <a:srgbClr val="FFFFFF"/>
                </a:solidFill>
                <a:latin typeface="Calibri"/>
              </a:rPr>
              <a:t>Schilder H., 1967 / 1974: uch o'lchamli (3D) obturatsiya konsepsiyasi — tozalash, shakllantirish va zich to'ldirish.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16  •  ISSIQ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Issiq usullar: vertikal kondensatsiya va zamonaviy tizimlar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18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0972525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2743200" cy="3657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2743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" y="1755648"/>
            <a:ext cx="2523744" cy="502920"/>
          </a:xfrm>
          <a:prstGeom prst="round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792224"/>
            <a:ext cx="252374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Calibri"/>
              </a:defRPr>
            </a:pPr>
            <a:r>
              <a:t>A. Vertikal (Schilder)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23160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1A2B3C"/>
                </a:solidFill>
                <a:latin typeface="Calibri"/>
              </a:defRPr>
            </a:pPr>
            <a:r>
              <a:t>Issiq pluggerlar bilan apikaldan koronalga qatlamma-qatlam zichlash. 3D to'lish, lateral kanallar yopiladi.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5660" y="1638300"/>
            <a:ext cx="2743200" cy="3657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600200"/>
            <a:ext cx="2743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47288" y="1755648"/>
            <a:ext cx="2523744" cy="502920"/>
          </a:xfrm>
          <a:prstGeom prst="roundRect">
            <a:avLst/>
          </a:prstGeom>
          <a:solidFill>
            <a:srgbClr val="E03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47288" y="1792224"/>
            <a:ext cx="252374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Calibri"/>
              </a:defRPr>
            </a:pPr>
            <a:r>
              <a:t>B. Uzluksiz to'lqin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423160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1A2B3C"/>
                </a:solidFill>
                <a:latin typeface="Calibri"/>
              </a:defRPr>
            </a:pPr>
            <a:r>
              <a:t>System B + Obtura: downpack (apikal 4–5 mm) + backfill (in'ektsiya). Tez, germetik.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300" y="1638300"/>
            <a:ext cx="2743200" cy="3657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2743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81928" y="1755648"/>
            <a:ext cx="2523744" cy="502920"/>
          </a:xfrm>
          <a:prstGeom prst="round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81928" y="1792224"/>
            <a:ext cx="252374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Calibri"/>
              </a:defRPr>
            </a:pPr>
            <a:r>
              <a:t>C. Thermafil / GuttaCore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423160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 i="0">
                <a:solidFill>
                  <a:srgbClr val="1A2B3C"/>
                </a:solidFill>
                <a:latin typeface="Calibri"/>
              </a:defRPr>
            </a:pPr>
            <a:r>
              <a:t>Qoplangan o'zak qizdirib kiritiladi. Egri kanallarda a'lo. O'zakni chiqarish qiyin.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6380" y="1638300"/>
            <a:ext cx="2606040" cy="3657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98280" y="160020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g_09_w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8008" y="2526653"/>
            <a:ext cx="2386584" cy="130177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08008" y="4709160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5A6D80"/>
                </a:solidFill>
                <a:latin typeface="Calibri"/>
              </a:defRPr>
            </a:pPr>
            <a:r>
              <a:t>Issiq vertikal kondensatsiya (sxematik)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1020" y="5433060"/>
            <a:ext cx="11201400" cy="73152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5394960"/>
            <a:ext cx="11201400" cy="73152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" y="5504688"/>
            <a:ext cx="76200" cy="512064"/>
          </a:xfrm>
          <a:prstGeom prst="rect">
            <a:avLst/>
          </a:prstGeom>
          <a:solidFill>
            <a:srgbClr val="C98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468112"/>
            <a:ext cx="106984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FD27A"/>
                </a:solidFill>
                <a:latin typeface="Calibri"/>
              </a:rPr>
              <a:t>◆ LABORATOR DALIL  </a:t>
            </a:r>
            <a:r>
              <a:rPr sz="1050">
                <a:solidFill>
                  <a:srgbClr val="FFFFFF"/>
                </a:solidFill>
                <a:latin typeface="Calibri"/>
              </a:rPr>
              <a:t>Mikro-kompyuter tomografiya (mikro-CT) tadqiqotlarida issiq usullarda oval va egri kanallarning to'lish zichligi yuqoriroq qayd etilgan.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17  •  ZAMONAVIY PROTOKOL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Zamonaviy yondashuvlar: mikroskopdan raqamli nazoratgacha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19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1582110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3291840" cy="141732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32918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1737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B2C4A"/>
                </a:solidFill>
                <a:latin typeface="Calibri"/>
              </a:defRPr>
            </a:pPr>
            <a:r>
              <a:t>Operatsion mikroskop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6D80"/>
                </a:solidFill>
                <a:latin typeface="Calibri"/>
              </a:defRPr>
            </a:pPr>
            <a:r>
              <a:t>10–25×: MB2, yoriqlar, qoldiqlar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0020" y="1638300"/>
            <a:ext cx="3291840" cy="141732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31920" y="1600200"/>
            <a:ext cx="32918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14800" y="1783080"/>
            <a:ext cx="457200" cy="457200"/>
          </a:xfrm>
          <a:prstGeom prst="ellipse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1737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B2C4A"/>
                </a:solidFill>
                <a:latin typeface="Calibri"/>
              </a:defRPr>
            </a:pPr>
            <a:r>
              <a:t>Mashinali obturatsiya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6D80"/>
                </a:solidFill>
                <a:latin typeface="Calibri"/>
              </a:defRPr>
            </a:pPr>
            <a:r>
              <a:t>Calamus Dual, BeeFill, Elements 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1020" y="1638300"/>
            <a:ext cx="3291840" cy="141732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1600200"/>
            <a:ext cx="32918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2728" y="1737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B2C4A"/>
                </a:solidFill>
                <a:latin typeface="Calibri"/>
              </a:defRPr>
            </a:pPr>
            <a:r>
              <a:t>Biokeramik protokol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6D80"/>
                </a:solidFill>
                <a:latin typeface="Calibri"/>
              </a:defRPr>
            </a:pPr>
            <a:r>
              <a:t>Single-cone + BC sealer — trend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70020" y="3192780"/>
            <a:ext cx="3291840" cy="141732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31920" y="3154680"/>
            <a:ext cx="32918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14800" y="3337560"/>
            <a:ext cx="457200" cy="457200"/>
          </a:xfrm>
          <a:prstGeom prst="ellipse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32918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B2C4A"/>
                </a:solidFill>
                <a:latin typeface="Calibri"/>
              </a:defRPr>
            </a:pPr>
            <a:r>
              <a:t>MTA apikal plug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3904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6D80"/>
                </a:solidFill>
                <a:latin typeface="Calibri"/>
              </a:defRPr>
            </a:pPr>
            <a:r>
              <a:t>Ochiq apeksda 3–5 mm to'siq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1020" y="3192780"/>
            <a:ext cx="3291840" cy="141732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3154680"/>
            <a:ext cx="32918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3337560"/>
            <a:ext cx="457200" cy="457200"/>
          </a:xfrm>
          <a:prstGeom prst="ellipse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" y="32918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B2C4A"/>
                </a:solidFill>
                <a:latin typeface="Calibri"/>
              </a:defRPr>
            </a:pPr>
            <a:r>
              <a:t>Raqamli nazorat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3904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6D80"/>
                </a:solidFill>
                <a:latin typeface="Calibri"/>
              </a:defRPr>
            </a:pPr>
            <a:r>
              <a:t>Apeks-lokator + rentgen + CBCT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70020" y="3192780"/>
            <a:ext cx="3291840" cy="141732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931920" y="3154680"/>
            <a:ext cx="32918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114800" y="3337560"/>
            <a:ext cx="457200" cy="457200"/>
          </a:xfrm>
          <a:prstGeom prst="ellipse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1728" y="32918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B2C4A"/>
                </a:solidFill>
                <a:latin typeface="Calibri"/>
              </a:defRPr>
            </a:pPr>
            <a:r>
              <a:t>Aseptika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3904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6D80"/>
                </a:solidFill>
                <a:latin typeface="Calibri"/>
              </a:defRPr>
            </a:pPr>
            <a:r>
              <a:t>Kofferdam shart! NaOCl + EDTA + UZ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36179" y="1638300"/>
            <a:ext cx="420624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498079" y="1600200"/>
            <a:ext cx="4206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g_10_micro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07" y="2524575"/>
            <a:ext cx="3986784" cy="2174609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607807" y="5577840"/>
            <a:ext cx="39867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5A6D80"/>
                </a:solidFill>
                <a:latin typeface="Calibri"/>
              </a:defRPr>
            </a:pPr>
            <a:r>
              <a:t>Operatsion mikroskop ostida davolash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BFA6"/>
                </a:solidFill>
                <a:latin typeface="Calibri"/>
              </a:defRPr>
            </a:pPr>
            <a:r>
              <a:t>18  •  QIYOSIY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  <a:latin typeface="Calibri Light"/>
              </a:defRPr>
            </a:pPr>
            <a:r>
              <a:t>Usullar qiyosiy tahlili va klinik tanlov algoritmi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5A6D80"/>
                </a:solidFill>
                <a:latin typeface="Calibri"/>
              </a:defRPr>
            </a:pPr>
            <a:r>
              <a:t>20 /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2191695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63040"/>
          <a:ext cx="11384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1463040"/>
                <a:gridCol w="2103120"/>
                <a:gridCol w="3154680"/>
              </a:tblGrid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Usul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Germetiklik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Qiyinlik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Jihoz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Asosiy ko'rsatma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Single-cone (ZOE / rezin)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O'rtacha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Oson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Tor yumaloq kanal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Single-cone (biokeramik)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Yuqori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Oson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Keng / oval kanal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Lateral kondensatsiya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Yuqori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O'rtacha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Spreader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Universal — oltin standart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Vertikal / uzluksiz to'lqin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Eng yuqori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Murakkab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System B, Obtura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Oval, egri, lateral kanallar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Thermafil / GuttaCore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Yuqori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O'rtacha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Maxsus pech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Juda egri, tor kanallar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49580" y="4472940"/>
            <a:ext cx="11384280" cy="96012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1480" y="4434840"/>
            <a:ext cx="11384280" cy="96012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98848"/>
            <a:ext cx="10927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00BFA6"/>
                </a:solidFill>
                <a:latin typeface="Calibri"/>
              </a:defRPr>
            </a:pPr>
            <a:r>
              <a:t>◆  KLINIK TANLOV ALGORITMI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28032"/>
            <a:ext cx="10927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Tor yumaloq kanal → lateral kondensatsiya  •  Oval / keng → issiq vertikal / uzluksiz to'lqin  •  Juda egri → Thermafil  •  Ochiq apeks → MTA plug  •  Qayta davolash → chiqarish oson sealer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580" y="5542788"/>
            <a:ext cx="11384280" cy="713232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1480" y="5504688"/>
            <a:ext cx="11384280" cy="713232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1208" y="5614416"/>
            <a:ext cx="76200" cy="493776"/>
          </a:xfrm>
          <a:prstGeom prst="rect">
            <a:avLst/>
          </a:prstGeom>
          <a:solidFill>
            <a:srgbClr val="C98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77840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FD27A"/>
                </a:solidFill>
                <a:latin typeface="Calibri"/>
              </a:rPr>
              <a:t>◆ ILMIY DALIL  </a:t>
            </a:r>
            <a:r>
              <a:rPr sz="1050">
                <a:solidFill>
                  <a:srgbClr val="FFFFFF"/>
                </a:solidFill>
                <a:latin typeface="Calibri"/>
              </a:rPr>
              <a:t>Ng et al., 2007–2008 (sistematik sharh): apikal chegara 0–2 mm + bo'shliqsiz zichlash + sifatli koronal restavratsiya = eng yuqori muvaffaqiyat.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